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ek 1 - Lesson 1" id="{18E0BD7B-A3B0-413C-8E99-D5ED9705DEBE}">
          <p14:sldIdLst>
            <p14:sldId id="256"/>
          </p14:sldIdLst>
        </p14:section>
        <p14:section name="Week 1 - Lesson 2" id="{56C21204-DF47-4623-BC55-1B04417D7EDD}">
          <p14:sldIdLst/>
        </p14:section>
        <p14:section name="Week 1 - Lesson 3" id="{E7EC2E08-CC67-43DB-818B-B6359FB68C54}">
          <p14:sldIdLst/>
        </p14:section>
        <p14:section name="Week 2 - Lesson 1" id="{036E19A0-F4F6-4EE9-8BC4-961F994292AB}">
          <p14:sldIdLst/>
        </p14:section>
        <p14:section name="Week 2 - Lesson 2" id="{DCB8951A-5CA7-436D-9F25-96B5C80BF304}">
          <p14:sldIdLst/>
        </p14:section>
        <p14:section name="Week 3 Lesson 1" id="{EC77DBF6-6B07-44C8-96C2-E94D7B7AC033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lasubramanian PG" userId="0510cbf8-5601-41b7-b40f-1052a4f8e61b" providerId="ADAL" clId="{9D804635-4D5D-450E-B530-8C0D345C721E}"/>
    <pc:docChg chg="addSld modSld addSection modSection">
      <pc:chgData name="Balasubramanian PG" userId="0510cbf8-5601-41b7-b40f-1052a4f8e61b" providerId="ADAL" clId="{9D804635-4D5D-450E-B530-8C0D345C721E}" dt="2026-05-29T05:03:44.589" v="35" actId="17846"/>
      <pc:docMkLst>
        <pc:docMk/>
      </pc:docMkLst>
      <pc:sldChg chg="modSp add mod">
        <pc:chgData name="Balasubramanian PG" userId="0510cbf8-5601-41b7-b40f-1052a4f8e61b" providerId="ADAL" clId="{9D804635-4D5D-450E-B530-8C0D345C721E}" dt="2026-05-29T04:22:44.235" v="5" actId="14826"/>
        <pc:sldMkLst>
          <pc:docMk/>
          <pc:sldMk cId="1126761411" sldId="259"/>
        </pc:sldMkLst>
        <pc:picChg chg="mod">
          <ac:chgData name="Balasubramanian PG" userId="0510cbf8-5601-41b7-b40f-1052a4f8e61b" providerId="ADAL" clId="{9D804635-4D5D-450E-B530-8C0D345C721E}" dt="2026-05-29T04:22:44.235" v="5" actId="14826"/>
          <ac:picMkLst>
            <pc:docMk/>
            <pc:sldMk cId="1126761411" sldId="259"/>
            <ac:picMk id="6" creationId="{A0BBF7D1-840E-72E9-C4D4-664460549BCD}"/>
          </ac:picMkLst>
        </pc:picChg>
      </pc:sldChg>
      <pc:sldChg chg="modSp add mod">
        <pc:chgData name="Balasubramanian PG" userId="0510cbf8-5601-41b7-b40f-1052a4f8e61b" providerId="ADAL" clId="{9D804635-4D5D-450E-B530-8C0D345C721E}" dt="2026-05-29T04:24:24.655" v="7" actId="14826"/>
        <pc:sldMkLst>
          <pc:docMk/>
          <pc:sldMk cId="3359350185" sldId="260"/>
        </pc:sldMkLst>
        <pc:picChg chg="mod">
          <ac:chgData name="Balasubramanian PG" userId="0510cbf8-5601-41b7-b40f-1052a4f8e61b" providerId="ADAL" clId="{9D804635-4D5D-450E-B530-8C0D345C721E}" dt="2026-05-29T04:24:24.655" v="7" actId="14826"/>
          <ac:picMkLst>
            <pc:docMk/>
            <pc:sldMk cId="3359350185" sldId="260"/>
            <ac:picMk id="6" creationId="{6AF7F803-7072-6128-D569-E39262FF6B14}"/>
          </ac:picMkLst>
        </pc:picChg>
      </pc:sldChg>
      <pc:sldChg chg="modSp add mod">
        <pc:chgData name="Balasubramanian PG" userId="0510cbf8-5601-41b7-b40f-1052a4f8e61b" providerId="ADAL" clId="{9D804635-4D5D-450E-B530-8C0D345C721E}" dt="2026-05-29T04:29:14.182" v="10" actId="14826"/>
        <pc:sldMkLst>
          <pc:docMk/>
          <pc:sldMk cId="1268450234" sldId="261"/>
        </pc:sldMkLst>
        <pc:picChg chg="mod">
          <ac:chgData name="Balasubramanian PG" userId="0510cbf8-5601-41b7-b40f-1052a4f8e61b" providerId="ADAL" clId="{9D804635-4D5D-450E-B530-8C0D345C721E}" dt="2026-05-29T04:29:14.182" v="10" actId="14826"/>
          <ac:picMkLst>
            <pc:docMk/>
            <pc:sldMk cId="1268450234" sldId="261"/>
            <ac:picMk id="6" creationId="{CF2B9334-936F-A66E-DFB0-1E3C3922D157}"/>
          </ac:picMkLst>
        </pc:picChg>
      </pc:sldChg>
      <pc:sldChg chg="modSp add mod">
        <pc:chgData name="Balasubramanian PG" userId="0510cbf8-5601-41b7-b40f-1052a4f8e61b" providerId="ADAL" clId="{9D804635-4D5D-450E-B530-8C0D345C721E}" dt="2026-05-29T04:33:08.241" v="12" actId="14826"/>
        <pc:sldMkLst>
          <pc:docMk/>
          <pc:sldMk cId="2726681294" sldId="262"/>
        </pc:sldMkLst>
        <pc:picChg chg="mod">
          <ac:chgData name="Balasubramanian PG" userId="0510cbf8-5601-41b7-b40f-1052a4f8e61b" providerId="ADAL" clId="{9D804635-4D5D-450E-B530-8C0D345C721E}" dt="2026-05-29T04:33:08.241" v="12" actId="14826"/>
          <ac:picMkLst>
            <pc:docMk/>
            <pc:sldMk cId="2726681294" sldId="262"/>
            <ac:picMk id="6" creationId="{206A31E5-0423-95D5-47F2-A17EF480EC34}"/>
          </ac:picMkLst>
        </pc:picChg>
      </pc:sldChg>
      <pc:sldChg chg="modSp add mod">
        <pc:chgData name="Balasubramanian PG" userId="0510cbf8-5601-41b7-b40f-1052a4f8e61b" providerId="ADAL" clId="{9D804635-4D5D-450E-B530-8C0D345C721E}" dt="2026-05-29T04:38:58.540" v="16" actId="14826"/>
        <pc:sldMkLst>
          <pc:docMk/>
          <pc:sldMk cId="3937740937" sldId="263"/>
        </pc:sldMkLst>
        <pc:picChg chg="mod">
          <ac:chgData name="Balasubramanian PG" userId="0510cbf8-5601-41b7-b40f-1052a4f8e61b" providerId="ADAL" clId="{9D804635-4D5D-450E-B530-8C0D345C721E}" dt="2026-05-29T04:38:58.540" v="16" actId="14826"/>
          <ac:picMkLst>
            <pc:docMk/>
            <pc:sldMk cId="3937740937" sldId="263"/>
            <ac:picMk id="6" creationId="{D55BE241-B3AE-51F8-5BED-84D542FB60F3}"/>
          </ac:picMkLst>
        </pc:picChg>
      </pc:sldChg>
      <pc:sldChg chg="modSp add mod">
        <pc:chgData name="Balasubramanian PG" userId="0510cbf8-5601-41b7-b40f-1052a4f8e61b" providerId="ADAL" clId="{9D804635-4D5D-450E-B530-8C0D345C721E}" dt="2026-05-29T04:42:05.565" v="20" actId="14826"/>
        <pc:sldMkLst>
          <pc:docMk/>
          <pc:sldMk cId="1825978964" sldId="264"/>
        </pc:sldMkLst>
        <pc:picChg chg="mod">
          <ac:chgData name="Balasubramanian PG" userId="0510cbf8-5601-41b7-b40f-1052a4f8e61b" providerId="ADAL" clId="{9D804635-4D5D-450E-B530-8C0D345C721E}" dt="2026-05-29T04:42:05.565" v="20" actId="14826"/>
          <ac:picMkLst>
            <pc:docMk/>
            <pc:sldMk cId="1825978964" sldId="264"/>
            <ac:picMk id="6" creationId="{84897E49-E572-80C9-E6C8-8776963752DE}"/>
          </ac:picMkLst>
        </pc:picChg>
      </pc:sldChg>
      <pc:sldChg chg="modSp add mod">
        <pc:chgData name="Balasubramanian PG" userId="0510cbf8-5601-41b7-b40f-1052a4f8e61b" providerId="ADAL" clId="{9D804635-4D5D-450E-B530-8C0D345C721E}" dt="2026-05-29T04:44:56.017" v="22" actId="14826"/>
        <pc:sldMkLst>
          <pc:docMk/>
          <pc:sldMk cId="2530305078" sldId="265"/>
        </pc:sldMkLst>
        <pc:picChg chg="mod">
          <ac:chgData name="Balasubramanian PG" userId="0510cbf8-5601-41b7-b40f-1052a4f8e61b" providerId="ADAL" clId="{9D804635-4D5D-450E-B530-8C0D345C721E}" dt="2026-05-29T04:44:56.017" v="22" actId="14826"/>
          <ac:picMkLst>
            <pc:docMk/>
            <pc:sldMk cId="2530305078" sldId="265"/>
            <ac:picMk id="6" creationId="{45073088-9E80-7BC8-A573-DF3551B26E0A}"/>
          </ac:picMkLst>
        </pc:picChg>
      </pc:sldChg>
      <pc:sldChg chg="modSp add mod">
        <pc:chgData name="Balasubramanian PG" userId="0510cbf8-5601-41b7-b40f-1052a4f8e61b" providerId="ADAL" clId="{9D804635-4D5D-450E-B530-8C0D345C721E}" dt="2026-05-29T04:47:25.147" v="24" actId="14826"/>
        <pc:sldMkLst>
          <pc:docMk/>
          <pc:sldMk cId="2762571743" sldId="266"/>
        </pc:sldMkLst>
        <pc:picChg chg="mod">
          <ac:chgData name="Balasubramanian PG" userId="0510cbf8-5601-41b7-b40f-1052a4f8e61b" providerId="ADAL" clId="{9D804635-4D5D-450E-B530-8C0D345C721E}" dt="2026-05-29T04:47:25.147" v="24" actId="14826"/>
          <ac:picMkLst>
            <pc:docMk/>
            <pc:sldMk cId="2762571743" sldId="266"/>
            <ac:picMk id="6" creationId="{7ECD992C-E833-6749-96D5-09EA16D3DED7}"/>
          </ac:picMkLst>
        </pc:picChg>
      </pc:sldChg>
      <pc:sldChg chg="modSp add mod">
        <pc:chgData name="Balasubramanian PG" userId="0510cbf8-5601-41b7-b40f-1052a4f8e61b" providerId="ADAL" clId="{9D804635-4D5D-450E-B530-8C0D345C721E}" dt="2026-05-29T04:51:17.613" v="26" actId="14826"/>
        <pc:sldMkLst>
          <pc:docMk/>
          <pc:sldMk cId="1788314939" sldId="267"/>
        </pc:sldMkLst>
        <pc:picChg chg="mod">
          <ac:chgData name="Balasubramanian PG" userId="0510cbf8-5601-41b7-b40f-1052a4f8e61b" providerId="ADAL" clId="{9D804635-4D5D-450E-B530-8C0D345C721E}" dt="2026-05-29T04:51:17.613" v="26" actId="14826"/>
          <ac:picMkLst>
            <pc:docMk/>
            <pc:sldMk cId="1788314939" sldId="267"/>
            <ac:picMk id="6" creationId="{2BDD0D96-E36A-0131-7788-FFAE8809DD74}"/>
          </ac:picMkLst>
        </pc:picChg>
      </pc:sldChg>
      <pc:sldChg chg="modSp add mod">
        <pc:chgData name="Balasubramanian PG" userId="0510cbf8-5601-41b7-b40f-1052a4f8e61b" providerId="ADAL" clId="{9D804635-4D5D-450E-B530-8C0D345C721E}" dt="2026-05-29T04:59:27.011" v="28" actId="14826"/>
        <pc:sldMkLst>
          <pc:docMk/>
          <pc:sldMk cId="3300439992" sldId="268"/>
        </pc:sldMkLst>
        <pc:picChg chg="mod">
          <ac:chgData name="Balasubramanian PG" userId="0510cbf8-5601-41b7-b40f-1052a4f8e61b" providerId="ADAL" clId="{9D804635-4D5D-450E-B530-8C0D345C721E}" dt="2026-05-29T04:59:27.011" v="28" actId="14826"/>
          <ac:picMkLst>
            <pc:docMk/>
            <pc:sldMk cId="3300439992" sldId="268"/>
            <ac:picMk id="6" creationId="{27F34D7F-C665-D776-82F0-F4CA8668967F}"/>
          </ac:picMkLst>
        </pc:picChg>
      </pc:sldChg>
      <pc:sldChg chg="modSp add mod">
        <pc:chgData name="Balasubramanian PG" userId="0510cbf8-5601-41b7-b40f-1052a4f8e61b" providerId="ADAL" clId="{9D804635-4D5D-450E-B530-8C0D345C721E}" dt="2026-05-29T05:02:29.227" v="32" actId="14826"/>
        <pc:sldMkLst>
          <pc:docMk/>
          <pc:sldMk cId="3189997569" sldId="269"/>
        </pc:sldMkLst>
        <pc:picChg chg="mod">
          <ac:chgData name="Balasubramanian PG" userId="0510cbf8-5601-41b7-b40f-1052a4f8e61b" providerId="ADAL" clId="{9D804635-4D5D-450E-B530-8C0D345C721E}" dt="2026-05-29T05:02:29.227" v="32" actId="14826"/>
          <ac:picMkLst>
            <pc:docMk/>
            <pc:sldMk cId="3189997569" sldId="269"/>
            <ac:picMk id="6" creationId="{74254D3F-FCB4-F332-C5F0-A4F059EFCF89}"/>
          </ac:picMkLst>
        </pc:picChg>
      </pc:sldChg>
      <pc:sldChg chg="add">
        <pc:chgData name="Balasubramanian PG" userId="0510cbf8-5601-41b7-b40f-1052a4f8e61b" providerId="ADAL" clId="{9D804635-4D5D-450E-B530-8C0D345C721E}" dt="2026-05-29T05:02:42.811" v="33" actId="2890"/>
        <pc:sldMkLst>
          <pc:docMk/>
          <pc:sldMk cId="4266077330" sldId="270"/>
        </pc:sldMkLst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0AE84-83BA-AA00-E8ED-FF239055D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FD0594-2BD0-C144-0B7E-89960ECC8D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EE4B68-7C2E-21A0-80DA-A18166ADF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5E9E3-A6A3-422F-9A05-CE5F013B01E7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F96B2A-EDDA-91D1-18B8-2B2FBBD19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C5114-4FBB-034E-118F-8D5832744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E45C9-C001-40BA-B514-5FA6AD4021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2604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73333-389D-003E-E171-0EF818133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AA3D7-7BC3-40AF-88BA-938B195D4F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D1970-5FFC-27C4-4D77-527791923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5E9E3-A6A3-422F-9A05-CE5F013B01E7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2DA6F7-9D59-4866-26CB-1EA18101B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8E2FD4-3973-F6A5-330B-A1276450C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E45C9-C001-40BA-B514-5FA6AD4021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1448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C1B5A-4F10-87A7-B490-2FD332C26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7F1FA7-FE3A-4701-DBDB-33206DD750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006EB3-AE73-A003-BDA6-F0DBBC61B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5E9E3-A6A3-422F-9A05-CE5F013B01E7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FAF786-AF74-B6CB-6BF9-2BF8A0606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72878-04A1-0E61-FE94-6CE37AC5D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E45C9-C001-40BA-B514-5FA6AD4021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3641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24470-F6F2-A60A-94CD-066F8247D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06A23-D617-6EB0-DC11-F58E7463B3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216664-3D07-D7B8-8214-04A3E22310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E5944E-A832-0797-0171-9BAB864BF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5E9E3-A6A3-422F-9A05-CE5F013B01E7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B16E80-DF86-E565-05A8-7E0FD1663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A93FCA-963D-B2BD-AF2C-836583EA3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E45C9-C001-40BA-B514-5FA6AD4021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3685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9ADAF-3EEA-7F04-5982-D8F95CA42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F950E2-1480-FBE2-F875-516844BB0A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A7A78F-0B93-A5FC-805A-FDB02A978D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506B60-73C2-9B26-1DD7-6A3115CDB6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26CDAA-899E-71BD-169C-6AA7A1E1CE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5757D5-15D5-64A7-CFB2-85D1537DE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5E9E3-A6A3-422F-9A05-CE5F013B01E7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505565-FF8D-577E-DC75-C021763E8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AF60CC-3ECC-3603-E9B0-5E8FD09B5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E45C9-C001-40BA-B514-5FA6AD4021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410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24AF1-64F2-2AD7-342C-0FAD0AD9F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BBEB46-7F18-B88D-D7D5-B8E875425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5E9E3-A6A3-422F-9A05-CE5F013B01E7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1F419E-D5BC-5B95-12A5-805674AF7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20C8A5-EBCE-3339-0CB4-EFF8000B5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E45C9-C001-40BA-B514-5FA6AD4021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5002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222856-C16C-9BC7-0D21-A04778097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5E9E3-A6A3-422F-9A05-CE5F013B01E7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3B3DE5-ADB1-E36D-A367-4DC47A13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721BAC-380A-F927-3129-3C9A8AD00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E45C9-C001-40BA-B514-5FA6AD4021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8548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B6F9E-3594-2BAA-DFCE-5BD92AE58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58D8A-7272-9AC0-5103-9593AB8754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03ECAE-76F7-29F6-BB9B-FE55A66646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308181-4B49-1A2C-03F5-D65BE58B5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5E9E3-A6A3-422F-9A05-CE5F013B01E7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200D1D-798D-DB15-53AB-DF3C0B7A4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718AD6-4896-9A4B-5852-061B175B8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E45C9-C001-40BA-B514-5FA6AD4021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7703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3962E-17D1-4224-E8C1-7CEEC1BDD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5C1C9F-0D29-F335-943C-FFF04BA93E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FF4077-3610-53D6-2B6B-AD0DECB20B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1FEF0B-2E3E-0C61-5E24-98F05C70F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5E9E3-A6A3-422F-9A05-CE5F013B01E7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2E8306-A27C-47CF-9465-E7BC8BB1A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6AD3DA-B70C-D1E1-8D36-AFE50F229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E45C9-C001-40BA-B514-5FA6AD4021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9736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591C7-CE1B-AF63-991A-6B9AF5111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B3BFD7-CDDF-315F-768C-88FA362580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102DD7-C952-2E45-2F3D-81D801979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5E9E3-A6A3-422F-9A05-CE5F013B01E7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91BEC-D49B-2B9B-594E-ECB27D380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C8AA50-E94E-A4D1-5813-691C63473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E45C9-C001-40BA-B514-5FA6AD4021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0391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63E012-F36D-2948-F61B-1CF618C89E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85E2D8-E696-A177-9B48-AD53540994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19C271-20C6-0AEF-D5E0-2CBC56847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5E9E3-A6A3-422F-9A05-CE5F013B01E7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9C788-57BD-58DE-4A8E-4B9D356DE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0B8FA-8839-B048-8036-A7C3E223C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E45C9-C001-40BA-B514-5FA6AD4021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128127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EB47D6-A507-E7D2-EE9C-90AC8B233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B5FD73-9B1C-C47B-E256-242D9BCAD9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96BB71-FF0F-78DC-8F80-46B363F2FF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35E9E3-A6A3-422F-9A05-CE5F013B01E7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1137DC-5B7C-B5D2-8889-22C3D10E10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27C721-02DB-824C-5FFE-A27A6CA9FC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AE45C9-C001-40BA-B514-5FA6AD4021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0493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A60EE-D876-D5EC-398A-23D6F0DA4E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9F9707-0488-C84E-1E52-35D83A83DB1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574468-F53D-CF60-4F7B-D8ECD4F253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31198" y="244255"/>
            <a:ext cx="3775179" cy="495583"/>
          </a:xfrm>
          <a:prstGeom prst="rect">
            <a:avLst/>
          </a:prstGeom>
          <a:solidFill>
            <a:srgbClr val="F8F8F9"/>
          </a:solidFill>
        </p:spPr>
        <p:txBody>
          <a:bodyPr wrap="none" lIns="0" rIns="0" tIns="0" bIns="0">
            <a:spAutoFit/>
          </a:bodyPr>
          <a:lstStyle/>
          <a:p>
            <a:r>
              <a:rPr sz="2700">
                <a:solidFill>
                  <a:srgbClr val="1C1D23"/>
                </a:solidFill>
              </a:rPr>
              <a:t>Random Variable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3062" y="834582"/>
            <a:ext cx="4649738" cy="233215"/>
          </a:xfrm>
          <a:prstGeom prst="rect">
            <a:avLst/>
          </a:prstGeom>
          <a:solidFill>
            <a:srgbClr val="F8F8F9"/>
          </a:solidFill>
        </p:spPr>
        <p:txBody>
          <a:bodyPr wrap="none" lIns="0" rIns="0" tIns="0" bIns="0">
            <a:spAutoFit/>
          </a:bodyPr>
          <a:lstStyle/>
          <a:p>
            <a:r>
              <a:rPr sz="1400">
                <a:solidFill>
                  <a:srgbClr val="6A6A6A"/>
                </a:solidFill>
              </a:rPr>
              <a:t>The bridge between random outcomes and mathematics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14286" y="1235422"/>
            <a:ext cx="1792845" cy="182199"/>
          </a:xfrm>
          <a:prstGeom prst="rect">
            <a:avLst/>
          </a:prstGeom>
          <a:solidFill>
            <a:srgbClr val="FAECEC"/>
          </a:solidFill>
        </p:spPr>
        <p:txBody>
          <a:bodyPr wrap="none" lIns="0" rIns="0" tIns="0" bIns="0">
            <a:spAutoFit/>
          </a:bodyPr>
          <a:lstStyle/>
          <a:p>
            <a:r>
              <a:rPr sz="1400">
                <a:solidFill>
                  <a:srgbClr val="C62527"/>
                </a:solidFill>
              </a:rPr>
              <a:t>FORMAL DEFINITION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9710" y="1548806"/>
            <a:ext cx="4022971" cy="80167"/>
          </a:xfrm>
          <a:prstGeom prst="rect">
            <a:avLst/>
          </a:prstGeom>
          <a:solidFill>
            <a:srgbClr val="FAF5F5"/>
          </a:solidFill>
        </p:spPr>
        <p:txBody>
          <a:bodyPr wrap="none" lIns="0" rIns="0" tIns="0" bIns="0">
            <a:spAutoFit/>
          </a:bodyPr>
          <a:lstStyle/>
          <a:p>
            <a:r>
              <a:rPr sz="1400">
                <a:solidFill>
                  <a:srgbClr val="353334"/>
                </a:solidFill>
              </a:rPr>
              <a:t>Let S be the sample space (set of all possible outcomes)_</a:t>
            </a:r>
          </a:p>
          <a:p>
            <a:r>
              <a:rPr sz="1400">
                <a:solidFill>
                  <a:srgbClr val="353334"/>
                </a:solidFill>
              </a:rPr>
              <a:t>random variable X is a function X: 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486" y="1636262"/>
            <a:ext cx="3848059" cy="182199"/>
          </a:xfrm>
          <a:prstGeom prst="rect">
            <a:avLst/>
          </a:prstGeom>
          <a:solidFill>
            <a:srgbClr val="F4F4F5"/>
          </a:solidFill>
        </p:spPr>
        <p:txBody>
          <a:bodyPr wrap="none" lIns="0" rIns="0" tIns="0" bIns="0">
            <a:spAutoFit/>
          </a:bodyPr>
          <a:lstStyle/>
          <a:p>
            <a:r>
              <a:rPr sz="1400">
                <a:solidFill>
                  <a:srgbClr val="2D2D30"/>
                </a:solidFill>
              </a:rPr>
              <a:t>A random variable is a function that maps the</a:t>
            </a:r>
          </a:p>
          <a:p>
            <a:r>
              <a:rPr sz="1400">
                <a:solidFill>
                  <a:srgbClr val="2D2D30"/>
                </a:solidFill>
              </a:rPr>
              <a:t>outcomes of a random experiment 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18971" y="1825749"/>
            <a:ext cx="189487" cy="65591"/>
          </a:xfrm>
          <a:prstGeom prst="rect">
            <a:avLst/>
          </a:prstGeom>
          <a:solidFill>
            <a:srgbClr val="F8F5F5"/>
          </a:solidFill>
        </p:spPr>
        <p:txBody>
          <a:bodyPr wrap="none" lIns="0" rIns="0" tIns="0" bIns="0">
            <a:spAutoFit/>
          </a:bodyPr>
          <a:lstStyle/>
          <a:p>
            <a:r>
              <a:rPr sz="1400">
                <a:solidFill>
                  <a:srgbClr val="777474"/>
                </a:solidFill>
              </a:rPr>
              <a:t>RJ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9778" y="1898629"/>
            <a:ext cx="1545054" cy="189487"/>
          </a:xfrm>
          <a:prstGeom prst="rect">
            <a:avLst/>
          </a:prstGeom>
          <a:solidFill>
            <a:srgbClr val="FBF5F5"/>
          </a:solidFill>
        </p:spPr>
        <p:txBody>
          <a:bodyPr wrap="none" lIns="0" rIns="0" tIns="0" bIns="0">
            <a:spAutoFit/>
          </a:bodyPr>
          <a:lstStyle/>
          <a:p>
            <a:r>
              <a:rPr sz="1400">
                <a:solidFill>
                  <a:srgbClr val="C92C30"/>
                </a:solidFill>
              </a:rPr>
              <a:t>numerical values: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61105" y="2518109"/>
            <a:ext cx="4970410" cy="14575"/>
          </a:xfrm>
          <a:prstGeom prst="rect">
            <a:avLst/>
          </a:prstGeom>
          <a:solidFill>
            <a:srgbClr val="FEFEFE"/>
          </a:solidFill>
        </p:spPr>
        <p:txBody>
          <a:bodyPr wrap="none" lIns="0" rIns="0" tIns="0" bIns="0">
            <a:spAutoFit/>
          </a:bodyPr>
          <a:lstStyle/>
          <a:p>
            <a:r>
              <a:rPr sz="1400">
                <a:solidFill>
                  <a:srgbClr val="000000"/>
                </a:solidFill>
              </a:rPr>
              <a:t>HOW IT WORKS: A MAPPING FROM OUTCOMES TO NUMBERS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702" y="2539973"/>
            <a:ext cx="1253534" cy="189487"/>
          </a:xfrm>
          <a:prstGeom prst="rect">
            <a:avLst/>
          </a:prstGeom>
          <a:solidFill>
            <a:srgbClr val="F9F4F4"/>
          </a:solidFill>
        </p:spPr>
        <p:txBody>
          <a:bodyPr wrap="none" lIns="0" rIns="0" tIns="0" bIns="0">
            <a:spAutoFit/>
          </a:bodyPr>
          <a:lstStyle/>
          <a:p>
            <a:r>
              <a:rPr sz="1400">
                <a:solidFill>
                  <a:srgbClr val="C83134"/>
                </a:solidFill>
              </a:rPr>
              <a:t>THE INTUITION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81776" y="2904372"/>
            <a:ext cx="1253534" cy="14575"/>
          </a:xfrm>
          <a:prstGeom prst="rect">
            <a:avLst/>
          </a:prstGeom>
          <a:solidFill>
            <a:srgbClr val="FDFDFD"/>
          </a:solidFill>
        </p:spPr>
        <p:txBody>
          <a:bodyPr wrap="none" lIns="0" rIns="0" tIns="0" bIns="0">
            <a:spAutoFit/>
          </a:bodyPr>
          <a:lstStyle/>
          <a:p>
            <a:r>
              <a:rPr sz="1400">
                <a:solidFill>
                  <a:srgbClr val="000000"/>
                </a:solidFill>
              </a:rPr>
              <a:t>Sample Space (S)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50374" y="2926236"/>
            <a:ext cx="1195230" cy="1"/>
          </a:xfrm>
          <a:prstGeom prst="rect">
            <a:avLst/>
          </a:prstGeom>
          <a:solidFill>
            <a:srgbClr val="FFFFFF"/>
          </a:solidFill>
        </p:spPr>
        <p:txBody>
          <a:bodyPr wrap="none" lIns="0" rIns="0" tIns="0" bIns="0">
            <a:spAutoFit/>
          </a:bodyPr>
          <a:lstStyle/>
          <a:p>
            <a:r>
              <a:rPr sz="1400">
                <a:solidFill>
                  <a:srgbClr val="000000"/>
                </a:solidFill>
              </a:rPr>
              <a:t>Random Variable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16939" y="2926236"/>
            <a:ext cx="1217094" cy="58303"/>
          </a:xfrm>
          <a:prstGeom prst="rect">
            <a:avLst/>
          </a:prstGeom>
          <a:solidFill>
            <a:srgbClr val="F5F5F5"/>
          </a:solidFill>
        </p:spPr>
        <p:txBody>
          <a:bodyPr wrap="none" lIns="0" rIns="0" tIns="0" bIns="0">
            <a:spAutoFit/>
          </a:bodyPr>
          <a:lstStyle/>
          <a:p>
            <a:r>
              <a:rPr sz="1400">
                <a:solidFill>
                  <a:srgbClr val="29292A"/>
                </a:solidFill>
              </a:rPr>
              <a:t>Numerical Values</a:t>
            </a:r>
          </a:p>
          <a:p>
            <a:r>
              <a:rPr sz="1400">
                <a:solidFill>
                  <a:srgbClr val="29292A"/>
                </a:solidFill>
              </a:rPr>
              <a:t>Real Numbers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43876" y="2991828"/>
            <a:ext cx="1792845" cy="160335"/>
          </a:xfrm>
          <a:prstGeom prst="rect">
            <a:avLst/>
          </a:prstGeom>
          <a:solidFill>
            <a:srgbClr val="F1F1F1"/>
          </a:solidFill>
        </p:spPr>
        <p:txBody>
          <a:bodyPr wrap="none" lIns="0" rIns="0" tIns="0" bIns="0">
            <a:spAutoFit/>
          </a:bodyPr>
          <a:lstStyle/>
          <a:p>
            <a:r>
              <a:rPr sz="1400">
                <a:solidFill>
                  <a:srgbClr val="27282B"/>
                </a:solidFill>
              </a:rPr>
              <a:t>We often care about</a:t>
            </a:r>
          </a:p>
          <a:p>
            <a:r>
              <a:rPr sz="1400">
                <a:solidFill>
                  <a:srgbClr val="27282B"/>
                </a:solidFill>
              </a:rPr>
              <a:t>qualitative outcomes</a:t>
            </a:r>
          </a:p>
          <a:p>
            <a:r>
              <a:rPr sz="1400">
                <a:solidFill>
                  <a:srgbClr val="27282B"/>
                </a:solidFill>
              </a:rPr>
              <a:t>(e.g , Heads or Tails).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98165" y="3159452"/>
            <a:ext cx="335247" cy="1"/>
          </a:xfrm>
          <a:prstGeom prst="rect">
            <a:avLst/>
          </a:prstGeom>
          <a:solidFill>
            <a:srgbClr val="FFFFFF"/>
          </a:solidFill>
        </p:spPr>
        <p:txBody>
          <a:bodyPr wrap="none" lIns="0" rIns="0" tIns="0" bIns="0">
            <a:spAutoFit/>
          </a:bodyPr>
          <a:lstStyle/>
          <a:p>
            <a:r>
              <a:rPr sz="1400">
                <a:solidFill>
                  <a:srgbClr val="000000"/>
                </a:solidFill>
              </a:rPr>
              <a:t>X:$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73296" y="3166740"/>
            <a:ext cx="634055" cy="138471"/>
          </a:xfrm>
          <a:prstGeom prst="rect">
            <a:avLst/>
          </a:prstGeom>
          <a:solidFill>
            <a:srgbClr val="F5F5F6"/>
          </a:solidFill>
        </p:spPr>
        <p:txBody>
          <a:bodyPr wrap="none" lIns="0" rIns="0" tIns="0" bIns="0">
            <a:spAutoFit/>
          </a:bodyPr>
          <a:lstStyle/>
          <a:p>
            <a:r>
              <a:rPr sz="1400">
                <a:solidFill>
                  <a:srgbClr val="606061"/>
                </a:solidFill>
              </a:rPr>
              <a:t>Outcomes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909" y="3501987"/>
            <a:ext cx="502871" cy="43727"/>
          </a:xfrm>
          <a:prstGeom prst="rect">
            <a:avLst/>
          </a:prstGeom>
          <a:solidFill>
            <a:srgbClr val="FDFDFD"/>
          </a:solidFill>
        </p:spPr>
        <p:txBody>
          <a:bodyPr wrap="none" lIns="0" rIns="0" tIns="0" bIns="0">
            <a:spAutoFit/>
          </a:bodyPr>
          <a:lstStyle/>
          <a:p>
            <a:r>
              <a:rPr sz="1400">
                <a:solidFill>
                  <a:srgbClr val="000000"/>
                </a:solidFill>
              </a:rPr>
              <a:t>X(61)</a:t>
            </a:r>
          </a:p>
          <a:p>
            <a:r>
              <a:rPr sz="1400">
                <a:solidFill>
                  <a:srgbClr val="000000"/>
                </a:solidFill>
              </a:rPr>
              <a:t>X(@z)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48962" y="3553003"/>
            <a:ext cx="174911" cy="21863"/>
          </a:xfrm>
          <a:prstGeom prst="rect">
            <a:avLst/>
          </a:prstGeom>
          <a:solidFill>
            <a:srgbClr val="FEFEFE"/>
          </a:solidFill>
        </p:spPr>
        <p:txBody>
          <a:bodyPr wrap="none" lIns="0" rIns="0" tIns="0" bIns="0">
            <a:spAutoFit/>
          </a:bodyPr>
          <a:lstStyle/>
          <a:p>
            <a:r>
              <a:rPr sz="1400">
                <a:solidFill>
                  <a:srgbClr val="000000"/>
                </a:solidFill>
              </a:rPr>
              <a:t>X1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62784" y="3582155"/>
            <a:ext cx="233215" cy="247791"/>
          </a:xfrm>
          <a:prstGeom prst="rect">
            <a:avLst/>
          </a:prstGeom>
          <a:solidFill>
            <a:srgbClr val="FAFAFA"/>
          </a:solidFill>
        </p:spPr>
        <p:txBody>
          <a:bodyPr wrap="none" lIns="0" rIns="0" tIns="0" bIns="0">
            <a:spAutoFit/>
          </a:bodyPr>
          <a:lstStyle/>
          <a:p>
            <a:r>
              <a:rPr sz="1400">
                <a:solidFill>
                  <a:srgbClr val="373738"/>
                </a:solidFill>
              </a:rPr>
              <a:t>W1</a:t>
            </a:r>
          </a:p>
          <a:p>
            <a:r>
              <a:rPr sz="1400">
                <a:solidFill>
                  <a:srgbClr val="373738"/>
                </a:solidFill>
              </a:rPr>
              <a:t>W2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41674" y="3837235"/>
            <a:ext cx="204063" cy="174911"/>
          </a:xfrm>
          <a:prstGeom prst="rect">
            <a:avLst/>
          </a:prstGeom>
          <a:solidFill>
            <a:srgbClr val="F8F8F8"/>
          </a:solidFill>
        </p:spPr>
        <p:txBody>
          <a:bodyPr wrap="none" lIns="0" rIns="0" tIns="0" bIns="0">
            <a:spAutoFit/>
          </a:bodyPr>
          <a:lstStyle/>
          <a:p>
            <a:r>
              <a:rPr sz="1400">
                <a:solidFill>
                  <a:srgbClr val="4D4D4E"/>
                </a:solidFill>
              </a:rPr>
              <a:t>X2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73028" y="4245363"/>
            <a:ext cx="2332157" cy="109319"/>
          </a:xfrm>
          <a:prstGeom prst="rect">
            <a:avLst/>
          </a:prstGeom>
          <a:solidFill>
            <a:srgbClr val="F5F5F5"/>
          </a:solidFill>
        </p:spPr>
        <p:txBody>
          <a:bodyPr wrap="none" lIns="0" rIns="0" tIns="0" bIns="0">
            <a:spAutoFit/>
          </a:bodyPr>
          <a:lstStyle/>
          <a:p>
            <a:r>
              <a:rPr sz="1400">
                <a:solidFill>
                  <a:srgbClr val="2E2F31"/>
                </a:solidFill>
              </a:rPr>
              <a:t>Machines and mathematical</a:t>
            </a:r>
          </a:p>
          <a:p>
            <a:r>
              <a:rPr sz="1400">
                <a:solidFill>
                  <a:srgbClr val="2E2F31"/>
                </a:solidFill>
              </a:rPr>
              <a:t>models operate on numbers: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909" y="4361970"/>
            <a:ext cx="502871" cy="36439"/>
          </a:xfrm>
          <a:prstGeom prst="rect">
            <a:avLst/>
          </a:prstGeom>
          <a:solidFill>
            <a:srgbClr val="FDFDFD"/>
          </a:solidFill>
        </p:spPr>
        <p:txBody>
          <a:bodyPr wrap="none" lIns="0" rIns="0" tIns="0" bIns="0">
            <a:spAutoFit/>
          </a:bodyPr>
          <a:lstStyle/>
          <a:p>
            <a:r>
              <a:rPr sz="1400">
                <a:solidFill>
                  <a:srgbClr val="000000"/>
                </a:solidFill>
              </a:rPr>
              <a:t>X(@n)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41674" y="4405698"/>
            <a:ext cx="204063" cy="14575"/>
          </a:xfrm>
          <a:prstGeom prst="rect">
            <a:avLst/>
          </a:prstGeom>
          <a:solidFill>
            <a:srgbClr val="FEFEFE"/>
          </a:solidFill>
        </p:spPr>
        <p:txBody>
          <a:bodyPr wrap="none" lIns="0" rIns="0" tIns="0" bIns="0">
            <a:spAutoFit/>
          </a:bodyPr>
          <a:lstStyle/>
          <a:p>
            <a:r>
              <a:rPr sz="1400">
                <a:solidFill>
                  <a:srgbClr val="000000"/>
                </a:solidFill>
              </a:rPr>
              <a:t>Xn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84648" y="4427562"/>
            <a:ext cx="204063" cy="131183"/>
          </a:xfrm>
          <a:prstGeom prst="rect">
            <a:avLst/>
          </a:prstGeom>
          <a:solidFill>
            <a:srgbClr val="F2F2F2"/>
          </a:solidFill>
        </p:spPr>
        <p:txBody>
          <a:bodyPr wrap="none" lIns="0" rIns="0" tIns="0" bIns="0">
            <a:spAutoFit/>
          </a:bodyPr>
          <a:lstStyle/>
          <a:p>
            <a:r>
              <a:rPr sz="1400">
                <a:solidFill>
                  <a:srgbClr val="3E3E3E"/>
                </a:solidFill>
              </a:rPr>
              <a:t>Wn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61105" y="5003314"/>
            <a:ext cx="1632510" cy="189487"/>
          </a:xfrm>
          <a:prstGeom prst="rect">
            <a:avLst/>
          </a:prstGeom>
          <a:solidFill>
            <a:srgbClr val="F3F3F4"/>
          </a:solidFill>
        </p:spPr>
        <p:txBody>
          <a:bodyPr wrap="none" lIns="0" rIns="0" tIns="0" bIns="0">
            <a:spAutoFit/>
          </a:bodyPr>
          <a:lstStyle/>
          <a:p>
            <a:r>
              <a:rPr sz="1400">
                <a:solidFill>
                  <a:srgbClr val="2B2B2C"/>
                </a:solidFill>
              </a:rPr>
              <a:t>EXAMPLE: COIN TOSS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8452" y="5280257"/>
            <a:ext cx="2244701" cy="51015"/>
          </a:xfrm>
          <a:prstGeom prst="rect">
            <a:avLst/>
          </a:prstGeom>
          <a:solidFill>
            <a:srgbClr val="FAFAFA"/>
          </a:solidFill>
        </p:spPr>
        <p:txBody>
          <a:bodyPr wrap="none" lIns="0" rIns="0" tIns="0" bIns="0">
            <a:spAutoFit/>
          </a:bodyPr>
          <a:lstStyle/>
          <a:p>
            <a:r>
              <a:rPr sz="1400">
                <a:solidFill>
                  <a:srgbClr val="000000"/>
                </a:solidFill>
              </a:rPr>
              <a:t>random variable defines the</a:t>
            </a:r>
          </a:p>
          <a:p>
            <a:r>
              <a:rPr sz="1400">
                <a:solidFill>
                  <a:srgbClr val="000000"/>
                </a:solidFill>
              </a:rPr>
              <a:t>"translation" of</a:t>
            </a:r>
          </a:p>
          <a:p>
            <a:r>
              <a:rPr sz="1400">
                <a:solidFill>
                  <a:srgbClr val="000000"/>
                </a:solidFill>
              </a:rPr>
              <a:t>qualitative outcomes</a:t>
            </a:r>
          </a:p>
          <a:p>
            <a:r>
              <a:rPr sz="1400">
                <a:solidFill>
                  <a:srgbClr val="000000"/>
                </a:solidFill>
              </a:rPr>
              <a:t>into quantitative data_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59475" y="5338561"/>
            <a:ext cx="429991" cy="7287"/>
          </a:xfrm>
          <a:prstGeom prst="rect">
            <a:avLst/>
          </a:prstGeom>
          <a:solidFill>
            <a:srgbClr val="C12C31"/>
          </a:solidFill>
        </p:spPr>
        <p:txBody>
          <a:bodyPr wrap="none" lIns="0" rIns="0" tIns="0" bIns="0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Value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71264" y="5353137"/>
            <a:ext cx="932862" cy="1"/>
          </a:xfrm>
          <a:prstGeom prst="rect">
            <a:avLst/>
          </a:prstGeom>
          <a:solidFill>
            <a:srgbClr val="FFFFFF"/>
          </a:solidFill>
        </p:spPr>
        <p:txBody>
          <a:bodyPr wrap="none" lIns="0" rIns="0" tIns="0" bIns="0">
            <a:spAutoFit/>
          </a:bodyPr>
          <a:lstStyle/>
          <a:p>
            <a:r>
              <a:rPr sz="1400">
                <a:solidFill>
                  <a:srgbClr val="000000"/>
                </a:solidFill>
              </a:rPr>
              <a:t>Outcome (w)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04614" y="5360425"/>
            <a:ext cx="1428446" cy="145759"/>
          </a:xfrm>
          <a:prstGeom prst="rect">
            <a:avLst/>
          </a:prstGeom>
          <a:solidFill>
            <a:srgbClr val="C43137"/>
          </a:solidFill>
        </p:spPr>
        <p:txBody>
          <a:bodyPr wrap="none" lIns="0" rIns="0" tIns="0" bIns="0">
            <a:spAutoFit/>
          </a:bodyPr>
          <a:lstStyle/>
          <a:p>
            <a:r>
              <a:rPr sz="1400">
                <a:solidFill>
                  <a:srgbClr val="F5D7D7"/>
                </a:solidFill>
              </a:rPr>
              <a:t>Random Variable (X)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87872" y="5673809"/>
            <a:ext cx="714223" cy="51015"/>
          </a:xfrm>
          <a:prstGeom prst="rect">
            <a:avLst/>
          </a:prstGeom>
          <a:solidFill>
            <a:srgbClr val="FBFBFB"/>
          </a:solidFill>
        </p:spPr>
        <p:txBody>
          <a:bodyPr wrap="none" lIns="0" rIns="0" tIns="0" bIns="0">
            <a:spAutoFit/>
          </a:bodyPr>
          <a:lstStyle/>
          <a:p>
            <a:r>
              <a:rPr sz="1400">
                <a:solidFill>
                  <a:srgbClr val="4B4C4D"/>
                </a:solidFill>
              </a:rPr>
              <a:t>Heads (H)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26478" y="5732113"/>
            <a:ext cx="1326414" cy="174911"/>
          </a:xfrm>
          <a:prstGeom prst="rect">
            <a:avLst/>
          </a:prstGeom>
          <a:solidFill>
            <a:srgbClr val="F7F7F7"/>
          </a:solidFill>
        </p:spPr>
        <p:txBody>
          <a:bodyPr wrap="none" lIns="0" rIns="0" tIns="0" bIns="0">
            <a:spAutoFit/>
          </a:bodyPr>
          <a:lstStyle/>
          <a:p>
            <a:r>
              <a:rPr sz="1400">
                <a:solidFill>
                  <a:srgbClr val="3E3E3F"/>
                </a:solidFill>
              </a:rPr>
              <a:t>Let X = 1 if Heads_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05453" y="5979904"/>
            <a:ext cx="626767" cy="36439"/>
          </a:xfrm>
          <a:prstGeom prst="rect">
            <a:avLst/>
          </a:prstGeom>
          <a:solidFill>
            <a:srgbClr val="FCFCFC"/>
          </a:solidFill>
        </p:spPr>
        <p:txBody>
          <a:bodyPr wrap="none" lIns="0" rIns="0" tIns="0" bIns="0">
            <a:spAutoFit/>
          </a:bodyPr>
          <a:lstStyle/>
          <a:p>
            <a:r>
              <a:rPr sz="1400">
                <a:solidFill>
                  <a:srgbClr val="000000"/>
                </a:solidFill>
              </a:rPr>
              <a:t>0 if Tails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60752" y="6023632"/>
            <a:ext cx="568463" cy="189487"/>
          </a:xfrm>
          <a:prstGeom prst="rect">
            <a:avLst/>
          </a:prstGeom>
          <a:solidFill>
            <a:srgbClr val="F6F6F6"/>
          </a:solidFill>
        </p:spPr>
        <p:txBody>
          <a:bodyPr wrap="none" lIns="0" rIns="0" tIns="0" bIns="0">
            <a:spAutoFit/>
          </a:bodyPr>
          <a:lstStyle/>
          <a:p>
            <a:r>
              <a:rPr sz="1400">
                <a:solidFill>
                  <a:srgbClr val="464646"/>
                </a:solidFill>
              </a:rPr>
              <a:t>Tails (T)</a:t>
            </a:r>
          </a:p>
        </p:txBody>
      </p:sp>
    </p:spTree>
    <p:extLst>
      <p:ext uri="{BB962C8B-B14F-4D97-AF65-F5344CB8AC3E}">
        <p14:creationId xmlns:p14="http://schemas.microsoft.com/office/powerpoint/2010/main" val="9951611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Balasubramanian PG</dc:creator>
  <cp:lastModifiedBy>Balasubramanian PG</cp:lastModifiedBy>
  <cp:revision>2</cp:revision>
  <dcterms:created xsi:type="dcterms:W3CDTF">2026-05-29T04:15:09Z</dcterms:created>
  <dcterms:modified xsi:type="dcterms:W3CDTF">2026-06-03T05:37:02Z</dcterms:modified>
</cp:coreProperties>
</file>