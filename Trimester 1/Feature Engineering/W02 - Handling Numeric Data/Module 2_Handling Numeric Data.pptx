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Arial Narrow" panose="020B0606020202030204" pitchFamily="34" charset="0"/>
      <p:regular r:id="rId21"/>
      <p:bold r:id="rId22"/>
      <p:italic r:id="rId23"/>
      <p:boldItalic r:id="rId24"/>
    </p:embeddedFont>
    <p:embeddedFont>
      <p:font typeface="Play"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07"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ir72VU3iqBNLPKI0VIQPFqjtx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0" d="100"/>
          <a:sy n="90" d="100"/>
        </p:scale>
        <p:origin x="370" y="67"/>
      </p:cViewPr>
      <p:guideLst>
        <p:guide orient="horz" pos="120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8531138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94032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8369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07f902fe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Welcome to the second module of our Feature Engineering course: 'Handling Numeric Data.' Numeric data, like age or income, is found everywhere in datasets. However, raw numeric features are rarely optimal for direct use in machine learning models and often need some form of preprocessing.</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This module will introduce you to several powerful techniques for transforming numeric data. We'll start with Discretization, which converts continuous values into discrete categories. Then, we'll cover Binarization, a specific form of discretization that turns features into just two values: 0 or 1. We'll then delve into various Normalization methods, including Min-Max Scaling, which adjust feature ranges. We'll also briefly discuss Smoothing, designed to reduce noise. Finally, we'll explore Attribute Transformations like applying log or polynomial functions, which can alter the distribution or relationships of features.</a:t>
            </a:r>
            <a:endParaRPr/>
          </a:p>
        </p:txBody>
      </p:sp>
      <p:sp>
        <p:nvSpPr>
          <p:cNvPr id="97" name="Google Shape;97;g3707f902fe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7483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708268c0a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Let's begin with Discretization. This process involves transforming continuous numeric attributes, like a person's age or a customer's income, into a limited number of ordered categories or 'bins.' For example, instead of using exact ages, we might group them into 'children,' 'young adults,' and 'seniors.'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There are several compelling reasons to discretize. Firstly, it makes models more robust to outliers. An unusually high income value won't skew the model as much if it's simply grouped into the 'high income' bin. Secondly, it can significantly improve model interpretability; explaining categories like 'low,' 'medium,' or 'high' income is often easier than precise numerical thresholds. Thirdly, some algorithms, particularly decision trees, can sometimes perform better or are inherently better suited to handle binned data. Lastly, it helps to reduce the impact of minor, often insignificant, fluctuations in continuous values, essentially smoothing the data.</a:t>
            </a:r>
            <a:endParaRPr/>
          </a:p>
        </p:txBody>
      </p:sp>
      <p:sp>
        <p:nvSpPr>
          <p:cNvPr id="106" name="Google Shape;106;g3708268c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1828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Now, let's look at common discretization methods. First, Equal-width Binning, also known as Equal-distance Binning. This method divides the entire range of your numeric attribute into 'k' intervals of the same size. It's straightforward to implement. However, if your data isn't uniformly distributed, you might find that some bins are nearly empty while others are very densely populated.</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The second method is Equal-frequency Binning, or Quantile Binning. This approach aims to put an approximately equal number of data points into each bin, regardless of the numerical width of that bin. This is particularly effective for skewed data distributions, ensuring each bin is adequately populated. The trade-off is that the actual numeric width of these bins can vary significantly. Some bins might cover a very narrow range of values, while others span a much broader range.</a:t>
            </a: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2474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7084f751b1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Beyond the basic methods, we have more advanced discretization techniques. K-Means Binning leverages the K-Means clustering algorithm. Instead of predefined intervals, K-Means groups data points into 'k' clusters based on their proximity, and the cluster centroids then help define the bin boundaries. This method aims to minimise the variance within each bin, meaning data points inside a bin are as similar as possible.</a:t>
            </a:r>
            <a:endParaRPr>
              <a:solidFill>
                <a:srgbClr val="1B1C1D"/>
              </a:solidFill>
            </a:endParaRPr>
          </a:p>
          <a:p>
            <a:pPr marL="0" lvl="0" indent="0" algn="l" rtl="0">
              <a:lnSpc>
                <a:spcPct val="115000"/>
              </a:lnSpc>
              <a:spcBef>
                <a:spcPts val="1200"/>
              </a:spcBef>
              <a:spcAft>
                <a:spcPts val="1200"/>
              </a:spcAft>
              <a:buClr>
                <a:schemeClr val="dk1"/>
              </a:buClr>
              <a:buSzPts val="1100"/>
              <a:buFont typeface="Arial"/>
              <a:buNone/>
            </a:pPr>
            <a:r>
              <a:rPr lang="en-US">
                <a:solidFill>
                  <a:srgbClr val="1B1C1D"/>
                </a:solidFill>
              </a:rPr>
              <a:t>Then, there are Supervised Discretization methods, such as ChiMerge. Unlike unsupervised methods that only consider the feature itself, supervised methods incorporate the information from your target variable. The goal here is to create bins that are highly discriminative for predicting the target. For example, if you're predicting customer churn, ChiMerge would try to create age bins where the churn rate is significantly different from one bin to another. While more complex, these methods can often lead to improved predictive performance because the binning strategy is optimised for the specific learning task.</a:t>
            </a:r>
            <a:endParaRPr/>
          </a:p>
        </p:txBody>
      </p:sp>
      <p:sp>
        <p:nvSpPr>
          <p:cNvPr id="124" name="Google Shape;124;g37084f751b1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3769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084f751b1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Next, we look at Binarization, which is a very specific type of discretization. Binarization converts a numeric feature into a binary one, meaning it can only take on two values, typically 0 or 1.</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The most common way to achieve this is through thresholding. You define a specific threshold value for your numeric feature. Any value in the feature that exceeds this threshold is assigned a 1, while values at or below the threshold are assigned a 0. For example, if we binarize 'age' with a threshold of 18, anyone 18 or under gets a 0 ('minor'), and anyone over 18 gets a 1 ('adult').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Binarization is useful for several reasons. It's excellent for creating 'flag' features that indicate the presence or absence of a condition, like 'is_high_spender.' It also simplifies complex numeric features when only a distinction beyond a certain point is important. Furthermore, some machine learning algorithms might explicitly require or perform better with binary inputs.</a:t>
            </a:r>
            <a:endParaRPr/>
          </a:p>
          <a:p>
            <a:pPr marL="0" lvl="0" indent="0" algn="l" rtl="0">
              <a:lnSpc>
                <a:spcPct val="100000"/>
              </a:lnSpc>
              <a:spcBef>
                <a:spcPts val="0"/>
              </a:spcBef>
              <a:spcAft>
                <a:spcPts val="0"/>
              </a:spcAft>
              <a:buSzPts val="1100"/>
              <a:buNone/>
            </a:pPr>
            <a:endParaRPr/>
          </a:p>
        </p:txBody>
      </p:sp>
      <p:sp>
        <p:nvSpPr>
          <p:cNvPr id="133" name="Google Shape;133;g37084f751b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036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7084f751b1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Now, we move to a critically important technique: Normalization, often referred to as Feature Scaling. This process involves adjusting the range of your numeric features so they all fall within a similar, standard scale, such as between 0 and 1, or with a mean of 0 and standard deviation of 1.</a:t>
            </a:r>
            <a:endParaRPr>
              <a:solidFill>
                <a:srgbClr val="1B1C1D"/>
              </a:solidFill>
            </a:endParaRPr>
          </a:p>
          <a:p>
            <a:pPr marL="0" lvl="0" indent="0" algn="l" rtl="0">
              <a:lnSpc>
                <a:spcPct val="115000"/>
              </a:lnSpc>
              <a:spcBef>
                <a:spcPts val="1200"/>
              </a:spcBef>
              <a:spcAft>
                <a:spcPts val="0"/>
              </a:spcAft>
              <a:buClr>
                <a:schemeClr val="dk1"/>
              </a:buClr>
              <a:buSzPts val="1100"/>
              <a:buFont typeface="Arial"/>
              <a:buNone/>
            </a:pPr>
            <a:r>
              <a:rPr lang="en-US">
                <a:solidFill>
                  <a:srgbClr val="1B1C1D"/>
                </a:solidFill>
              </a:rPr>
              <a:t>Why is this so important? There are three main reasons. Firstly, for </a:t>
            </a:r>
            <a:r>
              <a:rPr lang="en-US" b="1">
                <a:solidFill>
                  <a:srgbClr val="1B1C1D"/>
                </a:solidFill>
              </a:rPr>
              <a:t>distance-based algorithms</a:t>
            </a:r>
            <a:r>
              <a:rPr lang="en-US">
                <a:solidFill>
                  <a:srgbClr val="1B1C1D"/>
                </a:solidFill>
              </a:rPr>
              <a:t> like K-Nearest Neighbors, Support Vector Machines, and K-Means Clustering. These algorithms calculate distances between data points. If features have vastly different scales—say, 'salary' ranging from 20,000 to 200,000, and 'years of experience' from 0 to 30—the 'salary' feature will numerically dominate the distance calculation simply due to its larger values. Scaling ensures all features contribute proportionally.</a:t>
            </a:r>
            <a:endParaRPr>
              <a:solidFill>
                <a:srgbClr val="1B1C1D"/>
              </a:solidFill>
            </a:endParaRPr>
          </a:p>
          <a:p>
            <a:pPr marL="0" lvl="0" indent="0" algn="l" rtl="0">
              <a:lnSpc>
                <a:spcPct val="115000"/>
              </a:lnSpc>
              <a:spcBef>
                <a:spcPts val="1200"/>
              </a:spcBef>
              <a:spcAft>
                <a:spcPts val="0"/>
              </a:spcAft>
              <a:buClr>
                <a:schemeClr val="dk1"/>
              </a:buClr>
              <a:buSzPts val="1100"/>
              <a:buFont typeface="Arial"/>
              <a:buNone/>
            </a:pPr>
            <a:r>
              <a:rPr lang="en-US">
                <a:solidFill>
                  <a:srgbClr val="1B1C1D"/>
                </a:solidFill>
              </a:rPr>
              <a:t>Secondly, for </a:t>
            </a:r>
            <a:r>
              <a:rPr lang="en-US" b="1">
                <a:solidFill>
                  <a:srgbClr val="1B1C1D"/>
                </a:solidFill>
              </a:rPr>
              <a:t>Gradient Descent based algorithms</a:t>
            </a:r>
            <a:r>
              <a:rPr lang="en-US">
                <a:solidFill>
                  <a:srgbClr val="1B1C1D"/>
                </a:solidFill>
              </a:rPr>
              <a:t>, including Linear Regression, Logistic Regression, and Neural Networks. These algorithms use gradient descent to optimise their parameters. When features are on different scales, the optimisation landscape can become elongated, making it harder and slower for the algorithm to find the optimal solution. Scaling helps create a more spherical landscape, leading to faster and more stable convergence.</a:t>
            </a:r>
            <a:endParaRPr>
              <a:solidFill>
                <a:srgbClr val="1B1C1D"/>
              </a:solidFill>
            </a:endParaRPr>
          </a:p>
          <a:p>
            <a:pPr marL="0" lvl="0" indent="0" algn="l" rtl="0">
              <a:lnSpc>
                <a:spcPct val="115000"/>
              </a:lnSpc>
              <a:spcBef>
                <a:spcPts val="1200"/>
              </a:spcBef>
              <a:spcAft>
                <a:spcPts val="1200"/>
              </a:spcAft>
              <a:buClr>
                <a:schemeClr val="dk1"/>
              </a:buClr>
              <a:buSzPts val="1100"/>
              <a:buFont typeface="Arial"/>
              <a:buNone/>
            </a:pPr>
            <a:r>
              <a:rPr lang="en-US">
                <a:solidFill>
                  <a:srgbClr val="1B1C1D"/>
                </a:solidFill>
              </a:rPr>
              <a:t>Finally, for </a:t>
            </a:r>
            <a:r>
              <a:rPr lang="en-US" b="1">
                <a:solidFill>
                  <a:srgbClr val="1B1C1D"/>
                </a:solidFill>
              </a:rPr>
              <a:t>Regularization</a:t>
            </a:r>
            <a:r>
              <a:rPr lang="en-US">
                <a:solidFill>
                  <a:srgbClr val="1B1C1D"/>
                </a:solidFill>
              </a:rPr>
              <a:t> techniques (L1/L2). Regularization adds a penalty based on the magnitude of feature coefficients to prevent overfitting. If features are unscaled, features with larger ranges might naturally have larger coefficients, leading to an unfair application of the regularization penalty. Scaling ensures that regularization applies fairly across all features, regardless of their original magnitudes.</a:t>
            </a:r>
            <a:endParaRPr/>
          </a:p>
        </p:txBody>
      </p:sp>
      <p:sp>
        <p:nvSpPr>
          <p:cNvPr id="142" name="Google Shape;142;g37084f751b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2363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Let's explore the most common methods for feature scaling. </a:t>
            </a:r>
            <a:r>
              <a:rPr lang="en-US" b="1">
                <a:solidFill>
                  <a:srgbClr val="1B1C1D"/>
                </a:solidFill>
              </a:rPr>
              <a:t>Min-Max Scaling</a:t>
            </a:r>
            <a:r>
              <a:rPr lang="en-US">
                <a:solidFill>
                  <a:srgbClr val="1B1C1D"/>
                </a:solidFill>
              </a:rPr>
              <a:t>, often simply called Normalization, scales features to a predefined range, typically between 0 and 1. The formula involves subtracting the minimum value from each data point and dividing by the range (max minus min). While straightforward, it's highly sensitive to outliers. A single extreme value can disproportionately compress the majority of your data into a small part of the 0-1 range.</a:t>
            </a:r>
            <a:endParaRPr>
              <a:solidFill>
                <a:srgbClr val="1B1C1D"/>
              </a:solidFill>
            </a:endParaRPr>
          </a:p>
          <a:p>
            <a:pPr marL="0" lvl="0" indent="0" algn="l" rtl="0">
              <a:lnSpc>
                <a:spcPct val="115000"/>
              </a:lnSpc>
              <a:spcBef>
                <a:spcPts val="1200"/>
              </a:spcBef>
              <a:spcAft>
                <a:spcPts val="1200"/>
              </a:spcAft>
              <a:buSzPts val="1100"/>
              <a:buNone/>
            </a:pPr>
            <a:r>
              <a:rPr lang="en-US" b="1">
                <a:solidFill>
                  <a:srgbClr val="1B1C1D"/>
                </a:solidFill>
              </a:rPr>
              <a:t>Standardization</a:t>
            </a:r>
            <a:r>
              <a:rPr lang="en-US">
                <a:solidFill>
                  <a:srgbClr val="1B1C1D"/>
                </a:solidFill>
              </a:rPr>
              <a:t>, or Z-score Normalization, transforms features to have a mean of 0 and a standard deviation of 1. This is achieved by subtracting the mean of the feature from each data point and then dividing by the standard deviation. Standardization is less affected by outliers than Min-Max scaling because the mean and standard deviation are more robust to extreme values than the absolute min and max. It's particularly useful for algorithms that assume or benefit from normally distributed inputs, such as Linear Regression and Neural Networks, as it aids in faster optimisation.</a:t>
            </a: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4221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84f751b1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Continuing with scaling methods, </a:t>
            </a:r>
            <a:r>
              <a:rPr lang="en-US" b="1">
                <a:solidFill>
                  <a:srgbClr val="1B1C1D"/>
                </a:solidFill>
              </a:rPr>
              <a:t>Robust Scaling</a:t>
            </a:r>
            <a:r>
              <a:rPr lang="en-US">
                <a:solidFill>
                  <a:srgbClr val="1B1C1D"/>
                </a:solidFill>
              </a:rPr>
              <a:t> is designed to be highly resistant to the influence of outliers. Instead of the mean/standard deviation or min/max, it uses the median and the Interquartile Range (IQR). The formula is: subtract the median and divide by the IQR (75th percentile minus 25th percentile). This makes it ideal when your dataset is known to have many outliers, as it scales the data without distortion from these extreme values.</a:t>
            </a:r>
            <a:endParaRPr>
              <a:solidFill>
                <a:srgbClr val="1B1C1D"/>
              </a:solidFill>
            </a:endParaRPr>
          </a:p>
          <a:p>
            <a:pPr marL="0" lvl="0" indent="0" algn="l" rtl="0">
              <a:lnSpc>
                <a:spcPct val="115000"/>
              </a:lnSpc>
              <a:spcBef>
                <a:spcPts val="1200"/>
              </a:spcBef>
              <a:spcAft>
                <a:spcPts val="1200"/>
              </a:spcAft>
              <a:buSzPts val="1100"/>
              <a:buNone/>
            </a:pPr>
            <a:r>
              <a:rPr lang="en-US">
                <a:solidFill>
                  <a:srgbClr val="1B1C1D"/>
                </a:solidFill>
              </a:rPr>
              <a:t>Finally, </a:t>
            </a:r>
            <a:r>
              <a:rPr lang="en-US" b="1">
                <a:solidFill>
                  <a:srgbClr val="1B1C1D"/>
                </a:solidFill>
              </a:rPr>
              <a:t>Log Transformation</a:t>
            </a:r>
            <a:r>
              <a:rPr lang="en-US">
                <a:solidFill>
                  <a:srgbClr val="1B1C1D"/>
                </a:solidFill>
              </a:rPr>
              <a:t> is a type of attribute transformation that also serves a scaling purpose by altering the distribution. It applies a logarithmic function (e.g., natural log) to your feature values. This is incredibly useful for features with a highly positive skew, meaning a long tail to the right. The log transformation compresses the larger values more significantly than smaller ones, thereby reducing skewness and making the distribution more symmetric, often closer to a Gaussian distribution. This can be beneficial for models that perform better with normally distributed data, and it also helps to mitigate the impact of extreme values.</a:t>
            </a:r>
            <a:endParaRPr>
              <a:solidFill>
                <a:srgbClr val="1B1C1D"/>
              </a:solidFill>
            </a:endParaRPr>
          </a:p>
        </p:txBody>
      </p:sp>
      <p:sp>
        <p:nvSpPr>
          <p:cNvPr id="160" name="Google Shape;160;g37084f751b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0134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084f751b1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Next, we'll briefly cover Smoothing techniques. While not always considered a primary 'feature engineering' technique, smoothing is essential for managing noisy numeric data, especially in time series. Smoothing involves applying methods to reduce erratic fluctuations and noise by averaging nearby data points or fitting local functions.</a:t>
            </a:r>
            <a:endParaRPr>
              <a:solidFill>
                <a:srgbClr val="1B1C1D"/>
              </a:solidFill>
            </a:endParaRPr>
          </a:p>
          <a:p>
            <a:pPr marL="0" lvl="0" indent="0" algn="l" rtl="0">
              <a:lnSpc>
                <a:spcPct val="115000"/>
              </a:lnSpc>
              <a:spcBef>
                <a:spcPts val="1200"/>
              </a:spcBef>
              <a:spcAft>
                <a:spcPts val="1200"/>
              </a:spcAft>
              <a:buSzPts val="1100"/>
              <a:buNone/>
            </a:pPr>
            <a:r>
              <a:rPr lang="en-US">
                <a:solidFill>
                  <a:srgbClr val="1B1C1D"/>
                </a:solidFill>
              </a:rPr>
              <a:t>The main purpose of smoothing is to reveal the underlying trends and patterns that might be obscured by random noise. For instance, in stock prices, smoothing can highlight the general trend rather than day-to-day volatility. It also minimises the impact of individual, potentially erroneous, data points, making the data more stable and reliable for subsequent analysis or model training. Common examples include the Moving Average, which averages a set number of preceding points, and LOESS, a more sophisticated method that fits local regression models.</a:t>
            </a:r>
            <a:endParaRPr>
              <a:solidFill>
                <a:srgbClr val="1B1C1D"/>
              </a:solidFill>
            </a:endParaRPr>
          </a:p>
        </p:txBody>
      </p:sp>
      <p:sp>
        <p:nvSpPr>
          <p:cNvPr id="169" name="Google Shape;169;g37084f751b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2301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7084f751b1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Finally, within this section, we have Attribute Transformations. This involves applying mathematical functions to a feature to alter its distribution or its relationship with other variables or the target.</a:t>
            </a:r>
            <a:endParaRPr>
              <a:solidFill>
                <a:srgbClr val="1B1C1D"/>
              </a:solidFill>
            </a:endParaRPr>
          </a:p>
          <a:p>
            <a:pPr marL="0" lvl="0" indent="0" algn="l" rtl="0">
              <a:lnSpc>
                <a:spcPct val="115000"/>
              </a:lnSpc>
              <a:spcBef>
                <a:spcPts val="1200"/>
              </a:spcBef>
              <a:spcAft>
                <a:spcPts val="0"/>
              </a:spcAft>
              <a:buSzPts val="1100"/>
              <a:buNone/>
            </a:pPr>
            <a:r>
              <a:rPr lang="en-US">
                <a:solidFill>
                  <a:srgbClr val="1B1C1D"/>
                </a:solidFill>
              </a:rPr>
              <a:t>The purposes are diverse and powerful. Transformations can </a:t>
            </a:r>
            <a:r>
              <a:rPr lang="en-US" b="1">
                <a:solidFill>
                  <a:srgbClr val="1B1C1D"/>
                </a:solidFill>
              </a:rPr>
              <a:t>improve linearity</a:t>
            </a:r>
            <a:r>
              <a:rPr lang="en-US">
                <a:solidFill>
                  <a:srgbClr val="1B1C1D"/>
                </a:solidFill>
              </a:rPr>
              <a:t> for linear models, </a:t>
            </a:r>
            <a:r>
              <a:rPr lang="en-US" b="1">
                <a:solidFill>
                  <a:srgbClr val="1B1C1D"/>
                </a:solidFill>
              </a:rPr>
              <a:t>transform skewed distributions towards normality</a:t>
            </a:r>
            <a:r>
              <a:rPr lang="en-US">
                <a:solidFill>
                  <a:srgbClr val="1B1C1D"/>
                </a:solidFill>
              </a:rPr>
              <a:t> (as seen with log transformation), and </a:t>
            </a:r>
            <a:r>
              <a:rPr lang="en-US" b="1">
                <a:solidFill>
                  <a:srgbClr val="1B1C1D"/>
                </a:solidFill>
              </a:rPr>
              <a:t>reduce heteroscedasticity</a:t>
            </a:r>
            <a:r>
              <a:rPr lang="en-US">
                <a:solidFill>
                  <a:srgbClr val="1B1C1D"/>
                </a:solidFill>
              </a:rPr>
              <a:t> (unequal variance). Crucially, they can also </a:t>
            </a:r>
            <a:r>
              <a:rPr lang="en-US" b="1">
                <a:solidFill>
                  <a:srgbClr val="1B1C1D"/>
                </a:solidFill>
              </a:rPr>
              <a:t>create interaction terms</a:t>
            </a:r>
            <a:r>
              <a:rPr lang="en-US">
                <a:solidFill>
                  <a:srgbClr val="1B1C1D"/>
                </a:solidFill>
              </a:rPr>
              <a:t>, allowing models to capture synergistic effects between features.</a:t>
            </a:r>
            <a:endParaRPr>
              <a:solidFill>
                <a:srgbClr val="1B1C1D"/>
              </a:solidFill>
            </a:endParaRPr>
          </a:p>
          <a:p>
            <a:pPr marL="0" lvl="0" indent="0" algn="l" rtl="0">
              <a:lnSpc>
                <a:spcPct val="115000"/>
              </a:lnSpc>
              <a:spcBef>
                <a:spcPts val="1200"/>
              </a:spcBef>
              <a:spcAft>
                <a:spcPts val="1200"/>
              </a:spcAft>
              <a:buSzPts val="1100"/>
              <a:buNone/>
            </a:pPr>
            <a:r>
              <a:rPr lang="en-US">
                <a:solidFill>
                  <a:srgbClr val="1B1C1D"/>
                </a:solidFill>
              </a:rPr>
              <a:t>Beyond the log transformation, other examples include the </a:t>
            </a:r>
            <a:r>
              <a:rPr lang="en-US" b="1">
                <a:solidFill>
                  <a:srgbClr val="1B1C1D"/>
                </a:solidFill>
              </a:rPr>
              <a:t>Square Root Transformation (X​)</a:t>
            </a:r>
            <a:r>
              <a:rPr lang="en-US">
                <a:solidFill>
                  <a:srgbClr val="1B1C1D"/>
                </a:solidFill>
              </a:rPr>
              <a:t>, which is less aggressive than log and useful for moderately skewed or count data. The </a:t>
            </a:r>
            <a:r>
              <a:rPr lang="en-US" b="1">
                <a:solidFill>
                  <a:srgbClr val="1B1C1D"/>
                </a:solidFill>
              </a:rPr>
              <a:t>Reciprocal Transformation (1/X)</a:t>
            </a:r>
            <a:r>
              <a:rPr lang="en-US">
                <a:solidFill>
                  <a:srgbClr val="1B1C1D"/>
                </a:solidFill>
              </a:rPr>
              <a:t> is for highly skewed positive data and can invert relationships. We can also create </a:t>
            </a:r>
            <a:r>
              <a:rPr lang="en-US" b="1">
                <a:solidFill>
                  <a:srgbClr val="1B1C1D"/>
                </a:solidFill>
              </a:rPr>
              <a:t>Polynomial Features</a:t>
            </a:r>
            <a:r>
              <a:rPr lang="en-US">
                <a:solidFill>
                  <a:srgbClr val="1B1C1D"/>
                </a:solidFill>
              </a:rPr>
              <a:t> like X2 or X3 to enable linear models to capture non-linear patterns. Lastly, </a:t>
            </a:r>
            <a:r>
              <a:rPr lang="en-US" b="1">
                <a:solidFill>
                  <a:srgbClr val="1B1C1D"/>
                </a:solidFill>
              </a:rPr>
              <a:t>Interaction Features</a:t>
            </a:r>
            <a:r>
              <a:rPr lang="en-US">
                <a:solidFill>
                  <a:srgbClr val="1B1C1D"/>
                </a:solidFill>
              </a:rPr>
              <a:t>, typically products like X1​∗X2​, combine existing features to capture how their combined effect might be different from their individual effects, such as how 'marketing spend' interacts with 'seasonality' to influence sales.</a:t>
            </a:r>
            <a:endParaRPr>
              <a:solidFill>
                <a:srgbClr val="1B1C1D"/>
              </a:solidFill>
            </a:endParaRPr>
          </a:p>
        </p:txBody>
      </p:sp>
      <p:sp>
        <p:nvSpPr>
          <p:cNvPr id="178" name="Google Shape;178;g37084f751b1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0293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7084f751b1_0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A common question arises: 'Which scaling method should I use?' The choice largely depends on the characteristics of your data and the specific machine learning algorithm you plan to employ.</a:t>
            </a:r>
            <a:endParaRPr>
              <a:solidFill>
                <a:srgbClr val="1B1C1D"/>
              </a:solidFill>
            </a:endParaRPr>
          </a:p>
          <a:p>
            <a:pPr marL="0" lvl="0" indent="0" algn="l" rtl="0">
              <a:lnSpc>
                <a:spcPct val="115000"/>
              </a:lnSpc>
              <a:spcBef>
                <a:spcPts val="1200"/>
              </a:spcBef>
              <a:spcAft>
                <a:spcPts val="0"/>
              </a:spcAft>
              <a:buSzPts val="1100"/>
              <a:buNone/>
            </a:pPr>
            <a:r>
              <a:rPr lang="en-US" b="1">
                <a:solidFill>
                  <a:srgbClr val="1B1C1D"/>
                </a:solidFill>
              </a:rPr>
              <a:t>Min-Max Scaling</a:t>
            </a:r>
            <a:r>
              <a:rPr lang="en-US">
                <a:solidFill>
                  <a:srgbClr val="1B1C1D"/>
                </a:solidFill>
              </a:rPr>
              <a:t> is a good choice when you require your features to be within a specific, predefined range, most commonly 0 to 1. This is particularly relevant for certain neural network activation functions, such as sigmoid or tanh, which expect inputs within these bounds. However, remember its sensitivity to outliers; if your data has extreme values, consider handling them first or opting for a different scaler.</a:t>
            </a:r>
            <a:endParaRPr>
              <a:solidFill>
                <a:srgbClr val="1B1C1D"/>
              </a:solidFill>
            </a:endParaRPr>
          </a:p>
          <a:p>
            <a:pPr marL="0" lvl="0" indent="0" algn="l" rtl="0">
              <a:lnSpc>
                <a:spcPct val="115000"/>
              </a:lnSpc>
              <a:spcBef>
                <a:spcPts val="1200"/>
              </a:spcBef>
              <a:spcAft>
                <a:spcPts val="0"/>
              </a:spcAft>
              <a:buSzPts val="1100"/>
              <a:buNone/>
            </a:pPr>
            <a:r>
              <a:rPr lang="en-US" b="1">
                <a:solidFill>
                  <a:srgbClr val="1B1C1D"/>
                </a:solidFill>
              </a:rPr>
              <a:t>Standardization (Z-score)</a:t>
            </a:r>
            <a:r>
              <a:rPr lang="en-US">
                <a:solidFill>
                  <a:srgbClr val="1B1C1D"/>
                </a:solidFill>
              </a:rPr>
              <a:t> is generally a more versatile and frequently used option. It's preferred for algorithms that implicitly or explicitly assume your data is normally distributed, even if it's not perfectly Gaussian, such as Linear Regression, Logistic Regression, and Linear Discriminant Analysis. Crucially, for all algorithms that rely on </a:t>
            </a:r>
            <a:r>
              <a:rPr lang="en-US" b="1">
                <a:solidFill>
                  <a:srgbClr val="1B1C1D"/>
                </a:solidFill>
              </a:rPr>
              <a:t>gradient descent</a:t>
            </a:r>
            <a:r>
              <a:rPr lang="en-US">
                <a:solidFill>
                  <a:srgbClr val="1B1C1D"/>
                </a:solidFill>
              </a:rPr>
              <a:t> for optimization, standardization significantly speeds up convergence. While more robust than Min-Max, outliers still affect the mean and standard deviation used in standardization, so their influence isn't entirely removed.</a:t>
            </a:r>
            <a:endParaRPr>
              <a:solidFill>
                <a:srgbClr val="1B1C1D"/>
              </a:solidFill>
            </a:endParaRPr>
          </a:p>
          <a:p>
            <a:pPr marL="0" lvl="0" indent="0" algn="l" rtl="0">
              <a:lnSpc>
                <a:spcPct val="115000"/>
              </a:lnSpc>
              <a:spcBef>
                <a:spcPts val="1200"/>
              </a:spcBef>
              <a:spcAft>
                <a:spcPts val="1200"/>
              </a:spcAft>
              <a:buSzPts val="1100"/>
              <a:buNone/>
            </a:pPr>
            <a:r>
              <a:rPr lang="en-US">
                <a:solidFill>
                  <a:srgbClr val="1B1C1D"/>
                </a:solidFill>
              </a:rPr>
              <a:t>Finally, </a:t>
            </a:r>
            <a:r>
              <a:rPr lang="en-US" b="1">
                <a:solidFill>
                  <a:srgbClr val="1B1C1D"/>
                </a:solidFill>
              </a:rPr>
              <a:t>Robust Scaling</a:t>
            </a:r>
            <a:r>
              <a:rPr lang="en-US">
                <a:solidFill>
                  <a:srgbClr val="1B1C1D"/>
                </a:solidFill>
              </a:rPr>
              <a:t> is your ideal choice when your dataset is known to contain a significant number of outliers, and you want the scaling process to be entirely unaffected by them. By using the median and interquartile range (IQR) instead of the mean/standard deviation or min/max, it provides a scaling that is highly resistant to extreme values, ensuring the scaling is representative of the majority of your data points.</a:t>
            </a:r>
            <a:endParaRPr>
              <a:solidFill>
                <a:srgbClr val="1B1C1D"/>
              </a:solidFill>
            </a:endParaRPr>
          </a:p>
        </p:txBody>
      </p:sp>
      <p:sp>
        <p:nvSpPr>
          <p:cNvPr id="187" name="Google Shape;187;g37084f751b1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321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7084f751b1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Now, let's delve into a crucial consequence of applying these numeric data handling techniques: their impact on </a:t>
            </a:r>
            <a:r>
              <a:rPr lang="en-US" b="1">
                <a:solidFill>
                  <a:srgbClr val="1B1C1D"/>
                </a:solidFill>
              </a:rPr>
              <a:t>Proximity Metrics</a:t>
            </a:r>
            <a:r>
              <a:rPr lang="en-US">
                <a:solidFill>
                  <a:srgbClr val="1B1C1D"/>
                </a:solidFill>
              </a:rPr>
              <a:t>. Proximity metrics are simply ways to quantify how 'similar' or 'dissimilar' two data points are from each other. These metrics are fundamental building blocks for many machine learning algorithms.</a:t>
            </a:r>
            <a:endParaRPr>
              <a:solidFill>
                <a:srgbClr val="1B1C1D"/>
              </a:solidFill>
            </a:endParaRPr>
          </a:p>
          <a:p>
            <a:pPr marL="0" lvl="0" indent="0" algn="l" rtl="0">
              <a:lnSpc>
                <a:spcPct val="115000"/>
              </a:lnSpc>
              <a:spcBef>
                <a:spcPts val="1200"/>
              </a:spcBef>
              <a:spcAft>
                <a:spcPts val="0"/>
              </a:spcAft>
              <a:buSzPts val="1100"/>
              <a:buNone/>
            </a:pPr>
            <a:r>
              <a:rPr lang="en-US">
                <a:solidFill>
                  <a:srgbClr val="1B1C1D"/>
                </a:solidFill>
              </a:rPr>
              <a:t>We typically categorise them into </a:t>
            </a:r>
            <a:r>
              <a:rPr lang="en-US" b="1">
                <a:solidFill>
                  <a:srgbClr val="1B1C1D"/>
                </a:solidFill>
              </a:rPr>
              <a:t>Distance Metrics</a:t>
            </a:r>
            <a:r>
              <a:rPr lang="en-US">
                <a:solidFill>
                  <a:srgbClr val="1B1C1D"/>
                </a:solidFill>
              </a:rPr>
              <a:t>, which measure dissimilarity – the smaller the distance, the more similar the points. Examples include Euclidean Distance, representing the straight-line distance, and Manhattan Distance, which measures distance along axes. Conversely, </a:t>
            </a:r>
            <a:r>
              <a:rPr lang="en-US" b="1">
                <a:solidFill>
                  <a:srgbClr val="1B1C1D"/>
                </a:solidFill>
              </a:rPr>
              <a:t>Similarity Metrics</a:t>
            </a:r>
            <a:r>
              <a:rPr lang="en-US">
                <a:solidFill>
                  <a:srgbClr val="1B1C1D"/>
                </a:solidFill>
              </a:rPr>
              <a:t> measure how alike points are – a higher score indicates greater similarity. Cosine Similarity, which measures the cosine of the angle between two vectors, is a common example, particularly in text analysis.</a:t>
            </a:r>
            <a:endParaRPr>
              <a:solidFill>
                <a:srgbClr val="1B1C1D"/>
              </a:solidFill>
            </a:endParaRPr>
          </a:p>
          <a:p>
            <a:pPr marL="0" lvl="0" indent="0" algn="l" rtl="0">
              <a:lnSpc>
                <a:spcPct val="115000"/>
              </a:lnSpc>
              <a:spcBef>
                <a:spcPts val="1200"/>
              </a:spcBef>
              <a:spcAft>
                <a:spcPts val="1200"/>
              </a:spcAft>
              <a:buSzPts val="1100"/>
              <a:buNone/>
            </a:pPr>
            <a:r>
              <a:rPr lang="en-US">
                <a:solidFill>
                  <a:srgbClr val="1B1C1D"/>
                </a:solidFill>
              </a:rPr>
              <a:t>Understanding the influence of preprocessing on these metrics is paramount because a large number of machine learning algorithms heavily rely on them. Algorithms like K-Nearest Neighbors (K-NN) find the 'k' most similar points, K-Means Clustering groups similar points, and Support Vector Machines (SVMs) implicitly use distance in their optimisation. Therefore, any changes we make during preprocessing that alter how these distances or similarities are calculated will directly affect how these algorithms behave and the ultimate results they produce.</a:t>
            </a:r>
            <a:endParaRPr>
              <a:solidFill>
                <a:srgbClr val="1B1C1D"/>
              </a:solidFill>
            </a:endParaRPr>
          </a:p>
        </p:txBody>
      </p:sp>
      <p:sp>
        <p:nvSpPr>
          <p:cNvPr id="196" name="Google Shape;196;g37084f751b1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83007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7084f751b1_0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Let's examine the specific impacts. First, on </a:t>
            </a:r>
            <a:r>
              <a:rPr lang="en-US" b="1">
                <a:solidFill>
                  <a:srgbClr val="1B1C1D"/>
                </a:solidFill>
              </a:rPr>
              <a:t>Discretization</a:t>
            </a:r>
            <a:r>
              <a:rPr lang="en-US">
                <a:solidFill>
                  <a:srgbClr val="1B1C1D"/>
                </a:solidFill>
              </a:rPr>
              <a:t>. When you discretize a continuous feature, you group continuous values into discrete categories. This profoundly affects proximity. For instance, two data points that were very close, say 25.1 and 25.2, might now fall into different bins (e.g., 'bin_1' and 'bin_2'). Algorithms relying on distance will now treat them as distinctly different, potentially perceiving a larger distance than their original continuous values would suggest. So, discretization reduces sensitivity to small changes </a:t>
            </a:r>
            <a:r>
              <a:rPr lang="en-US" i="1">
                <a:solidFill>
                  <a:srgbClr val="1B1C1D"/>
                </a:solidFill>
              </a:rPr>
              <a:t>within</a:t>
            </a:r>
            <a:r>
              <a:rPr lang="en-US">
                <a:solidFill>
                  <a:srgbClr val="1B1C1D"/>
                </a:solidFill>
              </a:rPr>
              <a:t> a bin but significantly increases sensitivity to </a:t>
            </a:r>
            <a:r>
              <a:rPr lang="en-US" b="1">
                <a:solidFill>
                  <a:srgbClr val="1B1C1D"/>
                </a:solidFill>
              </a:rPr>
              <a:t>bin boundaries</a:t>
            </a:r>
            <a:r>
              <a:rPr lang="en-US">
                <a:solidFill>
                  <a:srgbClr val="1B1C1D"/>
                </a:solidFill>
              </a:rPr>
              <a:t>. A tiny change that crosses a boundary can drastically alter the perceived proximity. On the positive side, for algorithms working with discrete data, it can simplify distance calculations.</a:t>
            </a:r>
            <a:endParaRPr>
              <a:solidFill>
                <a:srgbClr val="1B1C1D"/>
              </a:solidFill>
            </a:endParaRPr>
          </a:p>
          <a:p>
            <a:pPr marL="0" lvl="0" indent="0" algn="l" rtl="0">
              <a:lnSpc>
                <a:spcPct val="115000"/>
              </a:lnSpc>
              <a:spcBef>
                <a:spcPts val="1200"/>
              </a:spcBef>
              <a:spcAft>
                <a:spcPts val="1200"/>
              </a:spcAft>
              <a:buSzPts val="1100"/>
              <a:buNone/>
            </a:pPr>
            <a:r>
              <a:rPr lang="en-US" b="1">
                <a:solidFill>
                  <a:srgbClr val="1B1C1D"/>
                </a:solidFill>
              </a:rPr>
              <a:t>Binarization</a:t>
            </a:r>
            <a:r>
              <a:rPr lang="en-US">
                <a:solidFill>
                  <a:srgbClr val="1B1C1D"/>
                </a:solidFill>
              </a:rPr>
              <a:t>, as a special case of discretization, has an even more drastic impact. It transforms a continuous feature into a simple 0 or 1. This converts a continuous numeric space into a binary space, severely reducing the granularity of information. Distance and similarity calculations between data points will then solely depend on whether their binarized values match (0 vs 0, or 1 vs 1) or don't match (0 vs 1). While powerful for creating simple flags (e.g., 'is_adult'), it sacrifices the rich information present in continuous values. For example, a 20-year-old and a 60-year-old would both be '1' if the threshold for 'adult' is 18, appearing equally similar on that binarized feature.</a:t>
            </a:r>
            <a:endParaRPr>
              <a:solidFill>
                <a:srgbClr val="1B1C1D"/>
              </a:solidFill>
            </a:endParaRPr>
          </a:p>
        </p:txBody>
      </p:sp>
      <p:sp>
        <p:nvSpPr>
          <p:cNvPr id="205" name="Google Shape;205;g37084f751b1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7980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7084f751b1_0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The impact of </a:t>
            </a:r>
            <a:r>
              <a:rPr lang="en-US" b="1">
                <a:solidFill>
                  <a:srgbClr val="1B1C1D"/>
                </a:solidFill>
              </a:rPr>
              <a:t>Normalization, or Feature Scaling</a:t>
            </a:r>
            <a:r>
              <a:rPr lang="en-US">
                <a:solidFill>
                  <a:srgbClr val="1B1C1D"/>
                </a:solidFill>
              </a:rPr>
              <a:t>, on proximity metrics is arguably the most direct and crucial. As previously discussed, many algorithms fundamentally rely on calculating distances between data points. Without scaling, features with inherently larger numerical ranges will contribute disproportionately more to these distance calculations, effectively dominating the assessment of similarity or dissimilarity between data points.</a:t>
            </a:r>
            <a:endParaRPr>
              <a:solidFill>
                <a:srgbClr val="1B1C1D"/>
              </a:solidFill>
            </a:endParaRPr>
          </a:p>
          <a:p>
            <a:pPr marL="0" lvl="0" indent="0" algn="l" rtl="0">
              <a:lnSpc>
                <a:spcPct val="115000"/>
              </a:lnSpc>
              <a:spcBef>
                <a:spcPts val="1200"/>
              </a:spcBef>
              <a:spcAft>
                <a:spcPts val="0"/>
              </a:spcAft>
              <a:buSzPts val="1100"/>
              <a:buNone/>
            </a:pPr>
            <a:r>
              <a:rPr lang="en-US">
                <a:solidFill>
                  <a:srgbClr val="1B1C1D"/>
                </a:solidFill>
              </a:rPr>
              <a:t>Consider our earlier example: if you have 'income' ranging from 50,000 to 100,000 and 'age' from 20 to 60. When computing Euclidean distance, a small difference in income, say 100 units, will have a much larger impact on the total distance than a difference of 10 units in age, simply because of its scale. This means the model might implicitly prioritise income differences over age differences when determining how 'close' two data points are.</a:t>
            </a:r>
            <a:endParaRPr>
              <a:solidFill>
                <a:srgbClr val="1B1C1D"/>
              </a:solidFill>
            </a:endParaRPr>
          </a:p>
          <a:p>
            <a:pPr marL="0" lvl="0" indent="0" algn="l" rtl="0">
              <a:lnSpc>
                <a:spcPct val="115000"/>
              </a:lnSpc>
              <a:spcBef>
                <a:spcPts val="1200"/>
              </a:spcBef>
              <a:spcAft>
                <a:spcPts val="0"/>
              </a:spcAft>
              <a:buSzPts val="1100"/>
              <a:buNone/>
            </a:pPr>
            <a:r>
              <a:rPr lang="en-US">
                <a:solidFill>
                  <a:srgbClr val="1B1C1D"/>
                </a:solidFill>
              </a:rPr>
              <a:t>However, once these features are scaled—for instance, using Min-Max scaling to bring both to a 0-1 range—a change of 0.1 in the scaled 'age' feature will have a comparable impact on the distance calculation as a change of 0.1 in the scaled 'income' feature. This ensures all features contribute proportionally and fairly, leading to more accurate and meaningful proximity assessments.</a:t>
            </a:r>
            <a:endParaRPr>
              <a:solidFill>
                <a:srgbClr val="1B1C1D"/>
              </a:solidFill>
            </a:endParaRPr>
          </a:p>
          <a:p>
            <a:pPr marL="0" lvl="0" indent="0" algn="l" rtl="0">
              <a:lnSpc>
                <a:spcPct val="115000"/>
              </a:lnSpc>
              <a:spcBef>
                <a:spcPts val="1200"/>
              </a:spcBef>
              <a:spcAft>
                <a:spcPts val="1200"/>
              </a:spcAft>
              <a:buSzPts val="1100"/>
              <a:buNone/>
            </a:pPr>
            <a:r>
              <a:rPr lang="en-US">
                <a:solidFill>
                  <a:srgbClr val="1B1C1D"/>
                </a:solidFill>
              </a:rPr>
              <a:t>Each specific scaling method also has nuanced effects. </a:t>
            </a:r>
            <a:r>
              <a:rPr lang="en-US" b="1">
                <a:solidFill>
                  <a:srgbClr val="1B1C1D"/>
                </a:solidFill>
              </a:rPr>
              <a:t>Min-Max scaling</a:t>
            </a:r>
            <a:r>
              <a:rPr lang="en-US">
                <a:solidFill>
                  <a:srgbClr val="1B1C1D"/>
                </a:solidFill>
              </a:rPr>
              <a:t> explicitly constrains all features to the same bounded range, like [0,1], providing a consistent scale for all features' absolute contributions to distance. </a:t>
            </a:r>
            <a:r>
              <a:rPr lang="en-US" b="1">
                <a:solidFill>
                  <a:srgbClr val="1B1C1D"/>
                </a:solidFill>
              </a:rPr>
              <a:t>Standardization</a:t>
            </a:r>
            <a:r>
              <a:rPr lang="en-US">
                <a:solidFill>
                  <a:srgbClr val="1B1C1D"/>
                </a:solidFill>
              </a:rPr>
              <a:t> transforms features to a standard normal distribution (mean 0, standard deviation 1), which is excellent for making distances comparable across features, especially if you assume a roughly Gaussian distribution. Finally, </a:t>
            </a:r>
            <a:r>
              <a:rPr lang="en-US" b="1">
                <a:solidFill>
                  <a:srgbClr val="1B1C1D"/>
                </a:solidFill>
              </a:rPr>
              <a:t>Robust Scaler</a:t>
            </a:r>
            <a:r>
              <a:rPr lang="en-US">
                <a:solidFill>
                  <a:srgbClr val="1B1C1D"/>
                </a:solidFill>
              </a:rPr>
              <a:t>, by being less sensitive to outliers, ensures that extreme values have a reduced distorting influence on the overall scaling of the majority of the data, thus preserving the relative distances and similarities amongst the non-outlying points more accurately.</a:t>
            </a:r>
            <a:endParaRPr>
              <a:solidFill>
                <a:srgbClr val="1B1C1D"/>
              </a:solidFill>
            </a:endParaRPr>
          </a:p>
        </p:txBody>
      </p:sp>
      <p:sp>
        <p:nvSpPr>
          <p:cNvPr id="214" name="Google Shape;214;g37084f751b1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464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7084f751b1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solidFill>
                  <a:srgbClr val="1B1C1D"/>
                </a:solidFill>
              </a:rPr>
              <a:t>Let's conclude by examining the impact of Smoothing and Attribute Transformations on proximity metrics.</a:t>
            </a:r>
            <a:endParaRPr>
              <a:solidFill>
                <a:srgbClr val="1B1C1D"/>
              </a:solidFill>
            </a:endParaRPr>
          </a:p>
          <a:p>
            <a:pPr marL="0" lvl="0" indent="0" algn="l" rtl="0">
              <a:lnSpc>
                <a:spcPct val="115000"/>
              </a:lnSpc>
              <a:spcBef>
                <a:spcPts val="1200"/>
              </a:spcBef>
              <a:spcAft>
                <a:spcPts val="0"/>
              </a:spcAft>
              <a:buSzPts val="1100"/>
              <a:buNone/>
            </a:pPr>
            <a:r>
              <a:rPr lang="en-US" b="1">
                <a:solidFill>
                  <a:srgbClr val="1B1C1D"/>
                </a:solidFill>
              </a:rPr>
              <a:t>Smoothing</a:t>
            </a:r>
            <a:r>
              <a:rPr lang="en-US">
                <a:solidFill>
                  <a:srgbClr val="1B1C1D"/>
                </a:solidFill>
              </a:rPr>
              <a:t> techniques, such as moving averages, directly influence proximity by reducing noise and variability in your data. By smoothing, you essentially bring data points closer to their underlying trend or true value. This means that two data points that might have appeared far apart due to random noise in their raw form will appear closer and more similar after smoothing, reflecting their true underlying proximity. It makes your distance calculations less sensitive to those erratic, local variations and more reflective of the overall pattern.</a:t>
            </a:r>
            <a:endParaRPr>
              <a:solidFill>
                <a:srgbClr val="1B1C1D"/>
              </a:solidFill>
            </a:endParaRPr>
          </a:p>
          <a:p>
            <a:pPr marL="0" lvl="0" indent="0" algn="l" rtl="0">
              <a:lnSpc>
                <a:spcPct val="115000"/>
              </a:lnSpc>
              <a:spcBef>
                <a:spcPts val="1200"/>
              </a:spcBef>
              <a:spcAft>
                <a:spcPts val="0"/>
              </a:spcAft>
              <a:buSzPts val="1100"/>
              <a:buNone/>
            </a:pPr>
            <a:r>
              <a:rPr lang="en-US">
                <a:solidFill>
                  <a:srgbClr val="1B1C1D"/>
                </a:solidFill>
              </a:rPr>
              <a:t>Finally, </a:t>
            </a:r>
            <a:r>
              <a:rPr lang="en-US" b="1">
                <a:solidFill>
                  <a:srgbClr val="1B1C1D"/>
                </a:solidFill>
              </a:rPr>
              <a:t>Attribute Transformations</a:t>
            </a:r>
            <a:r>
              <a:rPr lang="en-US">
                <a:solidFill>
                  <a:srgbClr val="1B1C1D"/>
                </a:solidFill>
              </a:rPr>
              <a:t> have a profound and often intended impact. When you apply a transformation like a logarithm or a square root, you fundamentally alter the distribution of that feature. For instance, a log transformation compresses larger values much more than smaller ones. This means that after a log transformation, two large values that were originally very far apart will now appear much closer in the transformed space, directly influencing how their distance is calculated. Similarly, if your original data had a non-linear relationship with the target, applying a transformation might make that relationship more linear, helping linear models perceive proximity more accurately in relation to the target.</a:t>
            </a:r>
            <a:endParaRPr>
              <a:solidFill>
                <a:srgbClr val="1B1C1D"/>
              </a:solidFill>
            </a:endParaRPr>
          </a:p>
          <a:p>
            <a:pPr marL="0" lvl="0" indent="0" algn="l" rtl="0">
              <a:lnSpc>
                <a:spcPct val="115000"/>
              </a:lnSpc>
              <a:spcBef>
                <a:spcPts val="1200"/>
              </a:spcBef>
              <a:spcAft>
                <a:spcPts val="1200"/>
              </a:spcAft>
              <a:buSzPts val="1100"/>
              <a:buNone/>
            </a:pPr>
            <a:r>
              <a:rPr lang="en-US">
                <a:solidFill>
                  <a:srgbClr val="1B1C1D"/>
                </a:solidFill>
              </a:rPr>
              <a:t>Furthermore, when you create </a:t>
            </a:r>
            <a:r>
              <a:rPr lang="en-US" b="1">
                <a:solidFill>
                  <a:srgbClr val="1B1C1D"/>
                </a:solidFill>
              </a:rPr>
              <a:t>Polynomial features</a:t>
            </a:r>
            <a:r>
              <a:rPr lang="en-US">
                <a:solidFill>
                  <a:srgbClr val="1B1C1D"/>
                </a:solidFill>
              </a:rPr>
              <a:t> (like X2) or </a:t>
            </a:r>
            <a:r>
              <a:rPr lang="en-US" b="1">
                <a:solidFill>
                  <a:srgbClr val="1B1C1D"/>
                </a:solidFill>
              </a:rPr>
              <a:t>Interaction features</a:t>
            </a:r>
            <a:r>
              <a:rPr lang="en-US">
                <a:solidFill>
                  <a:srgbClr val="1B1C1D"/>
                </a:solidFill>
              </a:rPr>
              <a:t> (like X1​∗X2​), you are essentially generating entirely new features. The proximity calculations will then be based on this expanded or modified feature space. For example, the distance between two data points will now also consider the squared values or the product of their original features, allowing the model to capture more complex relationships and thus redefine what 'proximity' means in that higher-dimensional, transformed space.</a:t>
            </a:r>
            <a:endParaRPr>
              <a:solidFill>
                <a:srgbClr val="1B1C1D"/>
              </a:solidFill>
            </a:endParaRPr>
          </a:p>
        </p:txBody>
      </p:sp>
      <p:sp>
        <p:nvSpPr>
          <p:cNvPr id="223" name="Google Shape;223;g37084f751b1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4080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2" name="Google Shape;2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16222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441960" y="349885"/>
            <a:ext cx="9326880" cy="9306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533400" y="1825625"/>
            <a:ext cx="11323320" cy="4351338"/>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0" name="Google Shape;30;p13"/>
          <p:cNvPicPr preferRelativeResize="0"/>
          <p:nvPr/>
        </p:nvPicPr>
        <p:blipFill rotWithShape="1">
          <a:blip r:embed="rId2">
            <a:alphaModFix/>
          </a:blip>
          <a:srcRect/>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6" name="Google Shape;3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8"/>
          <p:cNvSpPr>
            <a:spLocks noGrp="1"/>
          </p:cNvSpPr>
          <p:nvPr>
            <p:ph type="pic" idx="2"/>
          </p:nvPr>
        </p:nvSpPr>
        <p:spPr>
          <a:xfrm>
            <a:off x="5183188" y="987425"/>
            <a:ext cx="6172200" cy="4873625"/>
          </a:xfrm>
          <a:prstGeom prst="rect">
            <a:avLst/>
          </a:prstGeom>
          <a:noFill/>
          <a:ln>
            <a:noFill/>
          </a:ln>
        </p:spPr>
      </p:sp>
      <p:sp>
        <p:nvSpPr>
          <p:cNvPr id="65" name="Google Shape;65;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2" name="Google Shape;92;p2"/>
          <p:cNvSpPr txBox="1"/>
          <p:nvPr/>
        </p:nvSpPr>
        <p:spPr>
          <a:xfrm>
            <a:off x="6816256" y="2513226"/>
            <a:ext cx="3971014" cy="61752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9700FF"/>
              </a:buClr>
              <a:buSzPts val="2800"/>
              <a:buFont typeface="Arial Narrow"/>
              <a:buNone/>
            </a:pPr>
            <a:r>
              <a:rPr lang="en-US" sz="2800" b="1" i="0" u="none" strike="noStrike" cap="none">
                <a:solidFill>
                  <a:srgbClr val="9700FF"/>
                </a:solidFill>
                <a:latin typeface="Arial Narrow"/>
                <a:ea typeface="Arial Narrow"/>
                <a:cs typeface="Arial Narrow"/>
                <a:sym typeface="Arial Narrow"/>
              </a:rPr>
              <a:t>Feature Engineering</a:t>
            </a:r>
            <a:endParaRPr sz="2800" b="1" i="0" u="none" strike="noStrike" cap="none">
              <a:solidFill>
                <a:srgbClr val="9700FF"/>
              </a:solidFill>
              <a:latin typeface="Arial Narrow"/>
              <a:ea typeface="Arial Narrow"/>
              <a:cs typeface="Arial Narrow"/>
              <a:sym typeface="Arial Narrow"/>
            </a:endParaRPr>
          </a:p>
        </p:txBody>
      </p:sp>
      <p:sp>
        <p:nvSpPr>
          <p:cNvPr id="93" name="Google Shape;93;p2"/>
          <p:cNvSpPr txBox="1"/>
          <p:nvPr/>
        </p:nvSpPr>
        <p:spPr>
          <a:xfrm>
            <a:off x="6910584" y="3193775"/>
            <a:ext cx="3876686" cy="874643"/>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Handling Numeric Data</a:t>
            </a:r>
            <a:endParaRPr sz="2400" b="1" i="0" u="none" strike="noStrike" cap="none">
              <a:solidFill>
                <a:schemeClr val="dk1"/>
              </a:solidFill>
              <a:latin typeface="Arial"/>
              <a:ea typeface="Arial"/>
              <a:cs typeface="Arial"/>
              <a:sym typeface="Arial"/>
            </a:endParaRPr>
          </a:p>
        </p:txBody>
      </p:sp>
      <p:sp>
        <p:nvSpPr>
          <p:cNvPr id="94" name="Google Shape;94;p2"/>
          <p:cNvSpPr txBox="1"/>
          <p:nvPr/>
        </p:nvSpPr>
        <p:spPr>
          <a:xfrm>
            <a:off x="6910584" y="4119559"/>
            <a:ext cx="3876686" cy="42593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Prof. Anita Ramachandran </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707f902fe4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Introduction to Handling Numeric Data</a:t>
            </a:r>
            <a:endParaRPr sz="4400" b="1" i="0" u="none" strike="noStrike" cap="none">
              <a:solidFill>
                <a:schemeClr val="dk1"/>
              </a:solidFill>
              <a:latin typeface="Arial Narrow"/>
              <a:ea typeface="Arial Narrow"/>
              <a:cs typeface="Arial Narrow"/>
              <a:sym typeface="Arial Narrow"/>
            </a:endParaRPr>
          </a:p>
        </p:txBody>
      </p:sp>
      <p:sp>
        <p:nvSpPr>
          <p:cNvPr id="100" name="Google Shape;100;g3707f902fe4_0_0"/>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Numeric data is ubiquitous in real-world datasets.</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Raw numeric features often require preprocessing.</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Various techniques to transform numeric data:</a:t>
            </a:r>
            <a:endParaRPr sz="1800" b="0" i="0" u="none" strike="noStrike" cap="none" dirty="0">
              <a:solidFill>
                <a:schemeClr val="dk1"/>
              </a:solidFill>
              <a:latin typeface="Arial"/>
              <a:ea typeface="Arial"/>
              <a:cs typeface="Arial"/>
              <a:sym typeface="Arial"/>
            </a:endParaRPr>
          </a:p>
          <a:p>
            <a:pPr marL="914400" marR="0" lvl="1" indent="-381000" algn="l" rtl="0">
              <a:lnSpc>
                <a:spcPct val="90000"/>
              </a:lnSpc>
              <a:spcBef>
                <a:spcPts val="300"/>
              </a:spcBef>
              <a:spcAft>
                <a:spcPts val="300"/>
              </a:spcAft>
              <a:buClr>
                <a:schemeClr val="dk1"/>
              </a:buClr>
              <a:buSzPct val="80000"/>
              <a:buFont typeface="Arial"/>
              <a:buChar char="○"/>
            </a:pPr>
            <a:r>
              <a:rPr lang="en-US" sz="1800" b="0" i="0" u="none" strike="noStrike" cap="none" dirty="0">
                <a:solidFill>
                  <a:schemeClr val="dk1"/>
                </a:solidFill>
                <a:latin typeface="Arial"/>
                <a:ea typeface="Arial"/>
                <a:cs typeface="Arial"/>
                <a:sym typeface="Arial"/>
              </a:rPr>
              <a:t>Discretization (Binning)</a:t>
            </a:r>
            <a:endParaRPr sz="1800" b="0" i="0" u="none" strike="noStrike" cap="none" dirty="0">
              <a:solidFill>
                <a:schemeClr val="dk1"/>
              </a:solidFill>
              <a:latin typeface="Arial"/>
              <a:ea typeface="Arial"/>
              <a:cs typeface="Arial"/>
              <a:sym typeface="Arial"/>
            </a:endParaRPr>
          </a:p>
          <a:p>
            <a:pPr marL="914400" marR="0" lvl="1" indent="-381000" algn="l" rtl="0">
              <a:lnSpc>
                <a:spcPct val="90000"/>
              </a:lnSpc>
              <a:spcBef>
                <a:spcPts val="300"/>
              </a:spcBef>
              <a:spcAft>
                <a:spcPts val="300"/>
              </a:spcAft>
              <a:buClr>
                <a:schemeClr val="dk1"/>
              </a:buClr>
              <a:buSzPct val="80000"/>
              <a:buFont typeface="Arial"/>
              <a:buChar char="○"/>
            </a:pPr>
            <a:r>
              <a:rPr lang="en-US" sz="1800" b="0" i="0" u="none" strike="noStrike" cap="none" dirty="0" err="1">
                <a:solidFill>
                  <a:schemeClr val="dk1"/>
                </a:solidFill>
                <a:latin typeface="Arial"/>
                <a:ea typeface="Arial"/>
                <a:cs typeface="Arial"/>
                <a:sym typeface="Arial"/>
              </a:rPr>
              <a:t>Binarization</a:t>
            </a:r>
            <a:endParaRPr sz="1800" b="0" i="0" u="none" strike="noStrike" cap="none" dirty="0">
              <a:solidFill>
                <a:schemeClr val="dk1"/>
              </a:solidFill>
              <a:latin typeface="Arial"/>
              <a:ea typeface="Arial"/>
              <a:cs typeface="Arial"/>
              <a:sym typeface="Arial"/>
            </a:endParaRPr>
          </a:p>
          <a:p>
            <a:pPr marL="914400" marR="0" lvl="1" indent="-381000" algn="l" rtl="0">
              <a:lnSpc>
                <a:spcPct val="90000"/>
              </a:lnSpc>
              <a:spcBef>
                <a:spcPts val="300"/>
              </a:spcBef>
              <a:spcAft>
                <a:spcPts val="300"/>
              </a:spcAft>
              <a:buClr>
                <a:schemeClr val="dk1"/>
              </a:buClr>
              <a:buSzPct val="80000"/>
              <a:buFont typeface="Arial"/>
              <a:buChar char="○"/>
            </a:pPr>
            <a:r>
              <a:rPr lang="en-US" sz="1800" b="0" i="0" u="none" strike="noStrike" cap="none" dirty="0">
                <a:solidFill>
                  <a:schemeClr val="dk1"/>
                </a:solidFill>
                <a:latin typeface="Arial"/>
                <a:ea typeface="Arial"/>
                <a:cs typeface="Arial"/>
                <a:sym typeface="Arial"/>
              </a:rPr>
              <a:t>Normalization (Min-Max Scaling)</a:t>
            </a:r>
            <a:endParaRPr sz="1800" b="0" i="0" u="none" strike="noStrike" cap="none" dirty="0">
              <a:solidFill>
                <a:schemeClr val="dk1"/>
              </a:solidFill>
              <a:latin typeface="Arial"/>
              <a:ea typeface="Arial"/>
              <a:cs typeface="Arial"/>
              <a:sym typeface="Arial"/>
            </a:endParaRPr>
          </a:p>
          <a:p>
            <a:pPr marL="914400" marR="0" lvl="1" indent="-381000" algn="l" rtl="0">
              <a:lnSpc>
                <a:spcPct val="90000"/>
              </a:lnSpc>
              <a:spcBef>
                <a:spcPts val="300"/>
              </a:spcBef>
              <a:spcAft>
                <a:spcPts val="300"/>
              </a:spcAft>
              <a:buClr>
                <a:schemeClr val="dk1"/>
              </a:buClr>
              <a:buSzPct val="80000"/>
              <a:buFont typeface="Arial"/>
              <a:buChar char="○"/>
            </a:pPr>
            <a:r>
              <a:rPr lang="en-US" sz="1800" b="0" i="0" u="none" strike="noStrike" cap="none" dirty="0">
                <a:solidFill>
                  <a:schemeClr val="dk1"/>
                </a:solidFill>
                <a:latin typeface="Arial"/>
                <a:ea typeface="Arial"/>
                <a:cs typeface="Arial"/>
                <a:sym typeface="Arial"/>
              </a:rPr>
              <a:t>Smoothing</a:t>
            </a:r>
            <a:endParaRPr sz="1800" b="0" i="0" u="none" strike="noStrike" cap="none" dirty="0">
              <a:solidFill>
                <a:schemeClr val="dk1"/>
              </a:solidFill>
              <a:latin typeface="Arial"/>
              <a:ea typeface="Arial"/>
              <a:cs typeface="Arial"/>
              <a:sym typeface="Arial"/>
            </a:endParaRPr>
          </a:p>
          <a:p>
            <a:pPr marL="914400" marR="0" lvl="1" indent="-381000" algn="l" rtl="0">
              <a:lnSpc>
                <a:spcPct val="90000"/>
              </a:lnSpc>
              <a:spcBef>
                <a:spcPts val="300"/>
              </a:spcBef>
              <a:spcAft>
                <a:spcPts val="300"/>
              </a:spcAft>
              <a:buClr>
                <a:schemeClr val="dk1"/>
              </a:buClr>
              <a:buSzPct val="80000"/>
              <a:buFont typeface="Arial"/>
              <a:buChar char="○"/>
            </a:pPr>
            <a:r>
              <a:rPr lang="en-US" sz="1800" b="0" i="0" u="none" strike="noStrike" cap="none" dirty="0">
                <a:solidFill>
                  <a:schemeClr val="dk1"/>
                </a:solidFill>
                <a:latin typeface="Arial"/>
                <a:ea typeface="Arial"/>
                <a:cs typeface="Arial"/>
                <a:sym typeface="Arial"/>
              </a:rPr>
              <a:t>Attribute Transformations</a:t>
            </a:r>
            <a:endParaRPr sz="1800" b="0" i="0" u="none" strike="noStrike" cap="none" dirty="0">
              <a:solidFill>
                <a:schemeClr val="dk1"/>
              </a:solidFill>
              <a:latin typeface="Arial"/>
              <a:ea typeface="Arial"/>
              <a:cs typeface="Arial"/>
              <a:sym typeface="Arial"/>
            </a:endParaRPr>
          </a:p>
        </p:txBody>
      </p:sp>
      <p:pic>
        <p:nvPicPr>
          <p:cNvPr id="101" name="Google Shape;101;g3707f902fe4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02" name="Google Shape;102;g3707f902fe4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03" name="Google Shape;103;g3707f902fe4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708268c0a4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Discretization (Binning)</a:t>
            </a:r>
            <a:endParaRPr sz="4400" b="1" i="0" u="none" strike="noStrike" cap="none">
              <a:solidFill>
                <a:schemeClr val="dk1"/>
              </a:solidFill>
              <a:latin typeface="Arial Narrow"/>
              <a:ea typeface="Arial Narrow"/>
              <a:cs typeface="Arial Narrow"/>
              <a:sym typeface="Arial Narrow"/>
            </a:endParaRPr>
          </a:p>
        </p:txBody>
      </p:sp>
      <p:sp>
        <p:nvSpPr>
          <p:cNvPr id="109" name="Google Shape;109;g3708268c0a4_0_0"/>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300"/>
              </a:spcBef>
              <a:spcAft>
                <a:spcPts val="300"/>
              </a:spcAft>
              <a:buClr>
                <a:srgbClr val="000000"/>
              </a:buClr>
              <a:buSzPts val="2400"/>
              <a:buFont typeface="Arial"/>
              <a:buNone/>
            </a:pPr>
            <a:r>
              <a:rPr lang="en-US" sz="1800" b="0" i="0" u="none" strike="noStrike" cap="none" dirty="0">
                <a:solidFill>
                  <a:schemeClr val="dk1"/>
                </a:solidFill>
                <a:latin typeface="Arial"/>
                <a:ea typeface="Arial"/>
                <a:cs typeface="Arial"/>
                <a:sym typeface="Arial"/>
              </a:rPr>
              <a:t>Discretization refers to converting continuous numeric attributes into a finite set of ordered categories or bins.</a:t>
            </a: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300"/>
              </a:spcBef>
              <a:spcAft>
                <a:spcPts val="300"/>
              </a:spcAft>
              <a:buClr>
                <a:srgbClr val="000000"/>
              </a:buClr>
              <a:buSzPts val="2400"/>
              <a:buFont typeface="Arial"/>
              <a:buNone/>
            </a:pPr>
            <a:r>
              <a:rPr lang="en-US" sz="1800" b="0" i="0" u="none" strike="noStrike" cap="none" dirty="0">
                <a:solidFill>
                  <a:schemeClr val="dk1"/>
                </a:solidFill>
                <a:latin typeface="Arial"/>
                <a:ea typeface="Arial"/>
                <a:cs typeface="Arial"/>
                <a:sym typeface="Arial"/>
              </a:rPr>
              <a:t>Why discretize?</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Handles outliers more robustly.</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Can improve model interpretability (e.g., "low," "medium," "high" income).</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Some algorithms prefer or require categorical inputs (e.g., decision trees or Naïve Bayes sometimes perform better with binned data).</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Reduces the impact of small fluctuations in continuous values.</a:t>
            </a:r>
            <a:endParaRPr sz="1800" b="0" i="0" u="none" strike="noStrike" cap="none" dirty="0">
              <a:solidFill>
                <a:schemeClr val="dk1"/>
              </a:solidFill>
              <a:latin typeface="Arial"/>
              <a:ea typeface="Arial"/>
              <a:cs typeface="Arial"/>
              <a:sym typeface="Arial"/>
            </a:endParaRPr>
          </a:p>
        </p:txBody>
      </p:sp>
      <p:pic>
        <p:nvPicPr>
          <p:cNvPr id="110" name="Google Shape;110;g3708268c0a4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11" name="Google Shape;111;g3708268c0a4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12" name="Google Shape;112;g3708268c0a4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Discretization Methods</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300"/>
              </a:spcBef>
              <a:spcAft>
                <a:spcPts val="300"/>
              </a:spcAft>
              <a:buClr>
                <a:schemeClr val="dk1"/>
              </a:buClr>
              <a:buSzPct val="40777"/>
              <a:buFont typeface="Arial"/>
              <a:buNone/>
            </a:pPr>
            <a:r>
              <a:rPr lang="en-US" sz="2000" b="1" i="0" u="none" strike="noStrike" cap="none" dirty="0">
                <a:solidFill>
                  <a:schemeClr val="dk1"/>
                </a:solidFill>
                <a:latin typeface="Arial"/>
                <a:ea typeface="Arial"/>
                <a:cs typeface="Arial"/>
                <a:sym typeface="Arial"/>
              </a:rPr>
              <a:t>Equal-width (or Equal-distance) Binning:</a:t>
            </a:r>
            <a:endParaRPr sz="2000" b="1" i="0" u="none" strike="noStrike" cap="none" dirty="0">
              <a:solidFill>
                <a:schemeClr val="dk1"/>
              </a:solidFill>
              <a:latin typeface="Arial"/>
              <a:ea typeface="Arial"/>
              <a:cs typeface="Arial"/>
              <a:sym typeface="Arial"/>
            </a:endParaRPr>
          </a:p>
          <a:p>
            <a:pPr marL="457200" marR="0" lvl="0" indent="-378094"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Divides the range of the attribute into 'k' equal-sized intervals.</a:t>
            </a:r>
            <a:endParaRPr sz="1800" b="0" i="0" u="none" strike="noStrike" cap="none" dirty="0">
              <a:solidFill>
                <a:schemeClr val="dk1"/>
              </a:solidFill>
              <a:latin typeface="Arial"/>
              <a:ea typeface="Arial"/>
              <a:cs typeface="Arial"/>
              <a:sym typeface="Arial"/>
            </a:endParaRPr>
          </a:p>
          <a:p>
            <a:pPr marL="457200" marR="0" lvl="0" indent="-378094"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Simple to implement.</a:t>
            </a:r>
            <a:endParaRPr sz="1800" b="0" i="0" u="none" strike="noStrike" cap="none" dirty="0">
              <a:solidFill>
                <a:schemeClr val="dk1"/>
              </a:solidFill>
              <a:latin typeface="Arial"/>
              <a:ea typeface="Arial"/>
              <a:cs typeface="Arial"/>
              <a:sym typeface="Arial"/>
            </a:endParaRPr>
          </a:p>
          <a:p>
            <a:pPr marL="457200" marR="0" lvl="0" indent="-378094"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Can lead to skewed distribution of instances per bin if data is not uniformly distributed.</a:t>
            </a: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300"/>
              </a:spcBef>
              <a:spcAft>
                <a:spcPts val="300"/>
              </a:spcAft>
              <a:buClr>
                <a:schemeClr val="dk1"/>
              </a:buClr>
              <a:buSzPct val="40777"/>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300"/>
              </a:spcBef>
              <a:spcAft>
                <a:spcPts val="300"/>
              </a:spcAft>
              <a:buClr>
                <a:schemeClr val="dk1"/>
              </a:buClr>
              <a:buSzPct val="40777"/>
              <a:buFont typeface="Arial"/>
              <a:buNone/>
            </a:pPr>
            <a:r>
              <a:rPr lang="en-US" sz="2000" b="1" i="0" u="none" strike="noStrike" cap="none" dirty="0">
                <a:solidFill>
                  <a:schemeClr val="dk1"/>
                </a:solidFill>
                <a:latin typeface="Arial"/>
                <a:ea typeface="Arial"/>
                <a:cs typeface="Arial"/>
                <a:sym typeface="Arial"/>
              </a:rPr>
              <a:t>Equal-frequency (or </a:t>
            </a:r>
            <a:r>
              <a:rPr lang="en-US" sz="2000" b="1" i="0" u="none" strike="noStrike" cap="none" dirty="0" err="1">
                <a:solidFill>
                  <a:schemeClr val="dk1"/>
                </a:solidFill>
                <a:latin typeface="Arial"/>
                <a:ea typeface="Arial"/>
                <a:cs typeface="Arial"/>
                <a:sym typeface="Arial"/>
              </a:rPr>
              <a:t>Quantile</a:t>
            </a:r>
            <a:r>
              <a:rPr lang="en-US" sz="2000" b="1" i="0" u="none" strike="noStrike" cap="none" dirty="0">
                <a:solidFill>
                  <a:schemeClr val="dk1"/>
                </a:solidFill>
                <a:latin typeface="Arial"/>
                <a:ea typeface="Arial"/>
                <a:cs typeface="Arial"/>
                <a:sym typeface="Arial"/>
              </a:rPr>
              <a:t>) Binning:</a:t>
            </a:r>
            <a:endParaRPr sz="2000" b="1" i="0" u="none" strike="noStrike" cap="none" dirty="0">
              <a:solidFill>
                <a:schemeClr val="dk1"/>
              </a:solidFill>
              <a:latin typeface="Arial"/>
              <a:ea typeface="Arial"/>
              <a:cs typeface="Arial"/>
              <a:sym typeface="Arial"/>
            </a:endParaRPr>
          </a:p>
          <a:p>
            <a:pPr marL="457200" marR="0" lvl="0" indent="-378094"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Divides the range so that each bin contains approximately the same number of instances.</a:t>
            </a:r>
            <a:endParaRPr sz="1800" b="0" i="0" u="none" strike="noStrike" cap="none" dirty="0">
              <a:solidFill>
                <a:schemeClr val="dk1"/>
              </a:solidFill>
              <a:latin typeface="Arial"/>
              <a:ea typeface="Arial"/>
              <a:cs typeface="Arial"/>
              <a:sym typeface="Arial"/>
            </a:endParaRPr>
          </a:p>
          <a:p>
            <a:pPr marL="457200" marR="0" lvl="0" indent="-378094"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Handles skewed data distributions better.</a:t>
            </a:r>
            <a:endParaRPr sz="1800" b="0" i="0" u="none" strike="noStrike" cap="none" dirty="0">
              <a:solidFill>
                <a:schemeClr val="dk1"/>
              </a:solidFill>
              <a:latin typeface="Arial"/>
              <a:ea typeface="Arial"/>
              <a:cs typeface="Arial"/>
              <a:sym typeface="Arial"/>
            </a:endParaRPr>
          </a:p>
          <a:p>
            <a:pPr marL="457200" marR="0" lvl="0" indent="-378094"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Bin widths can be very different.</a:t>
            </a:r>
            <a:endParaRPr sz="1800" b="0" i="0" u="none" strike="noStrike" cap="none" dirty="0">
              <a:solidFill>
                <a:schemeClr val="dk1"/>
              </a:solidFill>
              <a:latin typeface="Arial"/>
              <a:ea typeface="Arial"/>
              <a:cs typeface="Arial"/>
              <a:sym typeface="Arial"/>
            </a:endParaRPr>
          </a:p>
          <a:p>
            <a:pPr marL="457200" marR="0" lvl="0" indent="0" algn="l" rtl="0">
              <a:lnSpc>
                <a:spcPct val="90000"/>
              </a:lnSpc>
              <a:spcBef>
                <a:spcPts val="300"/>
              </a:spcBef>
              <a:spcAft>
                <a:spcPts val="300"/>
              </a:spcAft>
              <a:buClr>
                <a:schemeClr val="dk1"/>
              </a:buClr>
              <a:buSzPct val="45833"/>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300"/>
              </a:spcBef>
              <a:spcAft>
                <a:spcPts val="300"/>
              </a:spcAft>
              <a:buClr>
                <a:schemeClr val="dk1"/>
              </a:buClr>
              <a:buSzPct val="100000"/>
              <a:buFont typeface="Arial"/>
              <a:buNone/>
            </a:pPr>
            <a:endParaRPr sz="1800" b="0" i="0" u="none" strike="noStrike" cap="none" dirty="0">
              <a:solidFill>
                <a:schemeClr val="dk1"/>
              </a:solidFill>
              <a:latin typeface="Arial"/>
              <a:ea typeface="Arial"/>
              <a:cs typeface="Arial"/>
              <a:sym typeface="Arial"/>
            </a:endParaRP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37084f751b1_0_8"/>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Discretization Methods (Continued)</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27" name="Google Shape;127;g37084f751b1_0_8"/>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300"/>
              </a:spcBef>
              <a:spcAft>
                <a:spcPts val="300"/>
              </a:spcAft>
              <a:buClr>
                <a:schemeClr val="dk1"/>
              </a:buClr>
              <a:buSzPts val="2400"/>
              <a:buFont typeface="Arial"/>
              <a:buNone/>
            </a:pPr>
            <a:r>
              <a:rPr lang="en-US" sz="2000" b="1" i="0" u="none" strike="noStrike" cap="none" dirty="0">
                <a:solidFill>
                  <a:schemeClr val="dk1"/>
                </a:solidFill>
                <a:sym typeface="Arial"/>
              </a:rPr>
              <a:t>K-Means Binning:</a:t>
            </a:r>
            <a:endParaRPr sz="1800" b="0" i="0" u="none" strike="noStrike" cap="none" dirty="0">
              <a:solidFill>
                <a:schemeClr val="dk1"/>
              </a:solidFil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sym typeface="Arial"/>
              </a:rPr>
              <a:t>Uses the K-Means clustering algorithm to find optimal bin boundaries.</a:t>
            </a:r>
            <a:endParaRPr sz="1800" b="0" i="0" u="none" strike="noStrike" cap="none" dirty="0">
              <a:solidFill>
                <a:schemeClr val="dk1"/>
              </a:solidFil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sym typeface="Arial"/>
              </a:rPr>
              <a:t>Bins are centered around cluster centroids.</a:t>
            </a:r>
            <a:endParaRPr sz="1800" b="0" i="0" u="none" strike="noStrike" cap="none" dirty="0">
              <a:solidFill>
                <a:schemeClr val="dk1"/>
              </a:solidFil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sym typeface="Arial"/>
              </a:rPr>
              <a:t>Aims to </a:t>
            </a:r>
            <a:r>
              <a:rPr lang="en-US" sz="1800" b="0" i="0" u="none" strike="noStrike" cap="none" dirty="0" err="1">
                <a:solidFill>
                  <a:schemeClr val="dk1"/>
                </a:solidFill>
                <a:sym typeface="Arial"/>
              </a:rPr>
              <a:t>minimi</a:t>
            </a:r>
            <a:r>
              <a:rPr lang="en-US" sz="1800" dirty="0" err="1">
                <a:solidFill>
                  <a:schemeClr val="dk1"/>
                </a:solidFill>
              </a:rPr>
              <a:t>s</a:t>
            </a:r>
            <a:r>
              <a:rPr lang="en-US" sz="1800" b="0" i="0" u="none" strike="noStrike" cap="none" dirty="0" err="1">
                <a:solidFill>
                  <a:schemeClr val="dk1"/>
                </a:solidFill>
                <a:sym typeface="Arial"/>
              </a:rPr>
              <a:t>e</a:t>
            </a:r>
            <a:r>
              <a:rPr lang="en-US" sz="1800" b="0" i="0" u="none" strike="noStrike" cap="none" dirty="0">
                <a:solidFill>
                  <a:schemeClr val="dk1"/>
                </a:solidFill>
                <a:sym typeface="Arial"/>
              </a:rPr>
              <a:t> intra-bin variance.</a:t>
            </a:r>
            <a:endParaRPr sz="1800" b="0" i="0" u="none" strike="noStrike" cap="none" dirty="0">
              <a:solidFill>
                <a:schemeClr val="dk1"/>
              </a:solidFill>
              <a:sym typeface="Arial"/>
            </a:endParaRPr>
          </a:p>
          <a:p>
            <a:pPr marL="0" marR="0" lvl="0" indent="0" algn="l" rtl="0">
              <a:lnSpc>
                <a:spcPct val="90000"/>
              </a:lnSpc>
              <a:spcBef>
                <a:spcPts val="300"/>
              </a:spcBef>
              <a:spcAft>
                <a:spcPts val="300"/>
              </a:spcAft>
              <a:buClr>
                <a:schemeClr val="dk1"/>
              </a:buClr>
              <a:buSzPts val="2400"/>
              <a:buFont typeface="Arial"/>
              <a:buNone/>
            </a:pPr>
            <a:endParaRPr sz="1800" b="0" i="0" u="none" strike="noStrike" cap="none" dirty="0">
              <a:solidFill>
                <a:schemeClr val="dk1"/>
              </a:solidFill>
              <a:sym typeface="Arial"/>
            </a:endParaRPr>
          </a:p>
          <a:p>
            <a:pPr marL="0" marR="0" lvl="0" indent="0" algn="l" rtl="0">
              <a:lnSpc>
                <a:spcPct val="90000"/>
              </a:lnSpc>
              <a:spcBef>
                <a:spcPts val="300"/>
              </a:spcBef>
              <a:spcAft>
                <a:spcPts val="300"/>
              </a:spcAft>
              <a:buClr>
                <a:schemeClr val="dk1"/>
              </a:buClr>
              <a:buSzPts val="2400"/>
              <a:buFont typeface="Arial"/>
              <a:buNone/>
            </a:pPr>
            <a:r>
              <a:rPr lang="en-US" sz="2000" b="1" i="0" u="none" strike="noStrike" cap="none" dirty="0">
                <a:solidFill>
                  <a:schemeClr val="dk1"/>
                </a:solidFill>
                <a:sym typeface="Arial"/>
              </a:rPr>
              <a:t>Supervised Discretization (e.g., </a:t>
            </a:r>
            <a:r>
              <a:rPr lang="en-US" sz="2000" b="1" i="0" u="none" strike="noStrike" cap="none" dirty="0" err="1">
                <a:solidFill>
                  <a:schemeClr val="dk1"/>
                </a:solidFill>
                <a:sym typeface="Arial"/>
              </a:rPr>
              <a:t>ChiMerge</a:t>
            </a:r>
            <a:r>
              <a:rPr lang="en-US" sz="2000" b="1" i="0" u="none" strike="noStrike" cap="none" dirty="0">
                <a:solidFill>
                  <a:schemeClr val="dk1"/>
                </a:solidFill>
                <a:sym typeface="Arial"/>
              </a:rPr>
              <a:t>):</a:t>
            </a:r>
            <a:endParaRPr sz="1800" b="0" i="0" u="none" strike="noStrike" cap="none" dirty="0">
              <a:solidFill>
                <a:schemeClr val="dk1"/>
              </a:solidFil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sym typeface="Arial"/>
              </a:rPr>
              <a:t>Uses the target variable to determine optimal bin splits.</a:t>
            </a:r>
            <a:endParaRPr sz="1800" b="0" i="0" u="none" strike="noStrike" cap="none" dirty="0">
              <a:solidFill>
                <a:schemeClr val="dk1"/>
              </a:solidFil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sym typeface="Arial"/>
              </a:rPr>
              <a:t>Aims to create bins that are maximally discriminative for the target.</a:t>
            </a:r>
            <a:endParaRPr sz="1800" b="0" i="0" u="none" strike="noStrike" cap="none" dirty="0">
              <a:solidFill>
                <a:schemeClr val="dk1"/>
              </a:solidFil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sym typeface="Arial"/>
              </a:rPr>
              <a:t>More complex but can yield better predictive performance.</a:t>
            </a:r>
            <a:endParaRPr sz="1800" b="0" i="0" u="none" strike="noStrike" cap="none" dirty="0">
              <a:solidFill>
                <a:schemeClr val="dk1"/>
              </a:solidFill>
              <a:sym typeface="Arial"/>
            </a:endParaRPr>
          </a:p>
          <a:p>
            <a:pPr marL="457200" marR="0" lvl="0" indent="0" algn="l" rtl="0">
              <a:lnSpc>
                <a:spcPct val="90000"/>
              </a:lnSpc>
              <a:spcBef>
                <a:spcPts val="300"/>
              </a:spcBef>
              <a:spcAft>
                <a:spcPts val="300"/>
              </a:spcAft>
              <a:buClr>
                <a:srgbClr val="000000"/>
              </a:buClr>
              <a:buSzPts val="2400"/>
              <a:buFont typeface="Arial"/>
              <a:buNone/>
            </a:pPr>
            <a:endParaRPr sz="1800" b="0" i="0" u="none" strike="noStrike" cap="none" dirty="0">
              <a:solidFill>
                <a:schemeClr val="dk1"/>
              </a:solidFill>
              <a:sym typeface="Arial"/>
            </a:endParaRPr>
          </a:p>
          <a:p>
            <a:pPr marL="457200" marR="0" lvl="0" indent="0" algn="l" rtl="0">
              <a:lnSpc>
                <a:spcPct val="90000"/>
              </a:lnSpc>
              <a:spcBef>
                <a:spcPts val="300"/>
              </a:spcBef>
              <a:spcAft>
                <a:spcPts val="300"/>
              </a:spcAft>
              <a:buClr>
                <a:schemeClr val="dk1"/>
              </a:buClr>
              <a:buSzPts val="1100"/>
              <a:buFont typeface="Arial"/>
              <a:buNone/>
            </a:pPr>
            <a:endParaRPr sz="1800" b="0" i="0" u="none" strike="noStrike" cap="none" dirty="0">
              <a:solidFill>
                <a:schemeClr val="dk1"/>
              </a:solidFill>
              <a:sym typeface="Arial"/>
            </a:endParaRPr>
          </a:p>
          <a:p>
            <a:pPr marL="0" marR="0" lvl="0" indent="0" algn="l" rtl="0">
              <a:lnSpc>
                <a:spcPct val="90000"/>
              </a:lnSpc>
              <a:spcBef>
                <a:spcPts val="300"/>
              </a:spcBef>
              <a:spcAft>
                <a:spcPts val="300"/>
              </a:spcAft>
              <a:buClr>
                <a:schemeClr val="dk1"/>
              </a:buClr>
              <a:buSzPts val="2400"/>
              <a:buFont typeface="Arial"/>
              <a:buNone/>
            </a:pPr>
            <a:endParaRPr sz="1800" b="0" i="0" u="none" strike="noStrike" cap="none" dirty="0">
              <a:solidFill>
                <a:schemeClr val="dk1"/>
              </a:solidFill>
              <a:sym typeface="Arial"/>
            </a:endParaRPr>
          </a:p>
        </p:txBody>
      </p:sp>
      <p:pic>
        <p:nvPicPr>
          <p:cNvPr id="128" name="Google Shape;128;g37084f751b1_0_8"/>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9" name="Google Shape;129;g37084f751b1_0_8"/>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30" name="Google Shape;130;g37084f751b1_0_8"/>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7084f751b1_0_16"/>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Binarization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36" name="Google Shape;136;g37084f751b1_0_16"/>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300"/>
              </a:spcBef>
              <a:spcAft>
                <a:spcPts val="300"/>
              </a:spcAft>
              <a:buClr>
                <a:schemeClr val="dk1"/>
              </a:buClr>
              <a:buSzPts val="2400"/>
              <a:buFont typeface="Arial"/>
              <a:buNone/>
            </a:pPr>
            <a:r>
              <a:rPr lang="en-US" sz="1800" b="0" i="0" u="none" strike="noStrike" cap="none" dirty="0">
                <a:solidFill>
                  <a:schemeClr val="dk1"/>
                </a:solidFill>
                <a:latin typeface="Arial"/>
                <a:ea typeface="Arial"/>
                <a:cs typeface="Arial"/>
                <a:sym typeface="Arial"/>
              </a:rPr>
              <a:t>Transforming numeric features into binary (0 or 1) values.</a:t>
            </a:r>
          </a:p>
          <a:p>
            <a:pPr marL="0" marR="0" lvl="0" indent="0" algn="l" rtl="0">
              <a:lnSpc>
                <a:spcPct val="90000"/>
              </a:lnSpc>
              <a:spcBef>
                <a:spcPts val="300"/>
              </a:spcBef>
              <a:spcAft>
                <a:spcPts val="300"/>
              </a:spcAft>
              <a:buClr>
                <a:schemeClr val="dk1"/>
              </a:buClr>
              <a:buSzPts val="2400"/>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300"/>
              </a:spcBef>
              <a:spcAft>
                <a:spcPts val="300"/>
              </a:spcAft>
              <a:buClr>
                <a:schemeClr val="dk1"/>
              </a:buClr>
              <a:buSzPts val="2400"/>
              <a:buFont typeface="Arial"/>
              <a:buNone/>
            </a:pPr>
            <a:r>
              <a:rPr lang="en-US" sz="1800" b="1" i="0" u="none" strike="noStrike" cap="none" dirty="0">
                <a:solidFill>
                  <a:schemeClr val="dk1"/>
                </a:solidFill>
                <a:latin typeface="Arial"/>
                <a:ea typeface="Arial"/>
                <a:cs typeface="Arial"/>
                <a:sym typeface="Arial"/>
              </a:rPr>
              <a:t>Thresholding:</a:t>
            </a:r>
            <a:r>
              <a:rPr lang="en-US" sz="1800" b="0" i="0" u="none" strike="noStrike" cap="none" dirty="0">
                <a:solidFill>
                  <a:schemeClr val="dk1"/>
                </a:solidFill>
                <a:latin typeface="Arial"/>
                <a:ea typeface="Arial"/>
                <a:cs typeface="Arial"/>
                <a:sym typeface="Arial"/>
              </a:rPr>
              <a:t> A common method where a specific threshold is used.</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Values above the threshold become 1.</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Values below or equal to the threshold become 0.</a:t>
            </a:r>
          </a:p>
          <a:p>
            <a:pPr marL="76200" marR="0" lvl="0" algn="l" rtl="0">
              <a:lnSpc>
                <a:spcPct val="90000"/>
              </a:lnSpc>
              <a:spcBef>
                <a:spcPts val="300"/>
              </a:spcBef>
              <a:spcAft>
                <a:spcPts val="300"/>
              </a:spcAft>
              <a:buClr>
                <a:schemeClr val="dk1"/>
              </a:buClr>
              <a:buSzPts val="2400"/>
            </a:pP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300"/>
              </a:spcBef>
              <a:spcAft>
                <a:spcPts val="300"/>
              </a:spcAft>
              <a:buClr>
                <a:schemeClr val="dk1"/>
              </a:buClr>
              <a:buSzPts val="2400"/>
              <a:buFont typeface="Arial"/>
              <a:buNone/>
            </a:pPr>
            <a:r>
              <a:rPr lang="en-US" sz="1800" b="1" i="0" u="none" strike="noStrike" cap="none" dirty="0">
                <a:solidFill>
                  <a:schemeClr val="dk1"/>
                </a:solidFill>
                <a:latin typeface="Arial"/>
                <a:ea typeface="Arial"/>
                <a:cs typeface="Arial"/>
                <a:sym typeface="Arial"/>
              </a:rPr>
              <a:t>Use Cases:</a:t>
            </a:r>
            <a:endParaRPr sz="1800" b="1"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Creating 'flag' features (e.g., '</a:t>
            </a:r>
            <a:r>
              <a:rPr lang="en-US" sz="1800" b="0" i="0" u="none" strike="noStrike" cap="none" dirty="0" err="1">
                <a:solidFill>
                  <a:schemeClr val="dk1"/>
                </a:solidFill>
                <a:latin typeface="Arial"/>
                <a:ea typeface="Arial"/>
                <a:cs typeface="Arial"/>
                <a:sym typeface="Arial"/>
              </a:rPr>
              <a:t>is_above_average_income</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Simplifying complex numeric features into simpler categories.</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For algorithms that specifically require binary inputs.</a:t>
            </a:r>
            <a:endParaRPr sz="1800" b="0" i="0" u="none" strike="noStrike" cap="none" dirty="0">
              <a:solidFill>
                <a:schemeClr val="dk1"/>
              </a:solidFill>
              <a:latin typeface="Arial"/>
              <a:ea typeface="Arial"/>
              <a:cs typeface="Arial"/>
              <a:sym typeface="Arial"/>
            </a:endParaRPr>
          </a:p>
        </p:txBody>
      </p:sp>
      <p:pic>
        <p:nvPicPr>
          <p:cNvPr id="137" name="Google Shape;137;g37084f751b1_0_16"/>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38" name="Google Shape;138;g37084f751b1_0_16"/>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39" name="Google Shape;139;g37084f751b1_0_16"/>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7084f751b1_0_24"/>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Normalization / Feature Scaling</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45" name="Google Shape;145;g37084f751b1_0_24"/>
          <p:cNvSpPr txBox="1"/>
          <p:nvPr/>
        </p:nvSpPr>
        <p:spPr>
          <a:xfrm>
            <a:off x="533400" y="1825625"/>
            <a:ext cx="11323200" cy="4351200"/>
          </a:xfrm>
          <a:prstGeom prst="rect">
            <a:avLst/>
          </a:prstGeom>
          <a:noFill/>
          <a:ln>
            <a:noFill/>
          </a:ln>
        </p:spPr>
        <p:txBody>
          <a:bodyPr spcFirstLastPara="1" wrap="square" lIns="91425" tIns="45700" rIns="91425" bIns="45700" anchor="t" anchorCtr="0">
            <a:noAutofit/>
          </a:bodyPr>
          <a:lstStyle/>
          <a:p>
            <a:pPr marL="0" marR="0" lvl="0" indent="0" algn="l" rtl="0">
              <a:spcBef>
                <a:spcPts val="400"/>
              </a:spcBef>
              <a:spcAft>
                <a:spcPts val="400"/>
              </a:spcAft>
              <a:buClr>
                <a:schemeClr val="dk1"/>
              </a:buClr>
              <a:buSzPts val="2400"/>
              <a:buFont typeface="Arial"/>
              <a:buNone/>
            </a:pPr>
            <a:r>
              <a:rPr lang="en-US" sz="1800" b="0" i="0" u="none" strike="noStrike" cap="none" dirty="0">
                <a:solidFill>
                  <a:schemeClr val="dk1"/>
                </a:solidFill>
                <a:latin typeface="Arial"/>
                <a:ea typeface="Arial"/>
                <a:cs typeface="Arial"/>
                <a:sym typeface="Arial"/>
              </a:rPr>
              <a:t>Normalization scales numeric features to a bounded range, typically [0, 1].</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Distance-based algorithms: </a:t>
            </a:r>
            <a:r>
              <a:rPr lang="en-US" sz="1800" b="0" i="0" u="none" strike="noStrike" cap="none" dirty="0">
                <a:solidFill>
                  <a:schemeClr val="dk1"/>
                </a:solidFill>
                <a:latin typeface="Arial"/>
                <a:ea typeface="Arial"/>
                <a:cs typeface="Arial"/>
                <a:sym typeface="Arial"/>
              </a:rPr>
              <a:t>Many algorithms (e.g., K-Nearest Neighbors, Support Vector Machines, K-Means Clustering) rely on distance calculations. Unscaled features can lead to features with larger ranges dominating these calculations.</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Gradient Descent based algorithms: </a:t>
            </a:r>
            <a:r>
              <a:rPr lang="en-US" sz="1800" b="0" i="0" u="none" strike="noStrike" cap="none" dirty="0">
                <a:solidFill>
                  <a:schemeClr val="dk1"/>
                </a:solidFill>
                <a:latin typeface="Arial"/>
                <a:ea typeface="Arial"/>
                <a:cs typeface="Arial"/>
                <a:sym typeface="Arial"/>
              </a:rPr>
              <a:t>Algorithms like Linear Regression, Logistic Regression, Neural Networks that use gradient descent converge much faster when features are on a similar scale.</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Regularization: </a:t>
            </a:r>
            <a:r>
              <a:rPr lang="en-US" sz="1800" b="0" i="0" u="none" strike="noStrike" cap="none" dirty="0">
                <a:solidFill>
                  <a:schemeClr val="dk1"/>
                </a:solidFill>
                <a:latin typeface="Arial"/>
                <a:ea typeface="Arial"/>
                <a:cs typeface="Arial"/>
                <a:sym typeface="Arial"/>
              </a:rPr>
              <a:t>Scaling helps ensure that regularization penalties (L1/L2) are applied fairly across all features.</a:t>
            </a:r>
            <a:endParaRPr sz="1800" b="0" i="0" u="none" strike="noStrike" cap="none" dirty="0">
              <a:solidFill>
                <a:schemeClr val="dk1"/>
              </a:solidFill>
              <a:latin typeface="Arial"/>
              <a:ea typeface="Arial"/>
              <a:cs typeface="Arial"/>
              <a:sym typeface="Arial"/>
            </a:endParaRPr>
          </a:p>
        </p:txBody>
      </p:sp>
      <p:pic>
        <p:nvPicPr>
          <p:cNvPr id="146" name="Google Shape;146;g37084f751b1_0_2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47" name="Google Shape;147;g37084f751b1_0_24"/>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48" name="Google Shape;148;g37084f751b1_0_24"/>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Normalization / Feature Scaling Methods</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400"/>
              </a:spcBef>
              <a:spcAft>
                <a:spcPts val="400"/>
              </a:spcAft>
              <a:buClr>
                <a:schemeClr val="dk1"/>
              </a:buClr>
              <a:buSzPts val="2400"/>
              <a:buFont typeface="Arial"/>
              <a:buNone/>
            </a:pPr>
            <a:r>
              <a:rPr lang="en-US" sz="1800" b="1" i="0" u="none" strike="noStrike" cap="none" dirty="0">
                <a:solidFill>
                  <a:schemeClr val="dk1"/>
                </a:solidFill>
                <a:latin typeface="Arial"/>
                <a:ea typeface="Arial"/>
                <a:cs typeface="Arial"/>
                <a:sym typeface="Arial"/>
              </a:rPr>
              <a:t>Min-Max Scaling (Normalization):</a:t>
            </a:r>
            <a:endParaRPr sz="1800" b="1" i="0" u="none" strike="noStrike" cap="none" dirty="0">
              <a:solidFill>
                <a:schemeClr val="dk1"/>
              </a:solidFill>
              <a:latin typeface="Arial"/>
              <a:ea typeface="Arial"/>
              <a:cs typeface="Arial"/>
              <a:sym typeface="Arial"/>
            </a:endParaRPr>
          </a:p>
          <a:p>
            <a:pPr marL="457200" marR="0" lvl="0" indent="-38100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Scales features to a fixed range, typically [0, 1].</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400"/>
              </a:spcBef>
              <a:spcAft>
                <a:spcPts val="4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Formula:</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Xscaled</a:t>
            </a:r>
            <a:r>
              <a:rPr lang="en-US" sz="1800" b="0" i="0" u="none" strike="noStrike" cap="none" dirty="0">
                <a:solidFill>
                  <a:schemeClr val="dk1"/>
                </a:solidFill>
                <a:latin typeface="Arial"/>
                <a:ea typeface="Arial"/>
                <a:cs typeface="Arial"/>
                <a:sym typeface="Arial"/>
              </a:rPr>
              <a:t>​=(X−</a:t>
            </a:r>
            <a:r>
              <a:rPr lang="en-US" sz="1800" b="0" i="0" u="none" strike="noStrike" cap="none" dirty="0" err="1">
                <a:solidFill>
                  <a:schemeClr val="dk1"/>
                </a:solidFill>
                <a:latin typeface="Arial"/>
                <a:ea typeface="Arial"/>
                <a:cs typeface="Arial"/>
                <a:sym typeface="Arial"/>
              </a:rPr>
              <a:t>Xmin</a:t>
            </a:r>
            <a:r>
              <a:rPr lang="en-US" sz="1800" b="0" i="0" u="none" strike="noStrike" cap="none" dirty="0">
                <a:solidFill>
                  <a:schemeClr val="dk1"/>
                </a:solidFill>
                <a:latin typeface="Arial"/>
                <a:ea typeface="Arial"/>
                <a:cs typeface="Arial"/>
                <a:sym typeface="Arial"/>
              </a:rPr>
              <a:t>​)/(</a:t>
            </a:r>
            <a:r>
              <a:rPr lang="en-US" sz="1800" b="0" i="0" u="none" strike="noStrike" cap="none" dirty="0" err="1">
                <a:solidFill>
                  <a:schemeClr val="dk1"/>
                </a:solidFill>
                <a:latin typeface="Arial"/>
                <a:ea typeface="Arial"/>
                <a:cs typeface="Arial"/>
                <a:sym typeface="Arial"/>
              </a:rPr>
              <a:t>Xmax</a:t>
            </a:r>
            <a:r>
              <a:rPr lang="en-US" sz="1800" b="0" i="0" u="none" strike="noStrike" cap="none" dirty="0">
                <a:solidFill>
                  <a:schemeClr val="dk1"/>
                </a:solidFill>
                <a:latin typeface="Arial"/>
                <a:ea typeface="Arial"/>
                <a:cs typeface="Arial"/>
                <a:sym typeface="Arial"/>
              </a:rPr>
              <a:t>​−</a:t>
            </a:r>
            <a:r>
              <a:rPr lang="en-US" sz="1800" b="0" i="0" u="none" strike="noStrike" cap="none" dirty="0" err="1">
                <a:solidFill>
                  <a:schemeClr val="dk1"/>
                </a:solidFill>
                <a:latin typeface="Arial"/>
                <a:ea typeface="Arial"/>
                <a:cs typeface="Arial"/>
                <a:sym typeface="Arial"/>
              </a:rPr>
              <a:t>Xmin</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Sensitive to outliers.</a:t>
            </a: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400"/>
              </a:spcBef>
              <a:spcAft>
                <a:spcPts val="400"/>
              </a:spcAft>
              <a:buClr>
                <a:srgbClr val="000000"/>
              </a:buClr>
              <a:buSzPts val="2400"/>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400"/>
              </a:spcBef>
              <a:spcAft>
                <a:spcPts val="400"/>
              </a:spcAft>
              <a:buClr>
                <a:srgbClr val="000000"/>
              </a:buClr>
              <a:buSzPts val="2400"/>
              <a:buFont typeface="Arial"/>
              <a:buNone/>
            </a:pPr>
            <a:r>
              <a:rPr lang="en-US" sz="1800" b="1" i="0" u="none" strike="noStrike" cap="none" dirty="0">
                <a:solidFill>
                  <a:schemeClr val="dk1"/>
                </a:solidFill>
                <a:latin typeface="Arial"/>
                <a:ea typeface="Arial"/>
                <a:cs typeface="Arial"/>
                <a:sym typeface="Arial"/>
              </a:rPr>
              <a:t>Standardization (Z-score Normalization):</a:t>
            </a:r>
            <a:endParaRPr sz="1800" b="1" i="0" u="none" strike="noStrike" cap="none" dirty="0">
              <a:solidFill>
                <a:schemeClr val="dk1"/>
              </a:solidFill>
              <a:latin typeface="Arial"/>
              <a:ea typeface="Arial"/>
              <a:cs typeface="Arial"/>
              <a:sym typeface="Arial"/>
            </a:endParaRPr>
          </a:p>
          <a:p>
            <a:pPr marL="457200" marR="0" lvl="0" indent="-38100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Scales features to have a mean of 0 and a standard deviation of 1.</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400"/>
              </a:spcBef>
              <a:spcAft>
                <a:spcPts val="4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Formula:</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Xscaled</a:t>
            </a:r>
            <a:r>
              <a:rPr lang="en-US" sz="1800" b="0" i="0" u="none" strike="noStrike" cap="none" dirty="0">
                <a:solidFill>
                  <a:schemeClr val="dk1"/>
                </a:solidFill>
                <a:latin typeface="Arial"/>
                <a:ea typeface="Arial"/>
                <a:cs typeface="Arial"/>
                <a:sym typeface="Arial"/>
              </a:rPr>
              <a:t>​=(X−μ)/σ</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Less affected by outliers than Min-Max scaling.</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Often preferred for algorithms assuming Gaussian distribution.</a:t>
            </a:r>
            <a:endParaRPr sz="1800" b="0" i="0" u="none" strike="noStrike" cap="none" dirty="0">
              <a:solidFill>
                <a:schemeClr val="dk1"/>
              </a:solidFill>
              <a:latin typeface="Arial"/>
              <a:ea typeface="Arial"/>
              <a:cs typeface="Arial"/>
              <a:sym typeface="Aria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37084f751b1_0_40"/>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rial Narrow"/>
                <a:ea typeface="Arial Narrow"/>
                <a:cs typeface="Arial Narrow"/>
                <a:sym typeface="Arial Narrow"/>
              </a:rPr>
              <a:t>Normalization / Feature Scaling Methods</a:t>
            </a: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63" name="Google Shape;163;g37084f751b1_0_40"/>
          <p:cNvSpPr txBox="1"/>
          <p:nvPr/>
        </p:nvSpPr>
        <p:spPr>
          <a:xfrm>
            <a:off x="533400" y="1693332"/>
            <a:ext cx="11323200" cy="409402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400"/>
              </a:spcBef>
              <a:spcAft>
                <a:spcPts val="400"/>
              </a:spcAft>
              <a:buClr>
                <a:schemeClr val="dk1"/>
              </a:buClr>
              <a:buSzPts val="2400"/>
              <a:buFont typeface="Arial"/>
              <a:buNone/>
            </a:pPr>
            <a:r>
              <a:rPr lang="en-US" sz="2000" b="1" i="0" u="none" strike="noStrike" cap="none" dirty="0">
                <a:solidFill>
                  <a:schemeClr val="dk1"/>
                </a:solidFill>
                <a:latin typeface="Arial"/>
                <a:ea typeface="Arial"/>
                <a:cs typeface="Arial"/>
                <a:sym typeface="Arial"/>
              </a:rPr>
              <a:t>Robust Scaling:</a:t>
            </a:r>
            <a:endParaRPr sz="2000" b="1" i="0" u="none" strike="noStrike" cap="none" dirty="0">
              <a:solidFill>
                <a:schemeClr val="dk1"/>
              </a:solidFill>
              <a:latin typeface="Arial"/>
              <a:ea typeface="Arial"/>
              <a:cs typeface="Arial"/>
              <a:sym typeface="Arial"/>
            </a:endParaRPr>
          </a:p>
          <a:p>
            <a:pPr marL="457200" marR="0" lvl="0" indent="-381000" algn="l" rtl="0">
              <a:lnSpc>
                <a:spcPct val="11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Scales features using the interquartile range (IQR).</a:t>
            </a:r>
            <a:endParaRPr sz="1800" b="0" i="0" u="none" strike="noStrike" cap="none" dirty="0">
              <a:solidFill>
                <a:schemeClr val="dk1"/>
              </a:solidFill>
              <a:latin typeface="Arial"/>
              <a:ea typeface="Arial"/>
              <a:cs typeface="Arial"/>
              <a:sym typeface="Arial"/>
            </a:endParaRPr>
          </a:p>
          <a:p>
            <a:pPr marL="457200" marR="0" lvl="0" indent="-381000" algn="l" rtl="0">
              <a:lnSpc>
                <a:spcPct val="11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Formula: </a:t>
            </a:r>
            <a:r>
              <a:rPr lang="en-US" sz="1800" b="0" i="0" u="none" strike="noStrike" cap="none" dirty="0" err="1">
                <a:solidFill>
                  <a:schemeClr val="dk1"/>
                </a:solidFill>
                <a:latin typeface="Arial"/>
                <a:ea typeface="Arial"/>
                <a:cs typeface="Arial"/>
                <a:sym typeface="Arial"/>
              </a:rPr>
              <a:t>Xscaled</a:t>
            </a:r>
            <a:r>
              <a:rPr lang="en-US" sz="1800" b="0" i="0" u="none" strike="noStrike" cap="none" dirty="0">
                <a:solidFill>
                  <a:schemeClr val="dk1"/>
                </a:solidFill>
                <a:latin typeface="Arial"/>
                <a:ea typeface="Arial"/>
                <a:cs typeface="Arial"/>
                <a:sym typeface="Arial"/>
              </a:rPr>
              <a:t>​=(X−median)/(IQR)</a:t>
            </a:r>
            <a:endParaRPr sz="1800" b="0" i="0" u="none" strike="noStrike" cap="none" dirty="0">
              <a:solidFill>
                <a:schemeClr val="dk1"/>
              </a:solidFill>
              <a:latin typeface="Arial"/>
              <a:ea typeface="Arial"/>
              <a:cs typeface="Arial"/>
              <a:sym typeface="Arial"/>
            </a:endParaRPr>
          </a:p>
          <a:p>
            <a:pPr marL="457200" marR="0" lvl="0" indent="-381000" algn="l" rtl="0">
              <a:lnSpc>
                <a:spcPct val="11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Highly robust to outliers, as it uses </a:t>
            </a:r>
            <a:r>
              <a:rPr lang="en-US" sz="1800" b="0" i="0" u="none" strike="noStrike" cap="none" dirty="0" err="1">
                <a:solidFill>
                  <a:schemeClr val="dk1"/>
                </a:solidFill>
                <a:latin typeface="Arial"/>
                <a:ea typeface="Arial"/>
                <a:cs typeface="Arial"/>
                <a:sym typeface="Arial"/>
              </a:rPr>
              <a:t>quantiles</a:t>
            </a:r>
            <a:r>
              <a:rPr lang="en-US" sz="1800" b="0" i="0" u="none" strike="noStrike" cap="none" dirty="0">
                <a:solidFill>
                  <a:schemeClr val="dk1"/>
                </a:solidFill>
                <a:latin typeface="Arial"/>
                <a:ea typeface="Arial"/>
                <a:cs typeface="Arial"/>
                <a:sym typeface="Arial"/>
              </a:rPr>
              <a:t> rather than min/max or mean/std.</a:t>
            </a:r>
            <a:endParaRPr sz="1800" b="0" i="0" u="none" strike="noStrike" cap="none" dirty="0">
              <a:solidFill>
                <a:schemeClr val="dk1"/>
              </a:solidFill>
              <a:latin typeface="Arial"/>
              <a:ea typeface="Arial"/>
              <a:cs typeface="Arial"/>
              <a:sym typeface="Arial"/>
            </a:endParaRPr>
          </a:p>
          <a:p>
            <a:pPr marL="457200" marR="0" lvl="0" indent="-381000" algn="l" rtl="0">
              <a:lnSpc>
                <a:spcPct val="11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Useful when dataset contains many outliers.</a:t>
            </a:r>
            <a:br>
              <a:rPr lang="en-US" sz="2000" b="0" i="0" u="none" strike="noStrike" cap="none" dirty="0">
                <a:solidFill>
                  <a:schemeClr val="dk1"/>
                </a:solidFill>
                <a:latin typeface="Arial"/>
                <a:ea typeface="Arial"/>
                <a:cs typeface="Arial"/>
                <a:sym typeface="Arial"/>
              </a:rPr>
            </a:br>
            <a:endParaRPr sz="2000" b="0" i="0" u="none" strike="noStrike" cap="none" dirty="0">
              <a:solidFill>
                <a:schemeClr val="dk1"/>
              </a:solidFill>
              <a:latin typeface="Arial"/>
              <a:ea typeface="Arial"/>
              <a:cs typeface="Arial"/>
              <a:sym typeface="Arial"/>
            </a:endParaRPr>
          </a:p>
          <a:p>
            <a:pPr marL="0" marR="0" lvl="0" indent="0" algn="l" rtl="0">
              <a:lnSpc>
                <a:spcPct val="110000"/>
              </a:lnSpc>
              <a:spcBef>
                <a:spcPts val="400"/>
              </a:spcBef>
              <a:spcAft>
                <a:spcPts val="400"/>
              </a:spcAft>
              <a:buClr>
                <a:srgbClr val="000000"/>
              </a:buClr>
              <a:buSzPts val="2400"/>
              <a:buFont typeface="Arial"/>
              <a:buNone/>
            </a:pPr>
            <a:r>
              <a:rPr lang="en-US" sz="2000" b="1" i="0" u="none" strike="noStrike" cap="none" dirty="0">
                <a:solidFill>
                  <a:schemeClr val="dk1"/>
                </a:solidFill>
                <a:latin typeface="Arial"/>
                <a:ea typeface="Arial"/>
                <a:cs typeface="Arial"/>
                <a:sym typeface="Arial"/>
              </a:rPr>
              <a:t>Log Transformation:</a:t>
            </a:r>
            <a:endParaRPr sz="2000" b="1" i="0" u="none" strike="noStrike" cap="none" dirty="0">
              <a:solidFill>
                <a:schemeClr val="dk1"/>
              </a:solidFill>
              <a:latin typeface="Arial"/>
              <a:ea typeface="Arial"/>
              <a:cs typeface="Arial"/>
              <a:sym typeface="Arial"/>
            </a:endParaRPr>
          </a:p>
          <a:p>
            <a:pPr marL="457200" marR="0" lvl="0" indent="-381000" algn="l" rtl="0">
              <a:lnSpc>
                <a:spcPct val="11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Applies a logarithmic function (log(X)) to the feature.</a:t>
            </a:r>
            <a:endParaRPr sz="1800" b="0" i="0" u="none" strike="noStrike" cap="none" dirty="0">
              <a:solidFill>
                <a:schemeClr val="dk1"/>
              </a:solidFill>
              <a:latin typeface="Arial"/>
              <a:ea typeface="Arial"/>
              <a:cs typeface="Arial"/>
              <a:sym typeface="Arial"/>
            </a:endParaRPr>
          </a:p>
          <a:p>
            <a:pPr marL="457200" marR="0" lvl="0" indent="-381000" algn="l" rtl="0">
              <a:lnSpc>
                <a:spcPct val="11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Often used for positively skewed distributions to make them more symmetric (Gaussian-like).</a:t>
            </a:r>
            <a:endParaRPr sz="1800" b="0" i="0" u="none" strike="noStrike" cap="none" dirty="0">
              <a:solidFill>
                <a:schemeClr val="dk1"/>
              </a:solidFill>
              <a:latin typeface="Arial"/>
              <a:ea typeface="Arial"/>
              <a:cs typeface="Arial"/>
              <a:sym typeface="Arial"/>
            </a:endParaRPr>
          </a:p>
          <a:p>
            <a:pPr marL="457200" marR="0" lvl="0" indent="-381000" algn="l" rtl="0">
              <a:lnSpc>
                <a:spcPct val="11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Helpful for features with a wide range of values.</a:t>
            </a:r>
            <a:endParaRPr sz="1800" b="0" i="0" u="none" strike="noStrike" cap="none" dirty="0">
              <a:solidFill>
                <a:schemeClr val="dk1"/>
              </a:solidFill>
              <a:latin typeface="Arial"/>
              <a:ea typeface="Arial"/>
              <a:cs typeface="Arial"/>
              <a:sym typeface="Arial"/>
            </a:endParaRPr>
          </a:p>
        </p:txBody>
      </p:sp>
      <p:pic>
        <p:nvPicPr>
          <p:cNvPr id="164" name="Google Shape;164;g37084f751b1_0_4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65" name="Google Shape;165;g37084f751b1_0_40"/>
          <p:cNvPicPr preferRelativeResize="0"/>
          <p:nvPr/>
        </p:nvPicPr>
        <p:blipFill rotWithShape="1">
          <a:blip r:embed="rId4">
            <a:alphaModFix/>
          </a:blip>
          <a:srcRect/>
          <a:stretch/>
        </p:blipFill>
        <p:spPr>
          <a:xfrm>
            <a:off x="-2" y="1332623"/>
            <a:ext cx="4465321" cy="103523"/>
          </a:xfrm>
          <a:prstGeom prst="rect">
            <a:avLst/>
          </a:prstGeom>
          <a:noFill/>
          <a:ln>
            <a:noFill/>
          </a:ln>
        </p:spPr>
      </p:pic>
      <p:pic>
        <p:nvPicPr>
          <p:cNvPr id="166" name="Google Shape;166;g37084f751b1_0_4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7084f751b1_0_48"/>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Smoothing</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72" name="Google Shape;172;g37084f751b1_0_48"/>
          <p:cNvSpPr txBox="1"/>
          <p:nvPr/>
        </p:nvSpPr>
        <p:spPr>
          <a:xfrm>
            <a:off x="533400" y="1783113"/>
            <a:ext cx="11323200" cy="436614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600"/>
              </a:spcBef>
              <a:spcAft>
                <a:spcPts val="600"/>
              </a:spcAft>
              <a:buClr>
                <a:schemeClr val="dk1"/>
              </a:buClr>
              <a:buSzPts val="2400"/>
              <a:buFont typeface="Arial"/>
              <a:buNone/>
            </a:pPr>
            <a:r>
              <a:rPr lang="en-US" sz="1800" b="1" i="0" u="none" strike="noStrike" cap="none" dirty="0">
                <a:solidFill>
                  <a:schemeClr val="dk1"/>
                </a:solidFill>
                <a:latin typeface="Arial"/>
                <a:ea typeface="Arial"/>
                <a:cs typeface="Arial"/>
                <a:sym typeface="Arial"/>
              </a:rPr>
              <a:t>Definition: </a:t>
            </a:r>
            <a:r>
              <a:rPr lang="en-US" sz="1800" b="0" i="0" u="none" strike="noStrike" cap="none" dirty="0">
                <a:solidFill>
                  <a:schemeClr val="dk1"/>
                </a:solidFill>
                <a:latin typeface="Arial"/>
                <a:ea typeface="Arial"/>
                <a:cs typeface="Arial"/>
                <a:sym typeface="Arial"/>
              </a:rPr>
              <a:t>Techniques to reduce noise or variability in data, often by averaging or fitting functions.</a:t>
            </a: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600"/>
              </a:spcBef>
              <a:spcAft>
                <a:spcPts val="600"/>
              </a:spcAft>
              <a:buClr>
                <a:schemeClr val="dk1"/>
              </a:buClr>
              <a:buSzPts val="2400"/>
              <a:buFont typeface="Arial"/>
              <a:buNone/>
            </a:pPr>
            <a:r>
              <a:rPr lang="en-US" sz="1800" b="1" i="0" u="none" strike="noStrike" cap="none" dirty="0">
                <a:solidFill>
                  <a:schemeClr val="dk1"/>
                </a:solidFill>
                <a:latin typeface="Arial"/>
                <a:ea typeface="Arial"/>
                <a:cs typeface="Arial"/>
                <a:sym typeface="Arial"/>
              </a:rPr>
              <a:t>Purpose:</a:t>
            </a:r>
            <a:endParaRPr sz="1800" b="1" i="0" u="none" strike="noStrike" cap="none" dirty="0">
              <a:solidFill>
                <a:schemeClr val="dk1"/>
              </a:solidFill>
              <a:latin typeface="Arial"/>
              <a:ea typeface="Arial"/>
              <a:cs typeface="Arial"/>
              <a:sym typeface="Arial"/>
            </a:endParaRPr>
          </a:p>
          <a:p>
            <a:pPr marL="457200" marR="0" lvl="0" indent="-381000" algn="l" rtl="0">
              <a:lnSpc>
                <a:spcPct val="90000"/>
              </a:lnSpc>
              <a:spcBef>
                <a:spcPts val="600"/>
              </a:spcBef>
              <a:spcAft>
                <a:spcPts val="600"/>
              </a:spcAft>
              <a:buClr>
                <a:schemeClr val="dk1"/>
              </a:buClr>
              <a:buSzPts val="2400"/>
              <a:buFont typeface="Arial"/>
              <a:buChar char="●"/>
            </a:pPr>
            <a:r>
              <a:rPr lang="en-US" sz="1800" b="0" i="0" u="none" strike="noStrike" cap="none" dirty="0">
                <a:solidFill>
                  <a:schemeClr val="dk1"/>
                </a:solidFill>
                <a:latin typeface="Arial"/>
                <a:ea typeface="Arial"/>
                <a:cs typeface="Arial"/>
                <a:sym typeface="Arial"/>
              </a:rPr>
              <a:t>Highlight underlying trends or patterns.</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600"/>
              </a:spcBef>
              <a:spcAft>
                <a:spcPts val="600"/>
              </a:spcAft>
              <a:buClr>
                <a:schemeClr val="dk1"/>
              </a:buClr>
              <a:buSzPts val="2400"/>
              <a:buFont typeface="Arial"/>
              <a:buChar char="●"/>
            </a:pPr>
            <a:r>
              <a:rPr lang="en-US" sz="1800" b="0" i="0" u="none" strike="noStrike" cap="none" dirty="0">
                <a:solidFill>
                  <a:schemeClr val="dk1"/>
                </a:solidFill>
                <a:latin typeface="Arial"/>
                <a:ea typeface="Arial"/>
                <a:cs typeface="Arial"/>
                <a:sym typeface="Arial"/>
              </a:rPr>
              <a:t>Reduce the impact of random fluctuations.</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600"/>
              </a:spcBef>
              <a:spcAft>
                <a:spcPts val="600"/>
              </a:spcAft>
              <a:buClr>
                <a:schemeClr val="dk1"/>
              </a:buClr>
              <a:buSzPts val="2400"/>
              <a:buFont typeface="Arial"/>
              <a:buChar char="●"/>
            </a:pPr>
            <a:r>
              <a:rPr lang="en-US" sz="1800" b="0" i="0" u="none" strike="noStrike" cap="none" dirty="0">
                <a:solidFill>
                  <a:schemeClr val="dk1"/>
                </a:solidFill>
                <a:latin typeface="Arial"/>
                <a:ea typeface="Arial"/>
                <a:cs typeface="Arial"/>
                <a:sym typeface="Arial"/>
              </a:rPr>
              <a:t>Prepare data for further analysis or modeling.</a:t>
            </a: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600"/>
              </a:spcBef>
              <a:spcAft>
                <a:spcPts val="600"/>
              </a:spcAft>
              <a:buClr>
                <a:srgbClr val="000000"/>
              </a:buClr>
              <a:buSzPts val="2400"/>
              <a:buFont typeface="Arial"/>
              <a:buNone/>
            </a:pPr>
            <a:r>
              <a:rPr lang="en-US" sz="1800" b="1" i="0" u="none" strike="noStrike" cap="none" dirty="0">
                <a:solidFill>
                  <a:schemeClr val="dk1"/>
                </a:solidFill>
                <a:latin typeface="Arial"/>
                <a:ea typeface="Arial"/>
                <a:cs typeface="Arial"/>
                <a:sym typeface="Arial"/>
              </a:rPr>
              <a:t>Examples (briefly):</a:t>
            </a:r>
            <a:endParaRPr sz="1800" b="1" i="0" u="none" strike="noStrike" cap="none" dirty="0">
              <a:solidFill>
                <a:schemeClr val="dk1"/>
              </a:solidFill>
              <a:latin typeface="Arial"/>
              <a:ea typeface="Arial"/>
              <a:cs typeface="Arial"/>
              <a:sym typeface="Arial"/>
            </a:endParaRPr>
          </a:p>
          <a:p>
            <a:pPr marL="457200" marR="0" lvl="0" indent="-381000" algn="l" rtl="0">
              <a:lnSpc>
                <a:spcPct val="90000"/>
              </a:lnSpc>
              <a:spcBef>
                <a:spcPts val="600"/>
              </a:spcBef>
              <a:spcAft>
                <a:spcPts val="600"/>
              </a:spcAft>
              <a:buClr>
                <a:schemeClr val="dk1"/>
              </a:buClr>
              <a:buSzPts val="2400"/>
              <a:buFont typeface="Arial"/>
              <a:buChar char="●"/>
            </a:pPr>
            <a:r>
              <a:rPr lang="en-US" sz="1800" b="0" i="0" u="none" strike="noStrike" cap="none" dirty="0">
                <a:solidFill>
                  <a:schemeClr val="dk1"/>
                </a:solidFill>
                <a:latin typeface="Arial"/>
                <a:ea typeface="Arial"/>
                <a:cs typeface="Arial"/>
                <a:sym typeface="Arial"/>
              </a:rPr>
              <a:t>Moving Average.</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600"/>
              </a:spcBef>
              <a:spcAft>
                <a:spcPts val="600"/>
              </a:spcAft>
              <a:buClr>
                <a:schemeClr val="dk1"/>
              </a:buClr>
              <a:buSzPts val="2400"/>
              <a:buFont typeface="Arial"/>
              <a:buChar char="●"/>
            </a:pPr>
            <a:r>
              <a:rPr lang="en-US" sz="1800" b="0" i="0" u="none" strike="noStrike" cap="none" dirty="0">
                <a:solidFill>
                  <a:schemeClr val="dk1"/>
                </a:solidFill>
                <a:latin typeface="Arial"/>
                <a:ea typeface="Arial"/>
                <a:cs typeface="Arial"/>
                <a:sym typeface="Arial"/>
              </a:rPr>
              <a:t>LOESS (Locally Estimated Scatterplot Smoothing)</a:t>
            </a:r>
            <a:endParaRPr sz="1800" b="0" i="0" u="none" strike="noStrike" cap="none" dirty="0">
              <a:solidFill>
                <a:schemeClr val="dk1"/>
              </a:solidFill>
              <a:latin typeface="Arial"/>
              <a:ea typeface="Arial"/>
              <a:cs typeface="Arial"/>
              <a:sym typeface="Arial"/>
            </a:endParaRPr>
          </a:p>
        </p:txBody>
      </p:sp>
      <p:pic>
        <p:nvPicPr>
          <p:cNvPr id="173" name="Google Shape;173;g37084f751b1_0_48"/>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74" name="Google Shape;174;g37084f751b1_0_48"/>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175" name="Google Shape;175;g37084f751b1_0_48"/>
          <p:cNvPicPr preferRelativeResize="0"/>
          <p:nvPr/>
        </p:nvPicPr>
        <p:blipFill rotWithShape="1">
          <a:blip r:embed="rId5">
            <a:alphaModFix/>
          </a:blip>
          <a:srcRect/>
          <a:stretch/>
        </p:blipFill>
        <p:spPr>
          <a:xfrm>
            <a:off x="-2" y="1295790"/>
            <a:ext cx="4465321" cy="1035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7084f751b1_0_56"/>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Attribute Transformations</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81" name="Google Shape;181;g37084f751b1_0_56"/>
          <p:cNvSpPr txBox="1"/>
          <p:nvPr/>
        </p:nvSpPr>
        <p:spPr>
          <a:xfrm>
            <a:off x="533400" y="1801817"/>
            <a:ext cx="11323200" cy="430944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400"/>
              </a:spcBef>
              <a:spcAft>
                <a:spcPts val="400"/>
              </a:spcAft>
              <a:buClr>
                <a:schemeClr val="dk1"/>
              </a:buClr>
              <a:buSzPct val="100000"/>
              <a:buFont typeface="Arial"/>
              <a:buNone/>
            </a:pPr>
            <a:r>
              <a:rPr lang="en-US" sz="1800" b="1" i="0" u="none" strike="noStrike" cap="none" dirty="0">
                <a:solidFill>
                  <a:schemeClr val="dk1"/>
                </a:solidFill>
                <a:latin typeface="Arial"/>
                <a:ea typeface="Arial"/>
                <a:cs typeface="Arial"/>
                <a:sym typeface="Arial"/>
              </a:rPr>
              <a:t>Definition: </a:t>
            </a:r>
            <a:r>
              <a:rPr lang="en-US" sz="1800" b="0" i="0" u="none" strike="noStrike" cap="none" dirty="0">
                <a:solidFill>
                  <a:schemeClr val="dk1"/>
                </a:solidFill>
                <a:latin typeface="Arial"/>
                <a:ea typeface="Arial"/>
                <a:cs typeface="Arial"/>
                <a:sym typeface="Arial"/>
              </a:rPr>
              <a:t>Applying mathematical functions to a feature to change its distribution or relationship with other variables.</a:t>
            </a: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400"/>
              </a:spcBef>
              <a:spcAft>
                <a:spcPts val="400"/>
              </a:spcAft>
              <a:buClr>
                <a:schemeClr val="dk1"/>
              </a:buClr>
              <a:buSzPct val="100000"/>
              <a:buFont typeface="Arial"/>
              <a:buNone/>
            </a:pPr>
            <a:r>
              <a:rPr lang="en-US" sz="1800" b="1" i="0" u="none" strike="noStrike" cap="none" dirty="0">
                <a:solidFill>
                  <a:schemeClr val="dk1"/>
                </a:solidFill>
                <a:latin typeface="Arial"/>
                <a:ea typeface="Arial"/>
                <a:cs typeface="Arial"/>
                <a:sym typeface="Arial"/>
              </a:rPr>
              <a:t>Purpose:</a:t>
            </a:r>
            <a:endParaRPr sz="1800" b="1"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Improve linearity between features and target.</a:t>
            </a:r>
            <a:endParaRPr sz="1800" b="0"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Transform skewed distributions towards normality.</a:t>
            </a:r>
            <a:endParaRPr sz="1800" b="0"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Reduce </a:t>
            </a:r>
            <a:r>
              <a:rPr lang="en-US" sz="1800" b="0" i="0" u="none" strike="noStrike" cap="none" dirty="0" err="1">
                <a:solidFill>
                  <a:schemeClr val="dk1"/>
                </a:solidFill>
                <a:latin typeface="Arial"/>
                <a:ea typeface="Arial"/>
                <a:cs typeface="Arial"/>
                <a:sym typeface="Arial"/>
              </a:rPr>
              <a:t>heteroscedasticity</a:t>
            </a:r>
            <a:r>
              <a:rPr lang="en-US" sz="1800" b="0" i="0" u="none" strike="noStrike" cap="none" dirty="0">
                <a:solidFill>
                  <a:schemeClr val="dk1"/>
                </a:solidFill>
                <a:latin typeface="Arial"/>
                <a:ea typeface="Arial"/>
                <a:cs typeface="Arial"/>
                <a:sym typeface="Arial"/>
              </a:rPr>
              <a:t> (unequal variance).</a:t>
            </a:r>
            <a:endParaRPr sz="1800" b="0"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Create interaction terms.</a:t>
            </a:r>
            <a:endParaRPr sz="1800" b="0" i="0" u="none" strike="noStrike" cap="none" dirty="0">
              <a:solidFill>
                <a:schemeClr val="dk1"/>
              </a:solidFill>
              <a:latin typeface="Arial"/>
              <a:ea typeface="Arial"/>
              <a:cs typeface="Arial"/>
              <a:sym typeface="Arial"/>
            </a:endParaRPr>
          </a:p>
          <a:p>
            <a:pPr marL="0" marR="0" lvl="0" indent="0" algn="l" rtl="0">
              <a:lnSpc>
                <a:spcPct val="90000"/>
              </a:lnSpc>
              <a:spcBef>
                <a:spcPts val="400"/>
              </a:spcBef>
              <a:spcAft>
                <a:spcPts val="400"/>
              </a:spcAft>
              <a:buClr>
                <a:srgbClr val="000000"/>
              </a:buClr>
              <a:buSzPct val="100000"/>
              <a:buFont typeface="Arial"/>
              <a:buNone/>
            </a:pPr>
            <a:r>
              <a:rPr lang="en-US" sz="1800" b="1" i="0" u="none" strike="noStrike" cap="none" dirty="0">
                <a:solidFill>
                  <a:schemeClr val="dk1"/>
                </a:solidFill>
                <a:latin typeface="Arial"/>
                <a:ea typeface="Arial"/>
                <a:cs typeface="Arial"/>
                <a:sym typeface="Arial"/>
              </a:rPr>
              <a:t>Examples (briefly):</a:t>
            </a:r>
            <a:endParaRPr sz="1800" b="1"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Square Root Transformation (X​): Similar to log, but less aggressive; useful for moderately skewed data.</a:t>
            </a:r>
            <a:endParaRPr sz="1800" b="0"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Reciprocal Transformation (1/X): Useful for highly skewed positive data, can invert relationships.</a:t>
            </a:r>
            <a:endParaRPr sz="1800" b="0"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Polynomial Features (X2,X3): Captures non-linear relationships.</a:t>
            </a:r>
            <a:endParaRPr sz="1800" b="0" i="0" u="none" strike="noStrike" cap="none" dirty="0">
              <a:solidFill>
                <a:schemeClr val="dk1"/>
              </a:solidFill>
              <a:latin typeface="Arial"/>
              <a:ea typeface="Arial"/>
              <a:cs typeface="Arial"/>
              <a:sym typeface="Arial"/>
            </a:endParaRPr>
          </a:p>
          <a:p>
            <a:pPr marL="457200" marR="0" lvl="0" indent="-358140" algn="l" rtl="0">
              <a:lnSpc>
                <a:spcPct val="90000"/>
              </a:lnSpc>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Interaction Features (X1​∗X2​): Combines two or more features to capture their synergistic effect.</a:t>
            </a:r>
            <a:endParaRPr sz="1800" b="0" i="0" u="none" strike="noStrike" cap="none" dirty="0">
              <a:solidFill>
                <a:schemeClr val="dk1"/>
              </a:solidFill>
              <a:latin typeface="Arial"/>
              <a:ea typeface="Arial"/>
              <a:cs typeface="Arial"/>
              <a:sym typeface="Arial"/>
            </a:endParaRPr>
          </a:p>
        </p:txBody>
      </p:sp>
      <p:pic>
        <p:nvPicPr>
          <p:cNvPr id="182" name="Google Shape;182;g37084f751b1_0_56"/>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83" name="Google Shape;183;g37084f751b1_0_56"/>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184" name="Google Shape;184;g37084f751b1_0_56"/>
          <p:cNvPicPr preferRelativeResize="0"/>
          <p:nvPr/>
        </p:nvPicPr>
        <p:blipFill rotWithShape="1">
          <a:blip r:embed="rId5">
            <a:alphaModFix/>
          </a:blip>
          <a:srcRect/>
          <a:stretch/>
        </p:blipFill>
        <p:spPr>
          <a:xfrm>
            <a:off x="-2" y="1295790"/>
            <a:ext cx="4465321" cy="1035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7084f751b1_0_72"/>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When to Use Which Scaling Method?</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90" name="Google Shape;190;g37084f751b1_0_72"/>
          <p:cNvSpPr txBox="1"/>
          <p:nvPr/>
        </p:nvSpPr>
        <p:spPr>
          <a:xfrm>
            <a:off x="533400" y="1784287"/>
            <a:ext cx="11506200" cy="4348024"/>
          </a:xfrm>
          <a:prstGeom prst="rect">
            <a:avLst/>
          </a:prstGeom>
          <a:noFill/>
          <a:ln>
            <a:noFill/>
          </a:ln>
        </p:spPr>
        <p:txBody>
          <a:bodyPr spcFirstLastPara="1" wrap="square" lIns="91425" tIns="45700" rIns="91425" bIns="45700" anchor="t" anchorCtr="0">
            <a:noAutofit/>
          </a:bodyPr>
          <a:lstStyle/>
          <a:p>
            <a:pPr marL="0" marR="0" lvl="0" indent="0" algn="l" rtl="0">
              <a:spcBef>
                <a:spcPts val="400"/>
              </a:spcBef>
              <a:spcAft>
                <a:spcPts val="400"/>
              </a:spcAft>
              <a:buClr>
                <a:schemeClr val="dk1"/>
              </a:buClr>
              <a:buSzPts val="1860"/>
              <a:buFont typeface="Arial"/>
              <a:buNone/>
            </a:pPr>
            <a:r>
              <a:rPr lang="en-US" sz="1800" b="1" i="0" u="none" strike="noStrike" cap="none" dirty="0">
                <a:solidFill>
                  <a:schemeClr val="dk1"/>
                </a:solidFill>
                <a:latin typeface="Arial"/>
                <a:ea typeface="Arial"/>
                <a:cs typeface="Arial"/>
                <a:sym typeface="Arial"/>
              </a:rPr>
              <a:t>Min-Max Scaling:</a:t>
            </a:r>
            <a:endParaRPr sz="1800" b="1"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When you need features in a specific bounded range (e.g., neural networks with sigmoid activation functions).</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When the data is not heavily impacted by outliers, or outliers have been handled.</a:t>
            </a:r>
            <a:endParaRPr lang="en-US" sz="1800" dirty="0">
              <a:solidFill>
                <a:schemeClr val="dk1"/>
              </a:solidFill>
            </a:endParaRPr>
          </a:p>
          <a:p>
            <a:pPr marL="76200" marR="0" lvl="0" algn="l" rtl="0">
              <a:spcBef>
                <a:spcPts val="400"/>
              </a:spcBef>
              <a:spcAft>
                <a:spcPts val="400"/>
              </a:spcAft>
              <a:buClr>
                <a:schemeClr val="dk1"/>
              </a:buClr>
              <a:buSzPts val="2400"/>
            </a:pPr>
            <a:r>
              <a:rPr lang="en-IN" sz="1000" b="0" i="0" u="none" strike="noStrike" cap="none" dirty="0">
                <a:solidFill>
                  <a:schemeClr val="dk1"/>
                </a:solidFill>
                <a:latin typeface="Arial"/>
                <a:ea typeface="Arial"/>
                <a:cs typeface="Arial"/>
                <a:sym typeface="Arial"/>
              </a:rPr>
              <a:t> </a:t>
            </a:r>
            <a:endParaRPr sz="10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r>
              <a:rPr lang="en-US" sz="1800" b="1" i="0" u="none" strike="noStrike" cap="none" dirty="0">
                <a:solidFill>
                  <a:schemeClr val="dk1"/>
                </a:solidFill>
                <a:latin typeface="Arial"/>
                <a:ea typeface="Arial"/>
                <a:cs typeface="Arial"/>
                <a:sym typeface="Arial"/>
              </a:rPr>
              <a:t>Standardization (Z-score):</a:t>
            </a:r>
            <a:endParaRPr sz="1800" b="1"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For algorithms that assume normally distributed data (e.g., Linear Regression, LDA, Gaussian Naive Bayes).</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For algorithms using gradient descent (faster convergence).</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When outliers are present but you don't want to completely disregard their influence.</a:t>
            </a: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r>
              <a:rPr lang="en-IN" sz="1000" b="0" i="0" u="none" strike="noStrike" cap="none" dirty="0">
                <a:solidFill>
                  <a:schemeClr val="dk1"/>
                </a:solidFill>
                <a:latin typeface="Arial"/>
                <a:ea typeface="Arial"/>
                <a:cs typeface="Arial"/>
                <a:sym typeface="Arial"/>
              </a:rPr>
              <a:t> </a:t>
            </a:r>
            <a:endParaRPr sz="10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r>
              <a:rPr lang="en-US" sz="1800" b="1" i="0" u="none" strike="noStrike" cap="none" dirty="0">
                <a:solidFill>
                  <a:schemeClr val="dk1"/>
                </a:solidFill>
                <a:latin typeface="Arial"/>
                <a:ea typeface="Arial"/>
                <a:cs typeface="Arial"/>
                <a:sym typeface="Arial"/>
              </a:rPr>
              <a:t>Robust Scaling:</a:t>
            </a:r>
            <a:endParaRPr sz="1800" b="1"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When your dataset contains significant outliers and you want the scaling process to be unaffected by them.</a:t>
            </a:r>
            <a:endParaRPr sz="1800" b="0" i="0" u="none" strike="noStrike" cap="none" dirty="0">
              <a:solidFill>
                <a:schemeClr val="dk1"/>
              </a:solidFill>
              <a:latin typeface="Arial"/>
              <a:ea typeface="Arial"/>
              <a:cs typeface="Arial"/>
              <a:sym typeface="Arial"/>
            </a:endParaRPr>
          </a:p>
        </p:txBody>
      </p:sp>
      <p:pic>
        <p:nvPicPr>
          <p:cNvPr id="191" name="Google Shape;191;g37084f751b1_0_7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92" name="Google Shape;192;g37084f751b1_0_72"/>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193" name="Google Shape;193;g37084f751b1_0_72"/>
          <p:cNvPicPr preferRelativeResize="0"/>
          <p:nvPr/>
        </p:nvPicPr>
        <p:blipFill rotWithShape="1">
          <a:blip r:embed="rId5">
            <a:alphaModFix/>
          </a:blip>
          <a:srcRect/>
          <a:stretch/>
        </p:blipFill>
        <p:spPr>
          <a:xfrm>
            <a:off x="-2" y="1295790"/>
            <a:ext cx="4465321" cy="1035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7084f751b1_0_80"/>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Introduction to Proximity Metrics</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99" name="Google Shape;199;g37084f751b1_0_80"/>
          <p:cNvSpPr txBox="1"/>
          <p:nvPr/>
        </p:nvSpPr>
        <p:spPr>
          <a:xfrm>
            <a:off x="533400" y="1827802"/>
            <a:ext cx="11323200" cy="4363762"/>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600"/>
              </a:spcBef>
              <a:spcAft>
                <a:spcPts val="600"/>
              </a:spcAft>
              <a:buClr>
                <a:schemeClr val="dk1"/>
              </a:buClr>
              <a:buSzPts val="1860"/>
              <a:buFont typeface="Arial"/>
              <a:buNone/>
            </a:pPr>
            <a:r>
              <a:rPr lang="en-US" sz="1800" b="1" i="0" u="none" strike="noStrike" cap="none" dirty="0">
                <a:solidFill>
                  <a:schemeClr val="dk1"/>
                </a:solidFill>
                <a:latin typeface="Arial"/>
                <a:ea typeface="Arial"/>
                <a:cs typeface="Arial"/>
                <a:sym typeface="Arial"/>
              </a:rPr>
              <a:t>Proximity Metrics: </a:t>
            </a:r>
            <a:r>
              <a:rPr lang="en-US" sz="1800" b="0" i="0" u="none" strike="noStrike" cap="none" dirty="0">
                <a:solidFill>
                  <a:schemeClr val="dk1"/>
                </a:solidFill>
                <a:latin typeface="Arial"/>
                <a:ea typeface="Arial"/>
                <a:cs typeface="Arial"/>
                <a:sym typeface="Arial"/>
              </a:rPr>
              <a:t>Quantify the "similarity" or "dissimilarity" between data points.</a:t>
            </a:r>
            <a:endParaRPr sz="1800" b="0" i="0" u="none" strike="noStrike" cap="none" dirty="0">
              <a:solidFill>
                <a:schemeClr val="dk1"/>
              </a:solidFill>
              <a:latin typeface="Arial"/>
              <a:ea typeface="Arial"/>
              <a:cs typeface="Arial"/>
              <a:sym typeface="Arial"/>
            </a:endParaRPr>
          </a:p>
          <a:p>
            <a:pPr marL="0" marR="0" lvl="0" indent="0" algn="l" rtl="0">
              <a:lnSpc>
                <a:spcPct val="70000"/>
              </a:lnSpc>
              <a:spcBef>
                <a:spcPts val="600"/>
              </a:spcBef>
              <a:spcAft>
                <a:spcPts val="600"/>
              </a:spcAft>
              <a:buClr>
                <a:schemeClr val="dk1"/>
              </a:buClr>
              <a:buSzPts val="1860"/>
              <a:buFont typeface="Arial"/>
              <a:buNone/>
            </a:pPr>
            <a:r>
              <a:rPr lang="en-US" sz="1800" b="1" i="0" u="none" strike="noStrike" cap="none" dirty="0">
                <a:solidFill>
                  <a:schemeClr val="dk1"/>
                </a:solidFill>
                <a:latin typeface="Arial"/>
                <a:ea typeface="Arial"/>
                <a:cs typeface="Arial"/>
                <a:sym typeface="Arial"/>
              </a:rPr>
              <a:t>Common Metrics:</a:t>
            </a:r>
            <a:endParaRPr sz="1800" b="1" i="0" u="none" strike="noStrike" cap="none" dirty="0">
              <a:solidFill>
                <a:schemeClr val="dk1"/>
              </a:solidFill>
              <a:latin typeface="Arial"/>
              <a:ea typeface="Arial"/>
              <a:cs typeface="Arial"/>
              <a:sym typeface="Arial"/>
            </a:endParaRPr>
          </a:p>
          <a:p>
            <a:pPr marL="457200" marR="0" lvl="0" indent="-381000" algn="l" rtl="0">
              <a:lnSpc>
                <a:spcPct val="70000"/>
              </a:lnSpc>
              <a:spcBef>
                <a:spcPts val="600"/>
              </a:spcBef>
              <a:spcAft>
                <a:spcPts val="6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Distance Metrics: Euclidean Distance, Manhattan Distance, </a:t>
            </a:r>
            <a:r>
              <a:rPr lang="en-US" sz="1800" b="0" i="0" u="none" strike="noStrike" cap="none" dirty="0" err="1">
                <a:solidFill>
                  <a:schemeClr val="dk1"/>
                </a:solidFill>
                <a:latin typeface="Arial"/>
                <a:ea typeface="Arial"/>
                <a:cs typeface="Arial"/>
                <a:sym typeface="Arial"/>
              </a:rPr>
              <a:t>Minkowski</a:t>
            </a:r>
            <a:r>
              <a:rPr lang="en-US" sz="1800" b="0" i="0" u="none" strike="noStrike" cap="none" dirty="0">
                <a:solidFill>
                  <a:schemeClr val="dk1"/>
                </a:solidFill>
                <a:latin typeface="Arial"/>
                <a:ea typeface="Arial"/>
                <a:cs typeface="Arial"/>
                <a:sym typeface="Arial"/>
              </a:rPr>
              <a:t> Distance.</a:t>
            </a:r>
            <a:endParaRPr sz="1800" b="0" i="0" u="none" strike="noStrike" cap="none" dirty="0">
              <a:solidFill>
                <a:schemeClr val="dk1"/>
              </a:solidFill>
              <a:latin typeface="Arial"/>
              <a:ea typeface="Arial"/>
              <a:cs typeface="Arial"/>
              <a:sym typeface="Arial"/>
            </a:endParaRPr>
          </a:p>
          <a:p>
            <a:pPr marL="457200" marR="0" lvl="0" indent="-381000" algn="l" rtl="0">
              <a:lnSpc>
                <a:spcPct val="70000"/>
              </a:lnSpc>
              <a:spcBef>
                <a:spcPts val="600"/>
              </a:spcBef>
              <a:spcAft>
                <a:spcPts val="6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Similarity Metrics: Cosine Similarity, </a:t>
            </a:r>
            <a:r>
              <a:rPr lang="en-US" sz="1800" b="0" i="0" u="none" strike="noStrike" cap="none" dirty="0" err="1">
                <a:solidFill>
                  <a:schemeClr val="dk1"/>
                </a:solidFill>
                <a:latin typeface="Arial"/>
                <a:ea typeface="Arial"/>
                <a:cs typeface="Arial"/>
                <a:sym typeface="Arial"/>
              </a:rPr>
              <a:t>Jaccard</a:t>
            </a:r>
            <a:r>
              <a:rPr lang="en-US" sz="1800" b="0" i="0" u="none" strike="noStrike" cap="none" dirty="0">
                <a:solidFill>
                  <a:schemeClr val="dk1"/>
                </a:solidFill>
                <a:latin typeface="Arial"/>
                <a:ea typeface="Arial"/>
                <a:cs typeface="Arial"/>
                <a:sym typeface="Arial"/>
              </a:rPr>
              <a:t> Similarity.</a:t>
            </a:r>
            <a:endParaRPr sz="1800" b="0" i="0" u="none" strike="noStrike" cap="none" dirty="0">
              <a:solidFill>
                <a:schemeClr val="dk1"/>
              </a:solidFill>
              <a:latin typeface="Arial"/>
              <a:ea typeface="Arial"/>
              <a:cs typeface="Arial"/>
              <a:sym typeface="Arial"/>
            </a:endParaRPr>
          </a:p>
          <a:p>
            <a:pPr marL="457200" marR="0" lvl="0" indent="0" algn="l" rtl="0">
              <a:lnSpc>
                <a:spcPct val="70000"/>
              </a:lnSpc>
              <a:spcBef>
                <a:spcPts val="600"/>
              </a:spcBef>
              <a:spcAft>
                <a:spcPts val="6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70000"/>
              </a:lnSpc>
              <a:spcBef>
                <a:spcPts val="600"/>
              </a:spcBef>
              <a:spcAft>
                <a:spcPts val="600"/>
              </a:spcAft>
              <a:buClr>
                <a:srgbClr val="000000"/>
              </a:buClr>
              <a:buSzPts val="852"/>
              <a:buFont typeface="Arial"/>
              <a:buNone/>
            </a:pPr>
            <a:r>
              <a:rPr lang="en-US" sz="1800" b="0" i="0" u="none" strike="noStrike" cap="none" dirty="0">
                <a:solidFill>
                  <a:schemeClr val="dk1"/>
                </a:solidFill>
                <a:latin typeface="Arial"/>
                <a:ea typeface="Arial"/>
                <a:cs typeface="Arial"/>
                <a:sym typeface="Arial"/>
              </a:rPr>
              <a:t>Why is this important?</a:t>
            </a:r>
            <a:endParaRPr sz="1800" b="0" i="0" u="none" strike="noStrike" cap="none" dirty="0">
              <a:solidFill>
                <a:schemeClr val="dk1"/>
              </a:solidFill>
              <a:latin typeface="Arial"/>
              <a:ea typeface="Arial"/>
              <a:cs typeface="Arial"/>
              <a:sym typeface="Arial"/>
            </a:endParaRPr>
          </a:p>
          <a:p>
            <a:pPr marL="457200" marR="0" lvl="0" indent="-381000" algn="l" rtl="0">
              <a:lnSpc>
                <a:spcPct val="70000"/>
              </a:lnSpc>
              <a:spcBef>
                <a:spcPts val="600"/>
              </a:spcBef>
              <a:spcAft>
                <a:spcPts val="6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Many machine learning algorithms rely heavily on these metrics (e.g., K-NN, K-Means, DBSCAN, SVMs).</a:t>
            </a:r>
            <a:endParaRPr sz="1800" b="0" i="0" u="none" strike="noStrike" cap="none" dirty="0">
              <a:solidFill>
                <a:schemeClr val="dk1"/>
              </a:solidFill>
              <a:latin typeface="Arial"/>
              <a:ea typeface="Arial"/>
              <a:cs typeface="Arial"/>
              <a:sym typeface="Arial"/>
            </a:endParaRPr>
          </a:p>
          <a:p>
            <a:pPr marL="457200" marR="0" lvl="0" indent="-381000" algn="l" rtl="0">
              <a:lnSpc>
                <a:spcPct val="70000"/>
              </a:lnSpc>
              <a:spcBef>
                <a:spcPts val="600"/>
              </a:spcBef>
              <a:spcAft>
                <a:spcPts val="6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Preprocessing choices directly influence calculated proximities.</a:t>
            </a:r>
            <a:endParaRPr sz="1800" b="0" i="0" u="none" strike="noStrike" cap="none" dirty="0">
              <a:solidFill>
                <a:schemeClr val="dk1"/>
              </a:solidFill>
              <a:latin typeface="Arial"/>
              <a:ea typeface="Arial"/>
              <a:cs typeface="Arial"/>
              <a:sym typeface="Arial"/>
            </a:endParaRPr>
          </a:p>
          <a:p>
            <a:pPr marL="0" marR="0" lvl="0" indent="0" algn="l" rtl="0">
              <a:lnSpc>
                <a:spcPct val="70000"/>
              </a:lnSpc>
              <a:spcBef>
                <a:spcPts val="600"/>
              </a:spcBef>
              <a:spcAft>
                <a:spcPts val="600"/>
              </a:spcAft>
              <a:buClr>
                <a:srgbClr val="000000"/>
              </a:buClr>
              <a:buSzPts val="852"/>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70000"/>
              </a:lnSpc>
              <a:spcBef>
                <a:spcPts val="600"/>
              </a:spcBef>
              <a:spcAft>
                <a:spcPts val="600"/>
              </a:spcAft>
              <a:buClr>
                <a:schemeClr val="dk1"/>
              </a:buClr>
              <a:buSzPts val="1860"/>
              <a:buFont typeface="Arial"/>
              <a:buNone/>
            </a:pPr>
            <a:endParaRPr sz="2400" b="0" i="0" u="none" strike="noStrike" cap="none" dirty="0">
              <a:solidFill>
                <a:schemeClr val="dk1"/>
              </a:solidFill>
              <a:latin typeface="Arial"/>
              <a:ea typeface="Arial"/>
              <a:cs typeface="Arial"/>
              <a:sym typeface="Arial"/>
            </a:endParaRPr>
          </a:p>
        </p:txBody>
      </p:sp>
      <p:pic>
        <p:nvPicPr>
          <p:cNvPr id="200" name="Google Shape;200;g37084f751b1_0_8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201" name="Google Shape;201;g37084f751b1_0_80"/>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202" name="Google Shape;202;g37084f751b1_0_80"/>
          <p:cNvPicPr preferRelativeResize="0"/>
          <p:nvPr/>
        </p:nvPicPr>
        <p:blipFill rotWithShape="1">
          <a:blip r:embed="rId5">
            <a:alphaModFix/>
          </a:blip>
          <a:srcRect/>
          <a:stretch/>
        </p:blipFill>
        <p:spPr>
          <a:xfrm>
            <a:off x="-2" y="1295790"/>
            <a:ext cx="4465321" cy="1035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7084f751b1_0_88"/>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Impact of Discretization and Binarization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208" name="Google Shape;208;g37084f751b1_0_88"/>
          <p:cNvSpPr txBox="1"/>
          <p:nvPr/>
        </p:nvSpPr>
        <p:spPr>
          <a:xfrm>
            <a:off x="533400" y="1775837"/>
            <a:ext cx="11323200" cy="4357078"/>
          </a:xfrm>
          <a:prstGeom prst="rect">
            <a:avLst/>
          </a:prstGeom>
          <a:noFill/>
          <a:ln>
            <a:noFill/>
          </a:ln>
        </p:spPr>
        <p:txBody>
          <a:bodyPr spcFirstLastPara="1" wrap="square" lIns="91425" tIns="45700" rIns="91425" bIns="45700" anchor="t" anchorCtr="0">
            <a:noAutofit/>
          </a:bodyPr>
          <a:lstStyle/>
          <a:p>
            <a:pPr marL="0" marR="0" lvl="0" indent="0" algn="l" rtl="0">
              <a:spcBef>
                <a:spcPts val="400"/>
              </a:spcBef>
              <a:spcAft>
                <a:spcPts val="400"/>
              </a:spcAft>
              <a:buClr>
                <a:schemeClr val="dk1"/>
              </a:buClr>
              <a:buSzPts val="1860"/>
              <a:buFont typeface="Arial"/>
              <a:buNone/>
            </a:pPr>
            <a:r>
              <a:rPr lang="en-US" sz="1800" b="1" i="0" u="none" strike="noStrike" cap="none" dirty="0">
                <a:solidFill>
                  <a:schemeClr val="dk1"/>
                </a:solidFill>
                <a:latin typeface="Arial"/>
                <a:ea typeface="Arial"/>
                <a:cs typeface="Arial"/>
                <a:sym typeface="Arial"/>
              </a:rPr>
              <a:t>Discretization:</a:t>
            </a:r>
            <a:endParaRPr sz="1800" b="1"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Reduces sensitivity to small changes: Data points close in continuous value but in different bins are now treated as distinctly different.</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Increases sensitivity to bin boundaries: Small changes crossing a boundary can drastically change perceived proximity.</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Can simplify distance calculations in discrete spaces.</a:t>
            </a: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r>
              <a:rPr lang="en-US" sz="1800" b="1" i="0" u="none" strike="noStrike" cap="none" dirty="0" err="1">
                <a:solidFill>
                  <a:schemeClr val="dk1"/>
                </a:solidFill>
                <a:latin typeface="Arial"/>
                <a:ea typeface="Arial"/>
                <a:cs typeface="Arial"/>
                <a:sym typeface="Arial"/>
              </a:rPr>
              <a:t>Binarization</a:t>
            </a:r>
            <a:r>
              <a:rPr lang="en-US" sz="1800" b="1" i="0" u="none" strike="noStrike" cap="none" dirty="0">
                <a:solidFill>
                  <a:schemeClr val="dk1"/>
                </a:solidFill>
                <a:latin typeface="Arial"/>
                <a:ea typeface="Arial"/>
                <a:cs typeface="Arial"/>
                <a:sym typeface="Arial"/>
              </a:rPr>
              <a:t>:</a:t>
            </a:r>
            <a:endParaRPr sz="1800" b="1"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Converts continuous space to a binary space.</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Drastically reduces dimensionality of numeric information.</a:t>
            </a:r>
            <a:endParaRPr sz="1800" b="0" i="0" u="none" strike="noStrike" cap="none" dirty="0">
              <a:solidFill>
                <a:schemeClr val="dk1"/>
              </a:solidFill>
              <a:latin typeface="Arial"/>
              <a:ea typeface="Arial"/>
              <a:cs typeface="Arial"/>
              <a:sym typeface="Arial"/>
            </a:endParaRPr>
          </a:p>
          <a:p>
            <a:pPr marL="457200" marR="0" lvl="0" indent="-38100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Distance/similarity calculations become based solely on 0/1 matches.</a:t>
            </a:r>
            <a:endParaRPr sz="1800" b="0" i="0" u="none" strike="noStrike" cap="none" dirty="0">
              <a:solidFill>
                <a:schemeClr val="dk1"/>
              </a:solidFill>
              <a:latin typeface="Arial"/>
              <a:ea typeface="Arial"/>
              <a:cs typeface="Arial"/>
              <a:sym typeface="Arial"/>
            </a:endParaRPr>
          </a:p>
          <a:p>
            <a:pPr marL="457200" marR="0" lvl="0" indent="0" algn="l" rtl="0">
              <a:spcBef>
                <a:spcPts val="400"/>
              </a:spcBef>
              <a:spcAft>
                <a:spcPts val="400"/>
              </a:spcAft>
              <a:buClr>
                <a:srgbClr val="000000"/>
              </a:buClr>
              <a:buSzPts val="2400"/>
              <a:buFont typeface="Arial"/>
              <a:buNone/>
            </a:pPr>
            <a:endParaRPr sz="1800" b="0" i="0" u="none" strike="noStrike" cap="none" dirty="0">
              <a:solidFill>
                <a:schemeClr val="dk1"/>
              </a:solidFill>
              <a:latin typeface="Arial"/>
              <a:ea typeface="Arial"/>
              <a:cs typeface="Arial"/>
              <a:sym typeface="Arial"/>
            </a:endParaRPr>
          </a:p>
          <a:p>
            <a:pPr marL="457200" marR="0" lvl="0" indent="0" algn="l" rtl="0">
              <a:spcBef>
                <a:spcPts val="400"/>
              </a:spcBef>
              <a:spcAft>
                <a:spcPts val="400"/>
              </a:spcAft>
              <a:buClr>
                <a:srgbClr val="000000"/>
              </a:buClr>
              <a:buSzPts val="2400"/>
              <a:buFont typeface="Arial"/>
              <a:buNone/>
            </a:pPr>
            <a:endParaRPr sz="1800" b="0" i="0" u="none" strike="noStrike" cap="none" dirty="0">
              <a:solidFill>
                <a:schemeClr val="dk1"/>
              </a:solidFill>
              <a:latin typeface="Arial"/>
              <a:ea typeface="Arial"/>
              <a:cs typeface="Arial"/>
              <a:sym typeface="Arial"/>
            </a:endParaRPr>
          </a:p>
          <a:p>
            <a:pPr marL="457200" marR="0" lvl="0" indent="0" algn="l" rtl="0">
              <a:spcBef>
                <a:spcPts val="400"/>
              </a:spcBef>
              <a:spcAft>
                <a:spcPts val="4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chemeClr val="dk1"/>
              </a:buClr>
              <a:buSzPts val="1860"/>
              <a:buFont typeface="Arial"/>
              <a:buNone/>
            </a:pPr>
            <a:endParaRPr sz="1800" b="0" i="0" u="none" strike="noStrike" cap="none" dirty="0">
              <a:solidFill>
                <a:schemeClr val="dk1"/>
              </a:solidFill>
              <a:latin typeface="Arial"/>
              <a:ea typeface="Arial"/>
              <a:cs typeface="Arial"/>
              <a:sym typeface="Arial"/>
            </a:endParaRPr>
          </a:p>
        </p:txBody>
      </p:sp>
      <p:pic>
        <p:nvPicPr>
          <p:cNvPr id="209" name="Google Shape;209;g37084f751b1_0_88"/>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210" name="Google Shape;210;g37084f751b1_0_88"/>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211" name="Google Shape;211;g37084f751b1_0_88"/>
          <p:cNvPicPr preferRelativeResize="0"/>
          <p:nvPr/>
        </p:nvPicPr>
        <p:blipFill rotWithShape="1">
          <a:blip r:embed="rId5">
            <a:alphaModFix/>
          </a:blip>
          <a:srcRect/>
          <a:stretch/>
        </p:blipFill>
        <p:spPr>
          <a:xfrm>
            <a:off x="-2" y="1295790"/>
            <a:ext cx="4465321" cy="1035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7084f751b1_0_96"/>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Impact of Normalization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217" name="Google Shape;217;g37084f751b1_0_96"/>
          <p:cNvSpPr txBox="1"/>
          <p:nvPr/>
        </p:nvSpPr>
        <p:spPr>
          <a:xfrm>
            <a:off x="533400" y="1810867"/>
            <a:ext cx="10989733" cy="4381872"/>
          </a:xfrm>
          <a:prstGeom prst="rect">
            <a:avLst/>
          </a:prstGeom>
          <a:noFill/>
          <a:ln>
            <a:noFill/>
          </a:ln>
        </p:spPr>
        <p:txBody>
          <a:bodyPr spcFirstLastPara="1" wrap="square" lIns="91425" tIns="45700" rIns="91425" bIns="45700" anchor="t" anchorCtr="0">
            <a:noAutofit/>
          </a:bodyPr>
          <a:lstStyle/>
          <a:p>
            <a:pPr marL="0" marR="0" lvl="0" indent="0" algn="l" rtl="0">
              <a:spcBef>
                <a:spcPts val="200"/>
              </a:spcBef>
              <a:spcAft>
                <a:spcPts val="200"/>
              </a:spcAft>
              <a:buClr>
                <a:schemeClr val="dk1"/>
              </a:buClr>
              <a:buSzPts val="1860"/>
              <a:buFont typeface="Arial"/>
              <a:buNone/>
            </a:pPr>
            <a:r>
              <a:rPr lang="en-US" sz="1800" b="1" i="0" u="none" strike="noStrike" cap="none" dirty="0">
                <a:solidFill>
                  <a:schemeClr val="dk1"/>
                </a:solidFill>
                <a:latin typeface="Arial"/>
                <a:ea typeface="Arial"/>
                <a:cs typeface="Arial"/>
                <a:sym typeface="Arial"/>
              </a:rPr>
              <a:t>Crucial for Distance-Based Algorithms:</a:t>
            </a:r>
            <a:endParaRPr sz="1800" b="1" i="0" u="none" strike="noStrike" cap="none" dirty="0">
              <a:solidFill>
                <a:schemeClr val="dk1"/>
              </a:solidFill>
              <a:latin typeface="Arial"/>
              <a:ea typeface="Arial"/>
              <a:cs typeface="Arial"/>
              <a:sym typeface="Arial"/>
            </a:endParaRPr>
          </a:p>
          <a:p>
            <a:pPr marL="457200" marR="0" lvl="0" indent="-374650" algn="l" rtl="0">
              <a:spcBef>
                <a:spcPts val="200"/>
              </a:spcBef>
              <a:spcAft>
                <a:spcPts val="2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Ensures all features contribute proportionally to distance calculations.</a:t>
            </a:r>
            <a:endParaRPr sz="1800" b="0" i="0" u="none" strike="noStrike" cap="none" dirty="0">
              <a:solidFill>
                <a:schemeClr val="dk1"/>
              </a:solidFill>
              <a:latin typeface="Arial"/>
              <a:ea typeface="Arial"/>
              <a:cs typeface="Arial"/>
              <a:sym typeface="Arial"/>
            </a:endParaRPr>
          </a:p>
          <a:p>
            <a:pPr marL="457200" marR="0" lvl="0" indent="-374650" algn="l" rtl="0">
              <a:spcBef>
                <a:spcPts val="200"/>
              </a:spcBef>
              <a:spcAft>
                <a:spcPts val="2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Prevents features with larger ranges from dominating.</a:t>
            </a:r>
            <a:endParaRPr sz="1800" b="0" i="0" u="none" strike="noStrike" cap="none" dirty="0">
              <a:solidFill>
                <a:schemeClr val="dk1"/>
              </a:solidFill>
              <a:latin typeface="Arial"/>
              <a:ea typeface="Arial"/>
              <a:cs typeface="Arial"/>
              <a:sym typeface="Arial"/>
            </a:endParaRPr>
          </a:p>
          <a:p>
            <a:pPr marL="0" marR="0" lvl="0" indent="0" algn="l" rtl="0">
              <a:spcBef>
                <a:spcPts val="200"/>
              </a:spcBef>
              <a:spcAft>
                <a:spcPts val="200"/>
              </a:spcAft>
              <a:buClr>
                <a:srgbClr val="000000"/>
              </a:buClr>
              <a:buSzPts val="2300"/>
              <a:buFont typeface="Arial"/>
              <a:buNone/>
            </a:pPr>
            <a:r>
              <a:rPr lang="en-US" sz="1800" b="1" i="0" u="none" strike="noStrike" cap="none" dirty="0">
                <a:solidFill>
                  <a:schemeClr val="dk1"/>
                </a:solidFill>
                <a:latin typeface="Arial"/>
                <a:ea typeface="Arial"/>
                <a:cs typeface="Arial"/>
                <a:sym typeface="Arial"/>
              </a:rPr>
              <a:t>Examples:</a:t>
            </a:r>
            <a:endParaRPr sz="1800" b="1" i="0" u="none" strike="noStrike" cap="none" dirty="0">
              <a:solidFill>
                <a:schemeClr val="dk1"/>
              </a:solidFill>
              <a:latin typeface="Arial"/>
              <a:ea typeface="Arial"/>
              <a:cs typeface="Arial"/>
              <a:sym typeface="Arial"/>
            </a:endParaRPr>
          </a:p>
          <a:p>
            <a:pPr marL="457200" marR="0" lvl="0" indent="-374650" algn="l" rtl="0">
              <a:spcBef>
                <a:spcPts val="200"/>
              </a:spcBef>
              <a:spcAft>
                <a:spcPts val="2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Without scaling, 'income' (e.g., 50,000-100,000) would overpower 'age' (e.g., 20-60) in Euclidean distance..</a:t>
            </a:r>
            <a:endParaRPr sz="1800" b="0" i="0" u="none" strike="noStrike" cap="none" dirty="0">
              <a:solidFill>
                <a:schemeClr val="dk1"/>
              </a:solidFill>
              <a:latin typeface="Arial"/>
              <a:ea typeface="Arial"/>
              <a:cs typeface="Arial"/>
              <a:sym typeface="Arial"/>
            </a:endParaRPr>
          </a:p>
          <a:p>
            <a:pPr marL="457200" marR="0" lvl="0" indent="-374650" algn="l" rtl="0">
              <a:spcBef>
                <a:spcPts val="200"/>
              </a:spcBef>
              <a:spcAft>
                <a:spcPts val="2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With scaling, a change in 'age' would have a comparable impact on distance as a proportional change in 'income'.</a:t>
            </a:r>
            <a:endParaRPr sz="1800" b="0" i="0" u="none" strike="noStrike" cap="none" dirty="0">
              <a:solidFill>
                <a:schemeClr val="dk1"/>
              </a:solidFill>
              <a:latin typeface="Arial"/>
              <a:ea typeface="Arial"/>
              <a:cs typeface="Arial"/>
              <a:sym typeface="Arial"/>
            </a:endParaRPr>
          </a:p>
          <a:p>
            <a:pPr marL="0" marR="0" lvl="0" indent="0" algn="l" rtl="0">
              <a:spcBef>
                <a:spcPts val="200"/>
              </a:spcBef>
              <a:spcAft>
                <a:spcPts val="200"/>
              </a:spcAft>
              <a:buClr>
                <a:srgbClr val="000000"/>
              </a:buClr>
              <a:buSzPts val="2300"/>
              <a:buFont typeface="Arial"/>
              <a:buNone/>
            </a:pPr>
            <a:r>
              <a:rPr lang="en-US" sz="1800" b="1" i="0" u="none" strike="noStrike" cap="none" dirty="0">
                <a:solidFill>
                  <a:schemeClr val="dk1"/>
                </a:solidFill>
                <a:latin typeface="Arial"/>
                <a:ea typeface="Arial"/>
                <a:cs typeface="Arial"/>
                <a:sym typeface="Arial"/>
              </a:rPr>
              <a:t>Specific </a:t>
            </a:r>
            <a:r>
              <a:rPr lang="en-US" sz="1800" b="1" i="0" u="none" strike="noStrike" cap="none" dirty="0" err="1">
                <a:solidFill>
                  <a:schemeClr val="dk1"/>
                </a:solidFill>
                <a:latin typeface="Arial"/>
                <a:ea typeface="Arial"/>
                <a:cs typeface="Arial"/>
                <a:sym typeface="Arial"/>
              </a:rPr>
              <a:t>Scalers'</a:t>
            </a:r>
            <a:r>
              <a:rPr lang="en-US" sz="1800" b="1" i="0" u="none" strike="noStrike" cap="none" dirty="0">
                <a:solidFill>
                  <a:schemeClr val="dk1"/>
                </a:solidFill>
                <a:latin typeface="Arial"/>
                <a:ea typeface="Arial"/>
                <a:cs typeface="Arial"/>
                <a:sym typeface="Arial"/>
              </a:rPr>
              <a:t> Effects:</a:t>
            </a:r>
            <a:endParaRPr sz="1800" b="1" i="0" u="none" strike="noStrike" cap="none" dirty="0">
              <a:solidFill>
                <a:schemeClr val="dk1"/>
              </a:solidFill>
              <a:latin typeface="Arial"/>
              <a:ea typeface="Arial"/>
              <a:cs typeface="Arial"/>
              <a:sym typeface="Arial"/>
            </a:endParaRPr>
          </a:p>
          <a:p>
            <a:pPr marL="457200" marR="0" lvl="0" indent="-374650" algn="l" rtl="0">
              <a:spcBef>
                <a:spcPts val="200"/>
              </a:spcBef>
              <a:spcAft>
                <a:spcPts val="2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Min-Max: </a:t>
            </a:r>
            <a:r>
              <a:rPr lang="en-US" sz="1800" b="0" i="0" u="none" strike="noStrike" cap="none" dirty="0">
                <a:solidFill>
                  <a:schemeClr val="dk1"/>
                </a:solidFill>
                <a:latin typeface="Arial"/>
                <a:ea typeface="Arial"/>
                <a:cs typeface="Arial"/>
                <a:sym typeface="Arial"/>
              </a:rPr>
              <a:t>Bounding features to [0,1] creates a uniform range for all.</a:t>
            </a:r>
            <a:endParaRPr sz="1800" b="0" i="0" u="none" strike="noStrike" cap="none" dirty="0">
              <a:solidFill>
                <a:schemeClr val="dk1"/>
              </a:solidFill>
              <a:latin typeface="Arial"/>
              <a:ea typeface="Arial"/>
              <a:cs typeface="Arial"/>
              <a:sym typeface="Arial"/>
            </a:endParaRPr>
          </a:p>
          <a:p>
            <a:pPr marL="457200" marR="0" lvl="0" indent="-374650" algn="l" rtl="0">
              <a:spcBef>
                <a:spcPts val="200"/>
              </a:spcBef>
              <a:spcAft>
                <a:spcPts val="2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Standardization: </a:t>
            </a:r>
            <a:r>
              <a:rPr lang="en-US" sz="1800" b="0" i="0" u="none" strike="noStrike" cap="none" dirty="0">
                <a:solidFill>
                  <a:schemeClr val="dk1"/>
                </a:solidFill>
                <a:latin typeface="Arial"/>
                <a:ea typeface="Arial"/>
                <a:cs typeface="Arial"/>
                <a:sym typeface="Arial"/>
              </a:rPr>
              <a:t>Transforms to a standard normal distribution, making distances comparable across features assuming similar underlying distributions.</a:t>
            </a:r>
            <a:endParaRPr sz="1800" b="0" i="0" u="none" strike="noStrike" cap="none" dirty="0">
              <a:solidFill>
                <a:schemeClr val="dk1"/>
              </a:solidFill>
              <a:latin typeface="Arial"/>
              <a:ea typeface="Arial"/>
              <a:cs typeface="Arial"/>
              <a:sym typeface="Arial"/>
            </a:endParaRPr>
          </a:p>
          <a:p>
            <a:pPr marL="457200" marR="0" lvl="0" indent="-374650" algn="l" rtl="0">
              <a:spcBef>
                <a:spcPts val="200"/>
              </a:spcBef>
              <a:spcAft>
                <a:spcPts val="200"/>
              </a:spcAft>
              <a:buClr>
                <a:schemeClr val="dk1"/>
              </a:buClr>
              <a:buSzPct val="100000"/>
              <a:buFont typeface="Arial"/>
              <a:buChar char="●"/>
            </a:pPr>
            <a:r>
              <a:rPr lang="en-US" sz="1800" b="1" i="0" u="none" strike="noStrike" cap="none" dirty="0">
                <a:solidFill>
                  <a:schemeClr val="dk1"/>
                </a:solidFill>
                <a:latin typeface="Arial"/>
                <a:ea typeface="Arial"/>
                <a:cs typeface="Arial"/>
                <a:sym typeface="Arial"/>
              </a:rPr>
              <a:t>Robust </a:t>
            </a:r>
            <a:r>
              <a:rPr lang="en-US" sz="1800" b="1" i="0" u="none" strike="noStrike" cap="none" dirty="0" err="1">
                <a:solidFill>
                  <a:schemeClr val="dk1"/>
                </a:solidFill>
                <a:latin typeface="Arial"/>
                <a:ea typeface="Arial"/>
                <a:cs typeface="Arial"/>
                <a:sym typeface="Arial"/>
              </a:rPr>
              <a:t>Scaler</a:t>
            </a:r>
            <a:r>
              <a:rPr lang="en-US" sz="1800" b="1" i="0" u="none" strike="noStrike" cap="none" dirty="0">
                <a:solidFill>
                  <a:schemeClr val="dk1"/>
                </a:solidFill>
                <a:latin typeface="Arial"/>
                <a:ea typeface="Arial"/>
                <a:cs typeface="Arial"/>
                <a:sym typeface="Arial"/>
              </a:rPr>
              <a:t>: </a:t>
            </a:r>
            <a:r>
              <a:rPr lang="en-US" sz="1800" b="0" i="0" u="none" strike="noStrike" cap="none" dirty="0">
                <a:solidFill>
                  <a:schemeClr val="dk1"/>
                </a:solidFill>
                <a:latin typeface="Arial"/>
                <a:ea typeface="Arial"/>
                <a:cs typeface="Arial"/>
                <a:sym typeface="Arial"/>
              </a:rPr>
              <a:t>Less sensitive to extreme distances caused by outliers, preserving relative distances among non-outlying points.</a:t>
            </a:r>
            <a:endParaRPr sz="1800" b="0" i="0" u="none" strike="noStrike" cap="none" dirty="0">
              <a:solidFill>
                <a:schemeClr val="dk1"/>
              </a:solidFill>
              <a:latin typeface="Arial"/>
              <a:ea typeface="Arial"/>
              <a:cs typeface="Arial"/>
              <a:sym typeface="Arial"/>
            </a:endParaRPr>
          </a:p>
          <a:p>
            <a:pPr marL="457200" marR="0" lvl="0" indent="0" algn="l" rtl="0">
              <a:spcBef>
                <a:spcPts val="200"/>
              </a:spcBef>
              <a:spcAft>
                <a:spcPts val="200"/>
              </a:spcAft>
              <a:buClr>
                <a:srgbClr val="000000"/>
              </a:buClr>
              <a:buSzPts val="2300"/>
              <a:buFont typeface="Arial"/>
              <a:buNone/>
            </a:pPr>
            <a:endParaRPr sz="1800" b="0" i="0" u="none" strike="noStrike" cap="none" dirty="0">
              <a:solidFill>
                <a:schemeClr val="dk1"/>
              </a:solidFill>
              <a:latin typeface="Arial"/>
              <a:ea typeface="Arial"/>
              <a:cs typeface="Arial"/>
              <a:sym typeface="Arial"/>
            </a:endParaRPr>
          </a:p>
          <a:p>
            <a:pPr marL="457200" marR="0" lvl="0" indent="0" algn="l" rtl="0">
              <a:spcBef>
                <a:spcPts val="200"/>
              </a:spcBef>
              <a:spcAft>
                <a:spcPts val="200"/>
              </a:spcAft>
              <a:buClr>
                <a:srgbClr val="000000"/>
              </a:buClr>
              <a:buSzPts val="2300"/>
              <a:buFont typeface="Arial"/>
              <a:buNone/>
            </a:pPr>
            <a:endParaRPr sz="1800" b="0" i="0" u="none" strike="noStrike" cap="none" dirty="0">
              <a:solidFill>
                <a:schemeClr val="dk1"/>
              </a:solidFill>
              <a:latin typeface="Arial"/>
              <a:ea typeface="Arial"/>
              <a:cs typeface="Arial"/>
              <a:sym typeface="Arial"/>
            </a:endParaRPr>
          </a:p>
          <a:p>
            <a:pPr marL="457200" marR="0" lvl="0" indent="0" algn="l" rtl="0">
              <a:spcBef>
                <a:spcPts val="200"/>
              </a:spcBef>
              <a:spcAft>
                <a:spcPts val="2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200"/>
              </a:spcBef>
              <a:spcAft>
                <a:spcPts val="2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200"/>
              </a:spcBef>
              <a:spcAft>
                <a:spcPts val="2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200"/>
              </a:spcBef>
              <a:spcAft>
                <a:spcPts val="2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200"/>
              </a:spcBef>
              <a:spcAft>
                <a:spcPts val="200"/>
              </a:spcAft>
              <a:buClr>
                <a:schemeClr val="dk1"/>
              </a:buClr>
              <a:buSzPts val="1860"/>
              <a:buFont typeface="Arial"/>
              <a:buNone/>
            </a:pPr>
            <a:endParaRPr sz="1800" b="0" i="0" u="none" strike="noStrike" cap="none" dirty="0">
              <a:solidFill>
                <a:schemeClr val="dk1"/>
              </a:solidFill>
              <a:latin typeface="Arial"/>
              <a:ea typeface="Arial"/>
              <a:cs typeface="Arial"/>
              <a:sym typeface="Arial"/>
            </a:endParaRPr>
          </a:p>
        </p:txBody>
      </p:sp>
      <p:pic>
        <p:nvPicPr>
          <p:cNvPr id="218" name="Google Shape;218;g37084f751b1_0_96"/>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219" name="Google Shape;219;g37084f751b1_0_96"/>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220" name="Google Shape;220;g37084f751b1_0_96"/>
          <p:cNvPicPr preferRelativeResize="0"/>
          <p:nvPr/>
        </p:nvPicPr>
        <p:blipFill rotWithShape="1">
          <a:blip r:embed="rId5">
            <a:alphaModFix/>
          </a:blip>
          <a:srcRect/>
          <a:stretch/>
        </p:blipFill>
        <p:spPr>
          <a:xfrm>
            <a:off x="-2" y="1295790"/>
            <a:ext cx="4465321" cy="1035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7084f751b1_0_104"/>
          <p:cNvSpPr txBox="1"/>
          <p:nvPr/>
        </p:nvSpPr>
        <p:spPr>
          <a:xfrm>
            <a:off x="441949" y="349875"/>
            <a:ext cx="11182783"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rial Narrow"/>
                <a:ea typeface="Arial Narrow"/>
                <a:cs typeface="Arial Narrow"/>
                <a:sym typeface="Arial Narrow"/>
              </a:rPr>
              <a:t>Impact of Smoothing and Attribute Transformations</a:t>
            </a: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226" name="Google Shape;226;g37084f751b1_0_104"/>
          <p:cNvSpPr txBox="1"/>
          <p:nvPr/>
        </p:nvSpPr>
        <p:spPr>
          <a:xfrm>
            <a:off x="533520" y="2095933"/>
            <a:ext cx="11323200" cy="4343596"/>
          </a:xfrm>
          <a:prstGeom prst="rect">
            <a:avLst/>
          </a:prstGeom>
          <a:noFill/>
          <a:ln>
            <a:noFill/>
          </a:ln>
        </p:spPr>
        <p:txBody>
          <a:bodyPr spcFirstLastPara="1" wrap="square" lIns="91425" tIns="45700" rIns="91425" bIns="45700" anchor="t" anchorCtr="0">
            <a:noAutofit/>
          </a:bodyPr>
          <a:lstStyle/>
          <a:p>
            <a:pPr marL="0" marR="0" lvl="0" indent="0" algn="l" rtl="0">
              <a:spcBef>
                <a:spcPts val="400"/>
              </a:spcBef>
              <a:spcAft>
                <a:spcPts val="400"/>
              </a:spcAft>
              <a:buClr>
                <a:schemeClr val="dk1"/>
              </a:buClr>
              <a:buSzPts val="1860"/>
              <a:buFont typeface="Arial"/>
              <a:buNone/>
            </a:pPr>
            <a:r>
              <a:rPr lang="en-US" sz="1800" b="1" i="0" u="none" strike="noStrike" cap="none" dirty="0">
                <a:solidFill>
                  <a:schemeClr val="dk1"/>
                </a:solidFill>
                <a:latin typeface="Arial"/>
                <a:ea typeface="Arial"/>
                <a:cs typeface="Arial"/>
                <a:sym typeface="Arial"/>
              </a:rPr>
              <a:t>Smoothing:</a:t>
            </a:r>
            <a:endParaRPr sz="1800" b="1" i="0" u="none" strike="noStrike" cap="none" dirty="0">
              <a:solidFill>
                <a:schemeClr val="dk1"/>
              </a:solidFill>
              <a:latin typeface="Arial"/>
              <a:ea typeface="Arial"/>
              <a:cs typeface="Arial"/>
              <a:sym typeface="Arial"/>
            </a:endParaRPr>
          </a:p>
          <a:p>
            <a:pPr marL="457200" marR="0" lvl="0" indent="-37465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Reduces noise, increases true proximity: By reducing erratic fluctuations, smoothing brings data points closer to their underlying trend, making their true proximity clearer.</a:t>
            </a:r>
            <a:endParaRPr sz="1800" b="0" i="0" u="none" strike="noStrike" cap="none" dirty="0">
              <a:solidFill>
                <a:schemeClr val="dk1"/>
              </a:solidFill>
              <a:latin typeface="Arial"/>
              <a:ea typeface="Arial"/>
              <a:cs typeface="Arial"/>
              <a:sym typeface="Arial"/>
            </a:endParaRPr>
          </a:p>
          <a:p>
            <a:pPr marL="457200" marR="0" lvl="0" indent="-37465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Less sensitive to local variations: Distance calculations become less influenced by minor, potentially noisy, deviations.</a:t>
            </a: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2300"/>
              <a:buFont typeface="Arial"/>
              <a:buNone/>
            </a:pPr>
            <a:r>
              <a:rPr lang="en-US" sz="1800" b="1" i="0" u="none" strike="noStrike" cap="none" dirty="0">
                <a:solidFill>
                  <a:schemeClr val="dk1"/>
                </a:solidFill>
                <a:latin typeface="Arial"/>
                <a:ea typeface="Arial"/>
                <a:cs typeface="Arial"/>
                <a:sym typeface="Arial"/>
              </a:rPr>
              <a:t>Attribute Transformations (e.g., Log, Square Root, Polynomial):</a:t>
            </a:r>
            <a:endParaRPr sz="1800" b="1" i="0" u="none" strike="noStrike" cap="none" dirty="0">
              <a:solidFill>
                <a:schemeClr val="dk1"/>
              </a:solidFill>
              <a:latin typeface="Arial"/>
              <a:ea typeface="Arial"/>
              <a:cs typeface="Arial"/>
              <a:sym typeface="Arial"/>
            </a:endParaRPr>
          </a:p>
          <a:p>
            <a:pPr marL="457200" marR="0" lvl="0" indent="-37465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Alters feature distribution: Can make non-linear relationships more linear, which impacts how distances are perceived in linear models.</a:t>
            </a:r>
            <a:endParaRPr sz="1800" b="0" i="0" u="none" strike="noStrike" cap="none" dirty="0">
              <a:solidFill>
                <a:schemeClr val="dk1"/>
              </a:solidFill>
              <a:latin typeface="Arial"/>
              <a:ea typeface="Arial"/>
              <a:cs typeface="Arial"/>
              <a:sym typeface="Arial"/>
            </a:endParaRPr>
          </a:p>
          <a:p>
            <a:pPr marL="457200" marR="0" lvl="0" indent="-37465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Compresses large values: Log/Square Root transformations reduce the influence of large values on distance.</a:t>
            </a:r>
            <a:endParaRPr sz="1800" b="0" i="0" u="none" strike="noStrike" cap="none" dirty="0">
              <a:solidFill>
                <a:schemeClr val="dk1"/>
              </a:solidFill>
              <a:latin typeface="Arial"/>
              <a:ea typeface="Arial"/>
              <a:cs typeface="Arial"/>
              <a:sym typeface="Arial"/>
            </a:endParaRPr>
          </a:p>
          <a:p>
            <a:pPr marL="457200" marR="0" lvl="0" indent="-374650" algn="l" rtl="0">
              <a:spcBef>
                <a:spcPts val="400"/>
              </a:spcBef>
              <a:spcAft>
                <a:spcPts val="4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Creates new relationships: Polynomial and interaction terms fundamentally change the feature space, leading to new proximity calculations based on these transformed features.</a:t>
            </a:r>
            <a:endParaRPr sz="1800" b="0" i="0" u="none" strike="noStrike" cap="none" dirty="0">
              <a:solidFill>
                <a:schemeClr val="dk1"/>
              </a:solidFill>
              <a:latin typeface="Arial"/>
              <a:ea typeface="Arial"/>
              <a:cs typeface="Arial"/>
              <a:sym typeface="Arial"/>
            </a:endParaRPr>
          </a:p>
          <a:p>
            <a:pPr marL="457200" marR="0" lvl="0" indent="0" algn="l" rtl="0">
              <a:spcBef>
                <a:spcPts val="400"/>
              </a:spcBef>
              <a:spcAft>
                <a:spcPts val="4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a:p>
            <a:pPr marL="0" marR="0" lvl="0" indent="0" algn="l" rtl="0">
              <a:spcBef>
                <a:spcPts val="400"/>
              </a:spcBef>
              <a:spcAft>
                <a:spcPts val="400"/>
              </a:spcAft>
              <a:buClr>
                <a:srgbClr val="000000"/>
              </a:buClr>
              <a:buSzPts val="852"/>
              <a:buFont typeface="Arial"/>
              <a:buNone/>
            </a:pPr>
            <a:endParaRPr sz="1800" b="0" i="0" u="none" strike="noStrike" cap="none" dirty="0">
              <a:solidFill>
                <a:schemeClr val="dk1"/>
              </a:solidFill>
              <a:latin typeface="Arial"/>
              <a:ea typeface="Arial"/>
              <a:cs typeface="Arial"/>
              <a:sym typeface="Arial"/>
            </a:endParaRPr>
          </a:p>
        </p:txBody>
      </p:sp>
      <p:pic>
        <p:nvPicPr>
          <p:cNvPr id="227" name="Google Shape;227;g37084f751b1_0_10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228" name="Google Shape;228;g37084f751b1_0_104"/>
          <p:cNvPicPr preferRelativeResize="0"/>
          <p:nvPr/>
        </p:nvPicPr>
        <p:blipFill rotWithShape="1">
          <a:blip r:embed="rId4">
            <a:alphaModFix/>
          </a:blip>
          <a:srcRect/>
          <a:stretch/>
        </p:blipFill>
        <p:spPr>
          <a:xfrm>
            <a:off x="-2" y="1618703"/>
            <a:ext cx="4465321" cy="103523"/>
          </a:xfrm>
          <a:prstGeom prst="rect">
            <a:avLst/>
          </a:prstGeom>
          <a:noFill/>
          <a:ln>
            <a:noFill/>
          </a:ln>
        </p:spPr>
      </p:pic>
      <p:pic>
        <p:nvPicPr>
          <p:cNvPr id="229" name="Google Shape;229;g37084f751b1_0_104"/>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5"/>
          <p:cNvSpPr/>
          <p:nvPr/>
        </p:nvSpPr>
        <p:spPr>
          <a:xfrm>
            <a:off x="11998" y="3894332"/>
            <a:ext cx="12192000" cy="2855668"/>
          </a:xfrm>
          <a:prstGeom prst="roundRect">
            <a:avLst>
              <a:gd name="adj" fmla="val 16667"/>
            </a:avLst>
          </a:prstGeom>
          <a:solidFill>
            <a:srgbClr val="7E00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By accessing or using this digital training programme, you agree to comply with the terms set forth in this disclaimer.</a:t>
            </a:r>
            <a:endParaRPr sz="1400" b="0" i="0" u="none" strike="noStrike" cap="none">
              <a:solidFill>
                <a:srgbClr val="000000"/>
              </a:solidFill>
              <a:latin typeface="Arial"/>
              <a:ea typeface="Arial"/>
              <a:cs typeface="Arial"/>
              <a:sym typeface="Arial"/>
            </a:endParaRPr>
          </a:p>
        </p:txBody>
      </p:sp>
      <p:pic>
        <p:nvPicPr>
          <p:cNvPr id="235" name="Google Shape;235;p5"/>
          <p:cNvPicPr preferRelativeResize="0"/>
          <p:nvPr/>
        </p:nvPicPr>
        <p:blipFill rotWithShape="1">
          <a:blip r:embed="rId3">
            <a:alphaModFix/>
          </a:blip>
          <a:srcRect/>
          <a:stretch/>
        </p:blipFill>
        <p:spPr>
          <a:xfrm>
            <a:off x="10078720" y="405951"/>
            <a:ext cx="1778000" cy="679450"/>
          </a:xfrm>
          <a:prstGeom prst="rect">
            <a:avLst/>
          </a:prstGeom>
          <a:noFill/>
          <a:ln>
            <a:noFill/>
          </a:ln>
        </p:spPr>
      </p:pic>
      <p:sp>
        <p:nvSpPr>
          <p:cNvPr id="236" name="Google Shape;236;p5"/>
          <p:cNvSpPr txBox="1"/>
          <p:nvPr/>
        </p:nvSpPr>
        <p:spPr>
          <a:xfrm>
            <a:off x="3268980" y="2963668"/>
            <a:ext cx="5654040" cy="93066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Play"/>
              <a:buNone/>
            </a:pPr>
            <a:r>
              <a:rPr lang="en-US" sz="7200" b="1" i="0" u="none" strike="noStrike" cap="none">
                <a:solidFill>
                  <a:schemeClr val="dk1"/>
                </a:solidFill>
                <a:latin typeface="Play"/>
                <a:ea typeface="Play"/>
                <a:cs typeface="Play"/>
                <a:sym typeface="Play"/>
              </a:rPr>
              <a:t>Thank You</a:t>
            </a:r>
            <a:endParaRPr sz="7200" b="1" i="0" u="none" strike="noStrike" cap="non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4978</Words>
  <Application>Microsoft Office PowerPoint</Application>
  <PresentationFormat>Widescreen</PresentationFormat>
  <Paragraphs>234</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 Narrow</vt:lpstr>
      <vt:lpstr>Arial</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Manjeet (GRG-MRM)</dc:creator>
  <cp:lastModifiedBy>Shubham Tomar</cp:lastModifiedBy>
  <cp:revision>8</cp:revision>
  <dcterms:created xsi:type="dcterms:W3CDTF">2025-05-30T08:20:10Z</dcterms:created>
  <dcterms:modified xsi:type="dcterms:W3CDTF">2025-09-12T05:59:23Z</dcterms:modified>
</cp:coreProperties>
</file>