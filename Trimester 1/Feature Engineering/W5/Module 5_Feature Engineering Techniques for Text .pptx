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Lst>
  <p:sldSz cy="6858000" cx="12192000"/>
  <p:notesSz cx="6858000" cy="9144000"/>
  <p:embeddedFontLst>
    <p:embeddedFont>
      <p:font typeface="Play"/>
      <p:regular r:id="rId32"/>
      <p:bold r:id="rId33"/>
    </p:embeddedFont>
    <p:embeddedFont>
      <p:font typeface="Arial Narrow"/>
      <p:regular r:id="rId34"/>
      <p:bold r:id="rId35"/>
      <p:italic r:id="rId36"/>
      <p:boldItalic r:id="rId3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8" roundtripDataSignature="AMtx7mjK4BCh1Gt1mjAGGD+VFqZ5GKCVf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C1AB03A-21FF-4956-9FCD-F7B2C00BB914}">
  <a:tblStyle styleId="{3C1AB03A-21FF-4956-9FCD-F7B2C00BB914}"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font" Target="fonts/Play-bold.fntdata"/><Relationship Id="rId10" Type="http://schemas.openxmlformats.org/officeDocument/2006/relationships/slide" Target="slides/slide5.xml"/><Relationship Id="rId32" Type="http://schemas.openxmlformats.org/officeDocument/2006/relationships/font" Target="fonts/Play-regular.fntdata"/><Relationship Id="rId13" Type="http://schemas.openxmlformats.org/officeDocument/2006/relationships/slide" Target="slides/slide8.xml"/><Relationship Id="rId35" Type="http://schemas.openxmlformats.org/officeDocument/2006/relationships/font" Target="fonts/ArialNarrow-bold.fntdata"/><Relationship Id="rId12" Type="http://schemas.openxmlformats.org/officeDocument/2006/relationships/slide" Target="slides/slide7.xml"/><Relationship Id="rId34" Type="http://schemas.openxmlformats.org/officeDocument/2006/relationships/font" Target="fonts/ArialNarrow-regular.fntdata"/><Relationship Id="rId15" Type="http://schemas.openxmlformats.org/officeDocument/2006/relationships/slide" Target="slides/slide10.xml"/><Relationship Id="rId37" Type="http://schemas.openxmlformats.org/officeDocument/2006/relationships/font" Target="fonts/ArialNarrow-boldItalic.fntdata"/><Relationship Id="rId14" Type="http://schemas.openxmlformats.org/officeDocument/2006/relationships/slide" Target="slides/slide9.xml"/><Relationship Id="rId36" Type="http://schemas.openxmlformats.org/officeDocument/2006/relationships/font" Target="fonts/ArialNarrow-italic.fntdata"/><Relationship Id="rId17" Type="http://schemas.openxmlformats.org/officeDocument/2006/relationships/slide" Target="slides/slide12.xml"/><Relationship Id="rId16" Type="http://schemas.openxmlformats.org/officeDocument/2006/relationships/slide" Target="slides/slide11.xml"/><Relationship Id="rId38" Type="http://customschemas.google.com/relationships/presentationmetadata" Target="meta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3" name="Google Shape;8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707f902fe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a:solidFill>
                  <a:srgbClr val="1B1C1D"/>
                </a:solidFill>
              </a:rPr>
              <a:t>Welcome everyone to Module 5, which focuses on Feature Engineering Techniques for Text Data.In the modern world, text is by far the most abundant form of data we encounter daily, ranging from social media posts and product reviews to complex legal documents and medical transcripts.</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The challenge with raw text is that it's inherently unstructured. This means you can't directly feed it into traditional machine learning algorithms, which typically require numerical input.</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The primary goal of text feature engineering is to transform this unstructured text into structured, numerical formats. This transformation is crucial as it enables machines to understand, interpret, and learn patterns from textual data.</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In this module, we will explore a variety of techniques for representing text data. We'll start with traditional methods like Bag of Words and TF-IDF, then move on to more sophisticated semantic embeddings such as Word2Vec, GloVe, and BERT.</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Before we dive into these representation techniques, we'll also cover essential foundational preprocessing steps. These include tokenization, n-gram generation, and Part-of-Speech (POS) tagging, all of which are vital for preparing text for any downstream NLP tasks.</a:t>
            </a:r>
            <a:endParaRPr>
              <a:solidFill>
                <a:srgbClr val="1B1C1D"/>
              </a:solidFill>
            </a:endParaRPr>
          </a:p>
          <a:p>
            <a:pPr indent="0" lvl="0" marL="0" rtl="0" algn="l">
              <a:lnSpc>
                <a:spcPct val="115000"/>
              </a:lnSpc>
              <a:spcBef>
                <a:spcPts val="3000"/>
              </a:spcBef>
              <a:spcAft>
                <a:spcPts val="0"/>
              </a:spcAft>
              <a:buClr>
                <a:schemeClr val="dk1"/>
              </a:buClr>
              <a:buSzPts val="1100"/>
              <a:buFont typeface="Arial"/>
              <a:buNone/>
            </a:pPr>
            <a:r>
              <a:t/>
            </a:r>
            <a:endParaRPr>
              <a:solidFill>
                <a:srgbClr val="1B1C1D"/>
              </a:solidFill>
            </a:endParaRPr>
          </a:p>
          <a:p>
            <a:pPr indent="0" lvl="0" marL="0" rtl="0" algn="l">
              <a:lnSpc>
                <a:spcPct val="100000"/>
              </a:lnSpc>
              <a:spcBef>
                <a:spcPts val="1200"/>
              </a:spcBef>
              <a:spcAft>
                <a:spcPts val="0"/>
              </a:spcAft>
              <a:buSzPts val="1100"/>
              <a:buNone/>
            </a:pPr>
            <a:r>
              <a:t/>
            </a:r>
            <a:endParaRPr>
              <a:solidFill>
                <a:srgbClr val="1B1C1D"/>
              </a:solidFill>
            </a:endParaRPr>
          </a:p>
        </p:txBody>
      </p:sp>
      <p:sp>
        <p:nvSpPr>
          <p:cNvPr id="97" name="Google Shape;97;g3707f902fe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708268c0a4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a:solidFill>
                  <a:srgbClr val="1B1C1D"/>
                </a:solidFill>
              </a:rPr>
              <a:t>Let's begin with tokenization, which is the very first and most critical preprocessing step in text feature engineering. </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At its core, tokenization is the process of breaking down a continuous text sequence into smaller, discrete units called tokens.</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While tokens are most commonly individual words, depending on the specific application or use case, they can also be single characters or even subwords. We'll look at examples of each.</a:t>
            </a:r>
            <a:endParaRPr>
              <a:solidFill>
                <a:srgbClr val="1B1C1D"/>
              </a:solidFill>
            </a:endParaRPr>
          </a:p>
          <a:p>
            <a:pPr indent="0" lvl="0" marL="0" rtl="0" algn="l">
              <a:lnSpc>
                <a:spcPct val="100000"/>
              </a:lnSpc>
              <a:spcBef>
                <a:spcPts val="3000"/>
              </a:spcBef>
              <a:spcAft>
                <a:spcPts val="0"/>
              </a:spcAft>
              <a:buSzPts val="1100"/>
              <a:buNone/>
            </a:pPr>
            <a:r>
              <a:t/>
            </a:r>
            <a:endParaRPr>
              <a:solidFill>
                <a:srgbClr val="1B1C1D"/>
              </a:solidFill>
            </a:endParaRPr>
          </a:p>
        </p:txBody>
      </p:sp>
      <p:sp>
        <p:nvSpPr>
          <p:cNvPr id="106" name="Google Shape;106;g3708268c0a4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7084f751b1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a:solidFill>
                  <a:srgbClr val="1B1C1D"/>
                </a:solidFill>
              </a:rPr>
              <a:t>There are primarily three types of tokenization we commonly encounter.</a:t>
            </a:r>
            <a:endParaRPr>
              <a:solidFill>
                <a:srgbClr val="1B1C1D"/>
              </a:solidFill>
            </a:endParaRPr>
          </a:p>
          <a:p>
            <a:pPr indent="0" lvl="0" marL="0" rtl="0" algn="l">
              <a:lnSpc>
                <a:spcPct val="115000"/>
              </a:lnSpc>
              <a:spcBef>
                <a:spcPts val="0"/>
              </a:spcBef>
              <a:spcAft>
                <a:spcPts val="0"/>
              </a:spcAft>
              <a:buNone/>
            </a:pPr>
            <a:r>
              <a:t/>
            </a:r>
            <a:endParaRPr b="1">
              <a:solidFill>
                <a:srgbClr val="1B1C1D"/>
              </a:solidFill>
            </a:endParaRPr>
          </a:p>
          <a:p>
            <a:pPr indent="0" lvl="0" marL="0" rtl="0" algn="l">
              <a:lnSpc>
                <a:spcPct val="115000"/>
              </a:lnSpc>
              <a:spcBef>
                <a:spcPts val="0"/>
              </a:spcBef>
              <a:spcAft>
                <a:spcPts val="0"/>
              </a:spcAft>
              <a:buNone/>
            </a:pPr>
            <a:r>
              <a:rPr b="1" lang="en-US">
                <a:solidFill>
                  <a:srgbClr val="1B1C1D"/>
                </a:solidFill>
              </a:rPr>
              <a:t>Word Tokenization</a:t>
            </a:r>
            <a:r>
              <a:rPr lang="en-US">
                <a:solidFill>
                  <a:srgbClr val="1B1C1D"/>
                </a:solidFill>
              </a:rPr>
              <a:t> is perhaps the most intuitive. It involves splitting text sequences based on spaces and punctuation marks. For example, the phrase "Data Science is fun" would be tokenized into individual words: "Data", "Science", "is", and "fun". This is the most common form of tokenization for many traditional NLP tasks.</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b="1" lang="en-US">
                <a:solidFill>
                  <a:srgbClr val="1B1C1D"/>
                </a:solidFill>
              </a:rPr>
              <a:t>Character Tokenization</a:t>
            </a:r>
            <a:r>
              <a:rPr lang="en-US">
                <a:solidFill>
                  <a:srgbClr val="1B1C1D"/>
                </a:solidFill>
              </a:rPr>
              <a:t>, as the name suggests, treats each character within a text as a distinct token. So, the word "AI" would be broken down into "A" and "I". This approach can be useful in certain scenarios, particularly when dealing with noisy text or languages where word boundaries aren't always clear.</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Finally, we have </a:t>
            </a:r>
            <a:r>
              <a:rPr b="1" lang="en-US">
                <a:solidFill>
                  <a:srgbClr val="1B1C1D"/>
                </a:solidFill>
              </a:rPr>
              <a:t>Subword Tokenization</a:t>
            </a:r>
            <a:r>
              <a:rPr lang="en-US">
                <a:solidFill>
                  <a:srgbClr val="1B1C1D"/>
                </a:solidFill>
              </a:rPr>
              <a:t>. This type is particularly relevant in modern deep learning models, such as BERT. Here, uncommon or complex words are split into smaller, meaningful subword units. For instance, "unhappiness" might be tokenized into "un", "happi", and "ness". This is beneficial because it allows models to handle out-of-vocabulary words and can also help in capturing morphological information.</a:t>
            </a:r>
            <a:endParaRPr>
              <a:solidFill>
                <a:srgbClr val="1B1C1D"/>
              </a:solidFill>
            </a:endParaRPr>
          </a:p>
          <a:p>
            <a:pPr indent="0" lvl="0" marL="0" rtl="0" algn="l">
              <a:lnSpc>
                <a:spcPct val="100000"/>
              </a:lnSpc>
              <a:spcBef>
                <a:spcPts val="3000"/>
              </a:spcBef>
              <a:spcAft>
                <a:spcPts val="0"/>
              </a:spcAft>
              <a:buSzPts val="1100"/>
              <a:buNone/>
            </a:pPr>
            <a:r>
              <a:t/>
            </a:r>
            <a:endParaRPr>
              <a:solidFill>
                <a:srgbClr val="1B1C1D"/>
              </a:solidFill>
            </a:endParaRPr>
          </a:p>
        </p:txBody>
      </p:sp>
      <p:sp>
        <p:nvSpPr>
          <p:cNvPr id="115" name="Google Shape;115;g37084f751b1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7084f751b1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a:solidFill>
                  <a:srgbClr val="1B1C1D"/>
                </a:solidFill>
              </a:rPr>
              <a:t>The importance of tokenization cannot be overstated. It is truly the foundational and most critical preprocessing step in any natural language processing pipeline.</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Think of it this way: almost every single text-based feature engineering method we will discuss, and indeed any NLP algorithm, relies on text being broken down into its constituent tokens. Without this initial step, it's impossible for machines to effectively process, understand, or learn from raw text data. It's the essential first step in transforming unstructured text into something more manageable.</a:t>
            </a:r>
            <a:endParaRPr>
              <a:solidFill>
                <a:srgbClr val="1B1C1D"/>
              </a:solidFill>
            </a:endParaRPr>
          </a:p>
          <a:p>
            <a:pPr indent="0" lvl="0" marL="0" rtl="0" algn="l">
              <a:lnSpc>
                <a:spcPct val="115000"/>
              </a:lnSpc>
              <a:spcBef>
                <a:spcPts val="3000"/>
              </a:spcBef>
              <a:spcAft>
                <a:spcPts val="0"/>
              </a:spcAft>
              <a:buClr>
                <a:schemeClr val="dk1"/>
              </a:buClr>
              <a:buSzPts val="1100"/>
              <a:buFont typeface="Arial"/>
              <a:buNone/>
            </a:pPr>
            <a:r>
              <a:t/>
            </a:r>
            <a:endParaRPr>
              <a:solidFill>
                <a:srgbClr val="1B1C1D"/>
              </a:solidFill>
            </a:endParaRPr>
          </a:p>
          <a:p>
            <a:pPr indent="0" lvl="0" marL="0" rtl="0" algn="l">
              <a:lnSpc>
                <a:spcPct val="115000"/>
              </a:lnSpc>
              <a:spcBef>
                <a:spcPts val="1200"/>
              </a:spcBef>
              <a:spcAft>
                <a:spcPts val="1200"/>
              </a:spcAft>
              <a:buClr>
                <a:schemeClr val="dk1"/>
              </a:buClr>
              <a:buSzPts val="1100"/>
              <a:buFont typeface="Arial"/>
              <a:buNone/>
            </a:pPr>
            <a:r>
              <a:t/>
            </a:r>
            <a:endParaRPr>
              <a:solidFill>
                <a:srgbClr val="1B1C1D"/>
              </a:solidFill>
            </a:endParaRPr>
          </a:p>
        </p:txBody>
      </p:sp>
      <p:sp>
        <p:nvSpPr>
          <p:cNvPr id="124" name="Google Shape;124;g37084f751b1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7084f751b1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a:solidFill>
                  <a:srgbClr val="1B1C1D"/>
                </a:solidFill>
              </a:rPr>
              <a:t>Moving on from individual tokens, let's discuss N-Grams.</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An n-gram is essentially a continuous sequence of 'n' items from a given sample of text or speech. In the context of text, these 'items' are the tokens we just discussed. So, an n-gram is simply a sequence of 'n' consecutive tokens. The 'n' in n-gram determines the length of the sequence.</a:t>
            </a:r>
            <a:endParaRPr>
              <a:solidFill>
                <a:srgbClr val="1B1C1D"/>
              </a:solidFill>
            </a:endParaRPr>
          </a:p>
          <a:p>
            <a:pPr indent="0" lvl="0" marL="0" rtl="0" algn="l">
              <a:lnSpc>
                <a:spcPct val="100000"/>
              </a:lnSpc>
              <a:spcBef>
                <a:spcPts val="3000"/>
              </a:spcBef>
              <a:spcAft>
                <a:spcPts val="0"/>
              </a:spcAft>
              <a:buSzPts val="1100"/>
              <a:buNone/>
            </a:pPr>
            <a:r>
              <a:t/>
            </a:r>
            <a:endParaRPr>
              <a:solidFill>
                <a:srgbClr val="1B1C1D"/>
              </a:solidFill>
            </a:endParaRPr>
          </a:p>
          <a:p>
            <a:pPr indent="0" lvl="0" marL="0" rtl="0" algn="l">
              <a:lnSpc>
                <a:spcPct val="100000"/>
              </a:lnSpc>
              <a:spcBef>
                <a:spcPts val="1200"/>
              </a:spcBef>
              <a:spcAft>
                <a:spcPts val="0"/>
              </a:spcAft>
              <a:buSzPts val="1100"/>
              <a:buNone/>
            </a:pPr>
            <a:r>
              <a:t/>
            </a:r>
            <a:endParaRPr>
              <a:solidFill>
                <a:srgbClr val="1B1C1D"/>
              </a:solidFill>
            </a:endParaRPr>
          </a:p>
        </p:txBody>
      </p:sp>
      <p:sp>
        <p:nvSpPr>
          <p:cNvPr id="133" name="Google Shape;133;g37084f751b1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7084f751b1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a:solidFill>
                  <a:srgbClr val="1B1C1D"/>
                </a:solidFill>
              </a:rPr>
              <a:t>Let's look at the different types of N-grams based on the value of 'n'.</a:t>
            </a:r>
            <a:endParaRPr>
              <a:solidFill>
                <a:srgbClr val="1B1C1D"/>
              </a:solidFill>
            </a:endParaRPr>
          </a:p>
          <a:p>
            <a:pPr indent="0" lvl="0" marL="45720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When 'n' equals 1, we have </a:t>
            </a:r>
            <a:r>
              <a:rPr b="1" lang="en-US">
                <a:solidFill>
                  <a:srgbClr val="1B1C1D"/>
                </a:solidFill>
              </a:rPr>
              <a:t>Unigrams</a:t>
            </a:r>
            <a:r>
              <a:rPr lang="en-US">
                <a:solidFill>
                  <a:srgbClr val="1B1C1D"/>
                </a:solidFill>
              </a:rPr>
              <a:t>. These are simply individual words. For example, from the sentence "This is great", the unigrams would be ["This", "is", "great"]. Unigrams capture information about the presence of single words.</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When 'n' equals 2, we form </a:t>
            </a:r>
            <a:r>
              <a:rPr b="1" lang="en-US">
                <a:solidFill>
                  <a:srgbClr val="1B1C1D"/>
                </a:solidFill>
              </a:rPr>
              <a:t>Bigrams</a:t>
            </a:r>
            <a:r>
              <a:rPr lang="en-US">
                <a:solidFill>
                  <a:srgbClr val="1B1C1D"/>
                </a:solidFill>
              </a:rPr>
              <a:t>. These are consecutive pairs of words. For the same sentence, the bigrams would be ["This is", "is great"]. Notice how we are now capturing a small amount of word order and immediate context.</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And when 'n' equals 3, we have </a:t>
            </a:r>
            <a:r>
              <a:rPr b="1" lang="en-US">
                <a:solidFill>
                  <a:srgbClr val="1B1C1D"/>
                </a:solidFill>
              </a:rPr>
              <a:t>Trigrams</a:t>
            </a:r>
            <a:r>
              <a:rPr lang="en-US">
                <a:solidFill>
                  <a:srgbClr val="1B1C1D"/>
                </a:solidFill>
              </a:rPr>
              <a:t>. These are consecutive triplets of words. So, for "This is great", the trigram would be ["This is great"]. As 'n' increases, the n-gram captures more of the sequential order of words.</a:t>
            </a:r>
            <a:endParaRPr>
              <a:solidFill>
                <a:srgbClr val="1B1C1D"/>
              </a:solidFill>
            </a:endParaRPr>
          </a:p>
          <a:p>
            <a:pPr indent="0" lvl="0" marL="0" rtl="0" algn="l">
              <a:lnSpc>
                <a:spcPct val="115000"/>
              </a:lnSpc>
              <a:spcBef>
                <a:spcPts val="3000"/>
              </a:spcBef>
              <a:spcAft>
                <a:spcPts val="1200"/>
              </a:spcAft>
              <a:buClr>
                <a:schemeClr val="dk1"/>
              </a:buClr>
              <a:buSzPts val="1100"/>
              <a:buFont typeface="Arial"/>
              <a:buNone/>
            </a:pPr>
            <a:r>
              <a:t/>
            </a:r>
            <a:endParaRPr>
              <a:solidFill>
                <a:srgbClr val="1B1C1D"/>
              </a:solidFill>
            </a:endParaRPr>
          </a:p>
        </p:txBody>
      </p:sp>
      <p:sp>
        <p:nvSpPr>
          <p:cNvPr id="142" name="Google Shape;142;g37084f751b1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7084f751b1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a:solidFill>
                  <a:srgbClr val="1B1C1D"/>
                </a:solidFill>
              </a:rPr>
              <a:t>So, why do N-grams matter? While unigrams are useful for understanding individual word presence, bigrams and trigrams go a step further. They are crucial because they capture contextual and syntactic relationships between words.</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Consider the simple example of "not good" versus "good". If you only use unigrams, both "not good" and "good" would register the word "good". However, the sentiment is entirely different. A bigram, "not good", correctly captures the negative sentiment that unigrams would miss. Trigrams preserve even more context.</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In terms of real-world applications, n-grams are incredibly useful. They are widely employed in areas such as spam filtering, where specific sequences of words might indicate spam. They are also essential in sentiment analysis, helping to accurately interpret the feeling behind text, and in predictive text input systems, where predicting the next word often relies on the preceding sequence of words.</a:t>
            </a:r>
            <a:endParaRPr>
              <a:solidFill>
                <a:srgbClr val="1B1C1D"/>
              </a:solidFill>
            </a:endParaRPr>
          </a:p>
          <a:p>
            <a:pPr indent="0" lvl="0" marL="0" rtl="0" algn="l">
              <a:lnSpc>
                <a:spcPct val="115000"/>
              </a:lnSpc>
              <a:spcBef>
                <a:spcPts val="3000"/>
              </a:spcBef>
              <a:spcAft>
                <a:spcPts val="0"/>
              </a:spcAft>
              <a:buClr>
                <a:schemeClr val="dk1"/>
              </a:buClr>
              <a:buSzPts val="1100"/>
              <a:buFont typeface="Arial"/>
              <a:buNone/>
            </a:pPr>
            <a:r>
              <a:t/>
            </a:r>
            <a:endParaRPr>
              <a:solidFill>
                <a:srgbClr val="1B1C1D"/>
              </a:solidFill>
            </a:endParaRPr>
          </a:p>
          <a:p>
            <a:pPr indent="0" lvl="0" marL="0" rtl="0" algn="l">
              <a:lnSpc>
                <a:spcPct val="115000"/>
              </a:lnSpc>
              <a:spcBef>
                <a:spcPts val="1200"/>
              </a:spcBef>
              <a:spcAft>
                <a:spcPts val="0"/>
              </a:spcAft>
              <a:buClr>
                <a:schemeClr val="dk1"/>
              </a:buClr>
              <a:buSzPts val="1100"/>
              <a:buFont typeface="Arial"/>
              <a:buNone/>
            </a:pPr>
            <a:r>
              <a:t/>
            </a:r>
            <a:endParaRPr>
              <a:solidFill>
                <a:srgbClr val="1B1C1D"/>
              </a:solidFill>
            </a:endParaRPr>
          </a:p>
          <a:p>
            <a:pPr indent="0" lvl="0" marL="0" rtl="0" algn="l">
              <a:lnSpc>
                <a:spcPct val="115000"/>
              </a:lnSpc>
              <a:spcBef>
                <a:spcPts val="1200"/>
              </a:spcBef>
              <a:spcAft>
                <a:spcPts val="1200"/>
              </a:spcAft>
              <a:buSzPts val="1100"/>
              <a:buNone/>
            </a:pPr>
            <a:r>
              <a:t/>
            </a:r>
            <a:endParaRPr>
              <a:solidFill>
                <a:srgbClr val="1B1C1D"/>
              </a:solidFill>
            </a:endParaRPr>
          </a:p>
        </p:txBody>
      </p:sp>
      <p:sp>
        <p:nvSpPr>
          <p:cNvPr id="151" name="Google Shape;151;g37084f751b1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 name="Shape 158"/>
        <p:cNvGrpSpPr/>
        <p:nvPr/>
      </p:nvGrpSpPr>
      <p:grpSpPr>
        <a:xfrm>
          <a:off x="0" y="0"/>
          <a:ext cx="0" cy="0"/>
          <a:chOff x="0" y="0"/>
          <a:chExt cx="0" cy="0"/>
        </a:xfrm>
      </p:grpSpPr>
      <p:sp>
        <p:nvSpPr>
          <p:cNvPr id="159" name="Google Shape;159;g37084f751b1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a:solidFill>
                  <a:srgbClr val="1B1C1D"/>
                </a:solidFill>
              </a:rPr>
              <a:t>Now let's move on to one of the most fundamental text vectorization techniques: the Bag of Words, or BoW model.</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At its core, the Bag of Words model represents each document as a numerical vector. This vector essentially counts the occurrences of each word from a predefined vocabulary within that document.</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A critical point to remember about BoW is that it completely ignores grammar and, more importantly, the order in which words appear in the document. It's as if you're taking all the words from a document, putting them into a "bag," and then just counting how many times each unique word appears, regardless of their original sequence.</a:t>
            </a:r>
            <a:endParaRPr>
              <a:solidFill>
                <a:srgbClr val="1B1C1D"/>
              </a:solidFill>
            </a:endParaRPr>
          </a:p>
          <a:p>
            <a:pPr indent="0" lvl="0" marL="0" rtl="0" algn="l">
              <a:lnSpc>
                <a:spcPct val="115000"/>
              </a:lnSpc>
              <a:spcBef>
                <a:spcPts val="3000"/>
              </a:spcBef>
              <a:spcAft>
                <a:spcPts val="0"/>
              </a:spcAft>
              <a:buClr>
                <a:schemeClr val="dk1"/>
              </a:buClr>
              <a:buSzPts val="1100"/>
              <a:buFont typeface="Arial"/>
              <a:buNone/>
            </a:pPr>
            <a:r>
              <a:t/>
            </a:r>
            <a:endParaRPr>
              <a:solidFill>
                <a:srgbClr val="1B1C1D"/>
              </a:solidFill>
            </a:endParaRPr>
          </a:p>
          <a:p>
            <a:pPr indent="0" lvl="0" marL="0" rtl="0" algn="l">
              <a:lnSpc>
                <a:spcPct val="115000"/>
              </a:lnSpc>
              <a:spcBef>
                <a:spcPts val="1200"/>
              </a:spcBef>
              <a:spcAft>
                <a:spcPts val="1200"/>
              </a:spcAft>
              <a:buSzPts val="1100"/>
              <a:buNone/>
            </a:pPr>
            <a:r>
              <a:t/>
            </a:r>
            <a:endParaRPr>
              <a:solidFill>
                <a:srgbClr val="1B1C1D"/>
              </a:solidFill>
            </a:endParaRPr>
          </a:p>
        </p:txBody>
      </p:sp>
      <p:sp>
        <p:nvSpPr>
          <p:cNvPr id="160" name="Google Shape;160;g37084f751b1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7084f751b1_0_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a:solidFill>
                  <a:srgbClr val="1B1C1D"/>
                </a:solidFill>
              </a:rPr>
              <a:t>Let's illustrate the Bag of Words concept with an example.</a:t>
            </a:r>
            <a:endParaRPr>
              <a:solidFill>
                <a:srgbClr val="1B1C1D"/>
              </a:solidFill>
            </a:endParaRPr>
          </a:p>
          <a:p>
            <a:pPr indent="0" lvl="0" marL="45720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Imagine our corpus consists of two simple documents: "Machine learning is fun" and "Learning is a continuous process".</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First, we create a unique vocabulary from all the words present in both documents. Our vocabulary here would be: "Machine", "learning", "is", "fun", "a", "continuous", "process".</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Now, let's represent each document as a vector based on this vocabulary.</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For </a:t>
            </a:r>
            <a:r>
              <a:rPr b="1" lang="en-US">
                <a:solidFill>
                  <a:srgbClr val="1B1C1D"/>
                </a:solidFill>
              </a:rPr>
              <a:t>Doc1: "Machine learning is fun"</a:t>
            </a:r>
            <a:r>
              <a:rPr lang="en-US">
                <a:solidFill>
                  <a:srgbClr val="1B1C1D"/>
                </a:solidFill>
              </a:rPr>
              <a:t>:</a:t>
            </a:r>
            <a:endParaRPr>
              <a:solidFill>
                <a:srgbClr val="1B1C1D"/>
              </a:solidFill>
            </a:endParaRPr>
          </a:p>
          <a:p>
            <a:pPr indent="-298450" lvl="2" marL="1371600" rtl="0" algn="l">
              <a:lnSpc>
                <a:spcPct val="115000"/>
              </a:lnSpc>
              <a:spcBef>
                <a:spcPts val="0"/>
              </a:spcBef>
              <a:spcAft>
                <a:spcPts val="0"/>
              </a:spcAft>
              <a:buClr>
                <a:srgbClr val="1B1C1D"/>
              </a:buClr>
              <a:buSzPts val="1100"/>
              <a:buChar char="■"/>
            </a:pPr>
            <a:r>
              <a:rPr lang="en-US">
                <a:solidFill>
                  <a:srgbClr val="1B1C1D"/>
                </a:solidFill>
              </a:rPr>
              <a:t>"Machine" appears once (1)</a:t>
            </a:r>
            <a:endParaRPr>
              <a:solidFill>
                <a:srgbClr val="1B1C1D"/>
              </a:solidFill>
            </a:endParaRPr>
          </a:p>
          <a:p>
            <a:pPr indent="-298450" lvl="2" marL="1371600" rtl="0" algn="l">
              <a:lnSpc>
                <a:spcPct val="115000"/>
              </a:lnSpc>
              <a:spcBef>
                <a:spcPts val="0"/>
              </a:spcBef>
              <a:spcAft>
                <a:spcPts val="0"/>
              </a:spcAft>
              <a:buClr>
                <a:srgbClr val="1B1C1D"/>
              </a:buClr>
              <a:buSzPts val="1100"/>
              <a:buChar char="■"/>
            </a:pPr>
            <a:r>
              <a:rPr lang="en-US">
                <a:solidFill>
                  <a:srgbClr val="1B1C1D"/>
                </a:solidFill>
              </a:rPr>
              <a:t>"learning" appears once (1)</a:t>
            </a:r>
            <a:endParaRPr>
              <a:solidFill>
                <a:srgbClr val="1B1C1D"/>
              </a:solidFill>
            </a:endParaRPr>
          </a:p>
          <a:p>
            <a:pPr indent="-298450" lvl="2" marL="1371600" rtl="0" algn="l">
              <a:lnSpc>
                <a:spcPct val="115000"/>
              </a:lnSpc>
              <a:spcBef>
                <a:spcPts val="0"/>
              </a:spcBef>
              <a:spcAft>
                <a:spcPts val="0"/>
              </a:spcAft>
              <a:buClr>
                <a:srgbClr val="1B1C1D"/>
              </a:buClr>
              <a:buSzPts val="1100"/>
              <a:buChar char="■"/>
            </a:pPr>
            <a:r>
              <a:rPr lang="en-US">
                <a:solidFill>
                  <a:srgbClr val="1B1C1D"/>
                </a:solidFill>
              </a:rPr>
              <a:t>"is" appears once (1)</a:t>
            </a:r>
            <a:endParaRPr>
              <a:solidFill>
                <a:srgbClr val="1B1C1D"/>
              </a:solidFill>
            </a:endParaRPr>
          </a:p>
          <a:p>
            <a:pPr indent="-298450" lvl="2" marL="1371600" rtl="0" algn="l">
              <a:lnSpc>
                <a:spcPct val="115000"/>
              </a:lnSpc>
              <a:spcBef>
                <a:spcPts val="0"/>
              </a:spcBef>
              <a:spcAft>
                <a:spcPts val="0"/>
              </a:spcAft>
              <a:buClr>
                <a:srgbClr val="1B1C1D"/>
              </a:buClr>
              <a:buSzPts val="1100"/>
              <a:buChar char="■"/>
            </a:pPr>
            <a:r>
              <a:rPr lang="en-US">
                <a:solidFill>
                  <a:srgbClr val="1B1C1D"/>
                </a:solidFill>
              </a:rPr>
              <a:t>"fun" appears once (1)</a:t>
            </a:r>
            <a:endParaRPr>
              <a:solidFill>
                <a:srgbClr val="1B1C1D"/>
              </a:solidFill>
            </a:endParaRPr>
          </a:p>
          <a:p>
            <a:pPr indent="-298450" lvl="2" marL="1371600" rtl="0" algn="l">
              <a:lnSpc>
                <a:spcPct val="115000"/>
              </a:lnSpc>
              <a:spcBef>
                <a:spcPts val="0"/>
              </a:spcBef>
              <a:spcAft>
                <a:spcPts val="0"/>
              </a:spcAft>
              <a:buClr>
                <a:srgbClr val="1B1C1D"/>
              </a:buClr>
              <a:buSzPts val="1100"/>
              <a:buChar char="■"/>
            </a:pPr>
            <a:r>
              <a:rPr lang="en-US">
                <a:solidFill>
                  <a:srgbClr val="1B1C1D"/>
                </a:solidFill>
              </a:rPr>
              <a:t>"a", "continuous", "process" do not appear (0, 0, 0)</a:t>
            </a:r>
            <a:endParaRPr>
              <a:solidFill>
                <a:srgbClr val="1B1C1D"/>
              </a:solidFill>
            </a:endParaRPr>
          </a:p>
          <a:p>
            <a:pPr indent="-298450" lvl="2" marL="1371600" rtl="0" algn="l">
              <a:lnSpc>
                <a:spcPct val="115000"/>
              </a:lnSpc>
              <a:spcBef>
                <a:spcPts val="0"/>
              </a:spcBef>
              <a:spcAft>
                <a:spcPts val="0"/>
              </a:spcAft>
              <a:buClr>
                <a:srgbClr val="1B1C1D"/>
              </a:buClr>
              <a:buSzPts val="1100"/>
              <a:buChar char="■"/>
            </a:pPr>
            <a:r>
              <a:rPr lang="en-US">
                <a:solidFill>
                  <a:srgbClr val="1B1C1D"/>
                </a:solidFill>
              </a:rPr>
              <a:t>So, Doc1's BoW vector is [1, 1, 1, 1, 0, 0, 0].</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For </a:t>
            </a:r>
            <a:r>
              <a:rPr b="1" lang="en-US">
                <a:solidFill>
                  <a:srgbClr val="1B1C1D"/>
                </a:solidFill>
              </a:rPr>
              <a:t>Doc2: "Learning is a continuous process"</a:t>
            </a:r>
            <a:r>
              <a:rPr lang="en-US">
                <a:solidFill>
                  <a:srgbClr val="1B1C1D"/>
                </a:solidFill>
              </a:rPr>
              <a:t>:</a:t>
            </a:r>
            <a:endParaRPr>
              <a:solidFill>
                <a:srgbClr val="1B1C1D"/>
              </a:solidFill>
            </a:endParaRPr>
          </a:p>
          <a:p>
            <a:pPr indent="-298450" lvl="2" marL="1371600" rtl="0" algn="l">
              <a:lnSpc>
                <a:spcPct val="115000"/>
              </a:lnSpc>
              <a:spcBef>
                <a:spcPts val="0"/>
              </a:spcBef>
              <a:spcAft>
                <a:spcPts val="0"/>
              </a:spcAft>
              <a:buClr>
                <a:srgbClr val="1B1C1D"/>
              </a:buClr>
              <a:buSzPts val="1100"/>
              <a:buChar char="■"/>
            </a:pPr>
            <a:r>
              <a:rPr lang="en-US">
                <a:solidFill>
                  <a:srgbClr val="1B1C1D"/>
                </a:solidFill>
              </a:rPr>
              <a:t>"Machine" does not appear (0)</a:t>
            </a:r>
            <a:endParaRPr>
              <a:solidFill>
                <a:srgbClr val="1B1C1D"/>
              </a:solidFill>
            </a:endParaRPr>
          </a:p>
          <a:p>
            <a:pPr indent="-298450" lvl="2" marL="1371600" rtl="0" algn="l">
              <a:lnSpc>
                <a:spcPct val="115000"/>
              </a:lnSpc>
              <a:spcBef>
                <a:spcPts val="0"/>
              </a:spcBef>
              <a:spcAft>
                <a:spcPts val="0"/>
              </a:spcAft>
              <a:buClr>
                <a:srgbClr val="1B1C1D"/>
              </a:buClr>
              <a:buSzPts val="1100"/>
              <a:buChar char="■"/>
            </a:pPr>
            <a:r>
              <a:rPr lang="en-US">
                <a:solidFill>
                  <a:srgbClr val="1B1C1D"/>
                </a:solidFill>
              </a:rPr>
              <a:t>"learning" appears once (1)</a:t>
            </a:r>
            <a:endParaRPr>
              <a:solidFill>
                <a:srgbClr val="1B1C1D"/>
              </a:solidFill>
            </a:endParaRPr>
          </a:p>
          <a:p>
            <a:pPr indent="-298450" lvl="2" marL="1371600" rtl="0" algn="l">
              <a:lnSpc>
                <a:spcPct val="115000"/>
              </a:lnSpc>
              <a:spcBef>
                <a:spcPts val="0"/>
              </a:spcBef>
              <a:spcAft>
                <a:spcPts val="0"/>
              </a:spcAft>
              <a:buClr>
                <a:srgbClr val="1B1C1D"/>
              </a:buClr>
              <a:buSzPts val="1100"/>
              <a:buChar char="■"/>
            </a:pPr>
            <a:r>
              <a:rPr lang="en-US">
                <a:solidFill>
                  <a:srgbClr val="1B1C1D"/>
                </a:solidFill>
              </a:rPr>
              <a:t>"is" appears once (1)</a:t>
            </a:r>
            <a:endParaRPr>
              <a:solidFill>
                <a:srgbClr val="1B1C1D"/>
              </a:solidFill>
            </a:endParaRPr>
          </a:p>
          <a:p>
            <a:pPr indent="-298450" lvl="2" marL="1371600" rtl="0" algn="l">
              <a:lnSpc>
                <a:spcPct val="115000"/>
              </a:lnSpc>
              <a:spcBef>
                <a:spcPts val="0"/>
              </a:spcBef>
              <a:spcAft>
                <a:spcPts val="0"/>
              </a:spcAft>
              <a:buClr>
                <a:srgbClr val="1B1C1D"/>
              </a:buClr>
              <a:buSzPts val="1100"/>
              <a:buChar char="■"/>
            </a:pPr>
            <a:r>
              <a:rPr lang="en-US">
                <a:solidFill>
                  <a:srgbClr val="1B1C1D"/>
                </a:solidFill>
              </a:rPr>
              <a:t>"fun" does not appear (0)</a:t>
            </a:r>
            <a:endParaRPr>
              <a:solidFill>
                <a:srgbClr val="1B1C1D"/>
              </a:solidFill>
            </a:endParaRPr>
          </a:p>
          <a:p>
            <a:pPr indent="-298450" lvl="2" marL="1371600" rtl="0" algn="l">
              <a:lnSpc>
                <a:spcPct val="115000"/>
              </a:lnSpc>
              <a:spcBef>
                <a:spcPts val="0"/>
              </a:spcBef>
              <a:spcAft>
                <a:spcPts val="0"/>
              </a:spcAft>
              <a:buClr>
                <a:srgbClr val="1B1C1D"/>
              </a:buClr>
              <a:buSzPts val="1100"/>
              <a:buChar char="■"/>
            </a:pPr>
            <a:r>
              <a:rPr lang="en-US">
                <a:solidFill>
                  <a:srgbClr val="1B1C1D"/>
                </a:solidFill>
              </a:rPr>
              <a:t>"a" appears once (1)</a:t>
            </a:r>
            <a:endParaRPr>
              <a:solidFill>
                <a:srgbClr val="1B1C1D"/>
              </a:solidFill>
            </a:endParaRPr>
          </a:p>
          <a:p>
            <a:pPr indent="-298450" lvl="2" marL="1371600" rtl="0" algn="l">
              <a:lnSpc>
                <a:spcPct val="115000"/>
              </a:lnSpc>
              <a:spcBef>
                <a:spcPts val="0"/>
              </a:spcBef>
              <a:spcAft>
                <a:spcPts val="0"/>
              </a:spcAft>
              <a:buClr>
                <a:srgbClr val="1B1C1D"/>
              </a:buClr>
              <a:buSzPts val="1100"/>
              <a:buChar char="■"/>
            </a:pPr>
            <a:r>
              <a:rPr lang="en-US">
                <a:solidFill>
                  <a:srgbClr val="1B1C1D"/>
                </a:solidFill>
              </a:rPr>
              <a:t>"continuous" appears once (1)</a:t>
            </a:r>
            <a:endParaRPr>
              <a:solidFill>
                <a:srgbClr val="1B1C1D"/>
              </a:solidFill>
            </a:endParaRPr>
          </a:p>
          <a:p>
            <a:pPr indent="-298450" lvl="2" marL="1371600" rtl="0" algn="l">
              <a:lnSpc>
                <a:spcPct val="115000"/>
              </a:lnSpc>
              <a:spcBef>
                <a:spcPts val="0"/>
              </a:spcBef>
              <a:spcAft>
                <a:spcPts val="0"/>
              </a:spcAft>
              <a:buClr>
                <a:srgbClr val="1B1C1D"/>
              </a:buClr>
              <a:buSzPts val="1100"/>
              <a:buChar char="■"/>
            </a:pPr>
            <a:r>
              <a:rPr lang="en-US">
                <a:solidFill>
                  <a:srgbClr val="1B1C1D"/>
                </a:solidFill>
              </a:rPr>
              <a:t>"process" appears once (1)</a:t>
            </a:r>
            <a:endParaRPr>
              <a:solidFill>
                <a:srgbClr val="1B1C1D"/>
              </a:solidFill>
            </a:endParaRPr>
          </a:p>
          <a:p>
            <a:pPr indent="-298450" lvl="2" marL="1371600" rtl="0" algn="l">
              <a:lnSpc>
                <a:spcPct val="115000"/>
              </a:lnSpc>
              <a:spcBef>
                <a:spcPts val="0"/>
              </a:spcBef>
              <a:spcAft>
                <a:spcPts val="0"/>
              </a:spcAft>
              <a:buClr>
                <a:srgbClr val="1B1C1D"/>
              </a:buClr>
              <a:buSzPts val="1100"/>
              <a:buChar char="■"/>
            </a:pPr>
            <a:r>
              <a:rPr lang="en-US">
                <a:solidFill>
                  <a:srgbClr val="1B1C1D"/>
                </a:solidFill>
              </a:rPr>
              <a:t>So, Doc2's BoW vector is [0, 1, 1, 0, 1, 1, 1].</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As you can see, each document is now represented as a numerical vector, where the position in the vector corresponds to a word in the vocabulary, and the value indicates its count.</a:t>
            </a:r>
            <a:endParaRPr>
              <a:solidFill>
                <a:srgbClr val="1B1C1D"/>
              </a:solidFill>
            </a:endParaRPr>
          </a:p>
          <a:p>
            <a:pPr indent="0" lvl="0" marL="0" rtl="0" algn="l">
              <a:lnSpc>
                <a:spcPct val="115000"/>
              </a:lnSpc>
              <a:spcBef>
                <a:spcPts val="3000"/>
              </a:spcBef>
              <a:spcAft>
                <a:spcPts val="1200"/>
              </a:spcAft>
              <a:buSzPts val="1100"/>
              <a:buNone/>
            </a:pPr>
            <a:r>
              <a:t/>
            </a:r>
            <a:endParaRPr>
              <a:solidFill>
                <a:srgbClr val="1B1C1D"/>
              </a:solidFill>
            </a:endParaRPr>
          </a:p>
        </p:txBody>
      </p:sp>
      <p:sp>
        <p:nvSpPr>
          <p:cNvPr id="169" name="Google Shape;169;g37084f751b1_0_4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37084f751b1_0_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a:solidFill>
                  <a:srgbClr val="1B1C1D"/>
                </a:solidFill>
              </a:rPr>
              <a:t>Like any technique, Bag of Words has its advantages and limitations.</a:t>
            </a:r>
            <a:endParaRPr>
              <a:solidFill>
                <a:srgbClr val="1B1C1D"/>
              </a:solidFill>
            </a:endParaRPr>
          </a:p>
          <a:p>
            <a:pPr indent="0" lvl="0" marL="0" rtl="0" algn="l">
              <a:lnSpc>
                <a:spcPct val="115000"/>
              </a:lnSpc>
              <a:spcBef>
                <a:spcPts val="0"/>
              </a:spcBef>
              <a:spcAft>
                <a:spcPts val="0"/>
              </a:spcAft>
              <a:buNone/>
            </a:pPr>
            <a:r>
              <a:t/>
            </a:r>
            <a:endParaRPr b="1">
              <a:solidFill>
                <a:srgbClr val="1B1C1D"/>
              </a:solidFill>
            </a:endParaRPr>
          </a:p>
          <a:p>
            <a:pPr indent="0" lvl="0" marL="0" rtl="0" algn="l">
              <a:lnSpc>
                <a:spcPct val="115000"/>
              </a:lnSpc>
              <a:spcBef>
                <a:spcPts val="0"/>
              </a:spcBef>
              <a:spcAft>
                <a:spcPts val="0"/>
              </a:spcAft>
              <a:buNone/>
            </a:pPr>
            <a:r>
              <a:rPr b="1" lang="en-US">
                <a:solidFill>
                  <a:srgbClr val="1B1C1D"/>
                </a:solidFill>
              </a:rPr>
              <a:t>On the advantage side:</a:t>
            </a:r>
            <a:r>
              <a:rPr lang="en-US">
                <a:solidFill>
                  <a:srgbClr val="1B1C1D"/>
                </a:solidFill>
              </a:rPr>
              <a:t> BoW is remarkably easy to understand and implement, making it a great starting point for many text-based tasks. It also tends to perform reasonably well for smaller datasets where the vocabulary size is manageable.</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However, BoW comes with significant </a:t>
            </a:r>
            <a:r>
              <a:rPr b="1" lang="en-US">
                <a:solidFill>
                  <a:srgbClr val="1B1C1D"/>
                </a:solidFill>
              </a:rPr>
              <a:t>limitations</a:t>
            </a:r>
            <a:r>
              <a:rPr lang="en-US">
                <a:solidFill>
                  <a:srgbClr val="1B1C1D"/>
                </a:solidFill>
              </a:rPr>
              <a:t>:</a:t>
            </a:r>
            <a:endParaRPr>
              <a:solidFill>
                <a:srgbClr val="1B1C1D"/>
              </a:solidFill>
            </a:endParaRPr>
          </a:p>
          <a:p>
            <a:pPr indent="-298450" lvl="2" marL="1371600" rtl="0" algn="l">
              <a:lnSpc>
                <a:spcPct val="115000"/>
              </a:lnSpc>
              <a:spcBef>
                <a:spcPts val="0"/>
              </a:spcBef>
              <a:spcAft>
                <a:spcPts val="0"/>
              </a:spcAft>
              <a:buClr>
                <a:srgbClr val="1B1C1D"/>
              </a:buClr>
              <a:buSzPts val="1100"/>
              <a:buChar char="■"/>
            </a:pPr>
            <a:r>
              <a:rPr lang="en-US">
                <a:solidFill>
                  <a:srgbClr val="1B1C1D"/>
                </a:solidFill>
              </a:rPr>
              <a:t>Firstly, it often results in </a:t>
            </a:r>
            <a:r>
              <a:rPr b="1" lang="en-US">
                <a:solidFill>
                  <a:srgbClr val="1B1C1D"/>
                </a:solidFill>
              </a:rPr>
              <a:t>sparse and high-dimensional vectors</a:t>
            </a:r>
            <a:r>
              <a:rPr lang="en-US">
                <a:solidFill>
                  <a:srgbClr val="1B1C1D"/>
                </a:solidFill>
              </a:rPr>
              <a:t>. Imagine a vocabulary of tens of thousands or even hundreds of thousands of words; most documents will only contain a small fraction of these words, leading to vectors filled with mostly zeros. This sparsity can be computationally inefficient.</a:t>
            </a:r>
            <a:endParaRPr>
              <a:solidFill>
                <a:srgbClr val="1B1C1D"/>
              </a:solidFill>
            </a:endParaRPr>
          </a:p>
          <a:p>
            <a:pPr indent="-298450" lvl="2" marL="1371600" rtl="0" algn="l">
              <a:lnSpc>
                <a:spcPct val="115000"/>
              </a:lnSpc>
              <a:spcBef>
                <a:spcPts val="0"/>
              </a:spcBef>
              <a:spcAft>
                <a:spcPts val="0"/>
              </a:spcAft>
              <a:buClr>
                <a:srgbClr val="1B1C1D"/>
              </a:buClr>
              <a:buSzPts val="1100"/>
              <a:buChar char="■"/>
            </a:pPr>
            <a:r>
              <a:rPr lang="en-US">
                <a:solidFill>
                  <a:srgbClr val="1B1C1D"/>
                </a:solidFill>
              </a:rPr>
              <a:t>More importantly, BoW </a:t>
            </a:r>
            <a:r>
              <a:rPr b="1" lang="en-US">
                <a:solidFill>
                  <a:srgbClr val="1B1C1D"/>
                </a:solidFill>
              </a:rPr>
              <a:t>cannot capture word order or semantics</a:t>
            </a:r>
            <a:r>
              <a:rPr lang="en-US">
                <a:solidFill>
                  <a:srgbClr val="1B1C1D"/>
                </a:solidFill>
              </a:rPr>
              <a:t>. As we saw with the "not good" example, ignoring word order means it loses out on crucial contextual information. It also doesn't understand the meaning or relationships between words (e.g., "king" and "queen" are related, but BoW treats them as completely independent features).</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Despite these limitations, BoW remains a solid choice for certain </a:t>
            </a:r>
            <a:r>
              <a:rPr b="1" lang="en-US">
                <a:solidFill>
                  <a:srgbClr val="1B1C1D"/>
                </a:solidFill>
              </a:rPr>
              <a:t>use cases</a:t>
            </a:r>
            <a:r>
              <a:rPr lang="en-US">
                <a:solidFill>
                  <a:srgbClr val="1B1C1D"/>
                </a:solidFill>
              </a:rPr>
              <a:t>, particularly for text classification and document clustering when dealing with small to mid-sized collections of text.</a:t>
            </a:r>
            <a:endParaRPr>
              <a:solidFill>
                <a:srgbClr val="1B1C1D"/>
              </a:solidFill>
            </a:endParaRPr>
          </a:p>
          <a:p>
            <a:pPr indent="0" lvl="0" marL="0" rtl="0" algn="l">
              <a:lnSpc>
                <a:spcPct val="115000"/>
              </a:lnSpc>
              <a:spcBef>
                <a:spcPts val="3000"/>
              </a:spcBef>
              <a:spcAft>
                <a:spcPts val="0"/>
              </a:spcAft>
              <a:buClr>
                <a:schemeClr val="dk1"/>
              </a:buClr>
              <a:buSzPts val="1100"/>
              <a:buFont typeface="Arial"/>
              <a:buNone/>
            </a:pPr>
            <a:r>
              <a:t/>
            </a:r>
            <a:endParaRPr>
              <a:solidFill>
                <a:srgbClr val="1B1C1D"/>
              </a:solidFill>
            </a:endParaRPr>
          </a:p>
          <a:p>
            <a:pPr indent="0" lvl="0" marL="0" rtl="0" algn="l">
              <a:lnSpc>
                <a:spcPct val="115000"/>
              </a:lnSpc>
              <a:spcBef>
                <a:spcPts val="1200"/>
              </a:spcBef>
              <a:spcAft>
                <a:spcPts val="1200"/>
              </a:spcAft>
              <a:buSzPts val="1100"/>
              <a:buNone/>
            </a:pPr>
            <a:r>
              <a:t/>
            </a:r>
            <a:endParaRPr>
              <a:solidFill>
                <a:srgbClr val="1B1C1D"/>
              </a:solidFill>
            </a:endParaRPr>
          </a:p>
        </p:txBody>
      </p:sp>
      <p:sp>
        <p:nvSpPr>
          <p:cNvPr id="178" name="Google Shape;178;g37084f751b1_0_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7084f751b1_0_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a:solidFill>
                  <a:srgbClr val="1B1C1D"/>
                </a:solidFill>
              </a:rPr>
              <a:t>Building upon the concept of word frequency, we now introduce TF-IDF, which stands for Term Frequency-Inverse Document Frequency.</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While Bag of Words simply counts word occurrences, TF-IDF takes it a step further. Its core idea is to assign higher importance or weight to words that appear frequently within a specific document, but simultaneously appear rarely across the entire collection of documents (the corpus). This helps to identify words that are truly discriminative and informative for a given document, rather than just common words.</a:t>
            </a:r>
            <a:endParaRPr>
              <a:solidFill>
                <a:srgbClr val="1B1C1D"/>
              </a:solidFill>
            </a:endParaRPr>
          </a:p>
          <a:p>
            <a:pPr indent="0" lvl="0" marL="0" rtl="0" algn="l">
              <a:lnSpc>
                <a:spcPct val="115000"/>
              </a:lnSpc>
              <a:spcBef>
                <a:spcPts val="3000"/>
              </a:spcBef>
              <a:spcAft>
                <a:spcPts val="0"/>
              </a:spcAft>
              <a:buClr>
                <a:schemeClr val="dk1"/>
              </a:buClr>
              <a:buSzPts val="1100"/>
              <a:buFont typeface="Arial"/>
              <a:buNone/>
            </a:pPr>
            <a:r>
              <a:t/>
            </a:r>
            <a:endParaRPr>
              <a:solidFill>
                <a:srgbClr val="1B1C1D"/>
              </a:solidFill>
            </a:endParaRPr>
          </a:p>
          <a:p>
            <a:pPr indent="0" lvl="0" marL="0" rtl="0" algn="l">
              <a:lnSpc>
                <a:spcPct val="115000"/>
              </a:lnSpc>
              <a:spcBef>
                <a:spcPts val="1200"/>
              </a:spcBef>
              <a:spcAft>
                <a:spcPts val="1200"/>
              </a:spcAft>
              <a:buClr>
                <a:schemeClr val="dk1"/>
              </a:buClr>
              <a:buSzPts val="1100"/>
              <a:buFont typeface="Arial"/>
              <a:buNone/>
            </a:pPr>
            <a:r>
              <a:t/>
            </a:r>
            <a:endParaRPr>
              <a:solidFill>
                <a:srgbClr val="1B1C1D"/>
              </a:solidFill>
            </a:endParaRPr>
          </a:p>
        </p:txBody>
      </p:sp>
      <p:sp>
        <p:nvSpPr>
          <p:cNvPr id="187" name="Google Shape;187;g37084f751b1_0_6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7084f751b1_0_7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a:solidFill>
                  <a:srgbClr val="1B1C1D"/>
                </a:solidFill>
              </a:rPr>
              <a:t>Let's break down the TF-IDF formula into its two components: Term Frequency (TF) and Inverse Document Frequency (IDF).</a:t>
            </a:r>
            <a:endParaRPr>
              <a:solidFill>
                <a:srgbClr val="1B1C1D"/>
              </a:solidFill>
            </a:endParaRPr>
          </a:p>
          <a:p>
            <a:pPr indent="0" lvl="0" marL="0" rtl="0" algn="l">
              <a:lnSpc>
                <a:spcPct val="115000"/>
              </a:lnSpc>
              <a:spcBef>
                <a:spcPts val="0"/>
              </a:spcBef>
              <a:spcAft>
                <a:spcPts val="0"/>
              </a:spcAft>
              <a:buNone/>
            </a:pPr>
            <a:r>
              <a:t/>
            </a:r>
            <a:endParaRPr b="1">
              <a:solidFill>
                <a:srgbClr val="1B1C1D"/>
              </a:solidFill>
            </a:endParaRPr>
          </a:p>
          <a:p>
            <a:pPr indent="0" lvl="0" marL="0" rtl="0" algn="l">
              <a:lnSpc>
                <a:spcPct val="115000"/>
              </a:lnSpc>
              <a:spcBef>
                <a:spcPts val="0"/>
              </a:spcBef>
              <a:spcAft>
                <a:spcPts val="0"/>
              </a:spcAft>
              <a:buNone/>
            </a:pPr>
            <a:r>
              <a:rPr b="1" lang="en-US">
                <a:solidFill>
                  <a:srgbClr val="1B1C1D"/>
                </a:solidFill>
              </a:rPr>
              <a:t>Term Frequency (TF)</a:t>
            </a:r>
            <a:r>
              <a:rPr lang="en-US">
                <a:solidFill>
                  <a:srgbClr val="1B1C1D"/>
                </a:solidFill>
              </a:rPr>
              <a:t> is quite straightforward: It's calculated as the number of times a specific term 't' appears in a particular document, divided by the total number of terms in that same document. This normalises the count, so longer documents don't inherently have higher TF values for a word simply because they are longer.</a:t>
            </a:r>
            <a:endParaRPr>
              <a:solidFill>
                <a:srgbClr val="1B1C1D"/>
              </a:solidFill>
            </a:endParaRPr>
          </a:p>
          <a:p>
            <a:pPr indent="0" lvl="0" marL="0" rtl="0" algn="l">
              <a:lnSpc>
                <a:spcPct val="115000"/>
              </a:lnSpc>
              <a:spcBef>
                <a:spcPts val="0"/>
              </a:spcBef>
              <a:spcAft>
                <a:spcPts val="0"/>
              </a:spcAft>
              <a:buNone/>
            </a:pPr>
            <a:r>
              <a:t/>
            </a:r>
            <a:endParaRPr b="1">
              <a:solidFill>
                <a:srgbClr val="1B1C1D"/>
              </a:solidFill>
            </a:endParaRPr>
          </a:p>
          <a:p>
            <a:pPr indent="0" lvl="0" marL="0" rtl="0" algn="l">
              <a:lnSpc>
                <a:spcPct val="115000"/>
              </a:lnSpc>
              <a:spcBef>
                <a:spcPts val="0"/>
              </a:spcBef>
              <a:spcAft>
                <a:spcPts val="0"/>
              </a:spcAft>
              <a:buNone/>
            </a:pPr>
            <a:r>
              <a:rPr b="1" lang="en-US">
                <a:solidFill>
                  <a:srgbClr val="1B1C1D"/>
                </a:solidFill>
              </a:rPr>
              <a:t>Inverse Document Frequency (IDF)</a:t>
            </a:r>
            <a:r>
              <a:rPr lang="en-US">
                <a:solidFill>
                  <a:srgbClr val="1B1C1D"/>
                </a:solidFill>
              </a:rPr>
              <a:t> is where the "uniqueness" factor comes in. The formula for IDF is the natural logarithm of the total number of documents in your corpus divided by the number of documents in which the term 't' appears.</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To illustrate IDF with an example: if the term "science" appears in 2 out of 10 total documents in our corpus, its IDF would be loge​(10/2), which calculates to approximately 0.699. Notice that if a word appears in </a:t>
            </a:r>
            <a:r>
              <a:rPr i="1" lang="en-US">
                <a:solidFill>
                  <a:srgbClr val="1B1C1D"/>
                </a:solidFill>
              </a:rPr>
              <a:t>more</a:t>
            </a:r>
            <a:r>
              <a:rPr lang="en-US">
                <a:solidFill>
                  <a:srgbClr val="1B1C1D"/>
                </a:solidFill>
              </a:rPr>
              <a:t> documents, the denominator gets larger, and thus the IDF value decreases, reflecting its lower discriminative power. The TF-IDF score for a term in a document is then simply the product of its TF and IDF values.</a:t>
            </a:r>
            <a:endParaRPr>
              <a:solidFill>
                <a:srgbClr val="1B1C1D"/>
              </a:solidFill>
            </a:endParaRPr>
          </a:p>
          <a:p>
            <a:pPr indent="0" lvl="0" marL="0" rtl="0" algn="l">
              <a:lnSpc>
                <a:spcPct val="115000"/>
              </a:lnSpc>
              <a:spcBef>
                <a:spcPts val="3000"/>
              </a:spcBef>
              <a:spcAft>
                <a:spcPts val="0"/>
              </a:spcAft>
              <a:buClr>
                <a:schemeClr val="dk1"/>
              </a:buClr>
              <a:buSzPts val="1100"/>
              <a:buFont typeface="Arial"/>
              <a:buNone/>
            </a:pPr>
            <a:r>
              <a:t/>
            </a:r>
            <a:endParaRPr>
              <a:solidFill>
                <a:srgbClr val="1B1C1D"/>
              </a:solidFill>
            </a:endParaRPr>
          </a:p>
          <a:p>
            <a:pPr indent="0" lvl="0" marL="0" rtl="0" algn="l">
              <a:lnSpc>
                <a:spcPct val="115000"/>
              </a:lnSpc>
              <a:spcBef>
                <a:spcPts val="1200"/>
              </a:spcBef>
              <a:spcAft>
                <a:spcPts val="1200"/>
              </a:spcAft>
              <a:buClr>
                <a:schemeClr val="dk1"/>
              </a:buClr>
              <a:buSzPts val="1100"/>
              <a:buFont typeface="Arial"/>
              <a:buNone/>
            </a:pPr>
            <a:r>
              <a:t/>
            </a:r>
            <a:endParaRPr>
              <a:solidFill>
                <a:srgbClr val="1B1C1D"/>
              </a:solidFill>
            </a:endParaRPr>
          </a:p>
        </p:txBody>
      </p:sp>
      <p:sp>
        <p:nvSpPr>
          <p:cNvPr id="196" name="Google Shape;196;g37084f751b1_0_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7084f751b1_0_8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a:solidFill>
                  <a:srgbClr val="1B1C1D"/>
                </a:solidFill>
              </a:rPr>
              <a:t>So, why is TF-IDF a preferred method over simple Bag of Words in many scenarios?</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The main reason is that it effectively </a:t>
            </a:r>
            <a:r>
              <a:rPr b="1" lang="en-US">
                <a:solidFill>
                  <a:srgbClr val="1B1C1D"/>
                </a:solidFill>
              </a:rPr>
              <a:t>filters out commonly used words</a:t>
            </a:r>
            <a:r>
              <a:rPr lang="en-US">
                <a:solidFill>
                  <a:srgbClr val="1B1C1D"/>
                </a:solidFill>
              </a:rPr>
              <a:t>—often referred to as stop words—like "the", "is", "and", etc. These words appear in almost every document and don't provide much unique information about a document's content. By down-weighting them, TF-IDF focuses on more meaningful terms.</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Conversely, it </a:t>
            </a:r>
            <a:r>
              <a:rPr b="1" lang="en-US">
                <a:solidFill>
                  <a:srgbClr val="1B1C1D"/>
                </a:solidFill>
              </a:rPr>
              <a:t>retains words that offer unique or discriminative information</a:t>
            </a:r>
            <a:r>
              <a:rPr lang="en-US">
                <a:solidFill>
                  <a:srgbClr val="1B1C1D"/>
                </a:solidFill>
              </a:rPr>
              <a:t>. A word that appears frequently in one document but rarely elsewhere in the corpus will receive a high TF-IDF score, indicating its importance to that specific document.</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Due to these strengths, TF-IDF has broad </a:t>
            </a:r>
            <a:r>
              <a:rPr b="1" lang="en-US">
                <a:solidFill>
                  <a:srgbClr val="1B1C1D"/>
                </a:solidFill>
              </a:rPr>
              <a:t>applications</a:t>
            </a:r>
            <a:r>
              <a:rPr lang="en-US">
                <a:solidFill>
                  <a:srgbClr val="1B1C1D"/>
                </a:solidFill>
              </a:rPr>
              <a:t>. It's a foundational algorithm used in web search engines, where it helps rank document relevance for a given query. It's also vital in recommendation systems, for example, suggesting articles similar to ones you've read based on their keyword profiles. And it's commonly used for keyword extraction, identifying the most important terms within a body of text.</a:t>
            </a:r>
            <a:endParaRPr>
              <a:solidFill>
                <a:srgbClr val="1B1C1D"/>
              </a:solidFill>
            </a:endParaRPr>
          </a:p>
          <a:p>
            <a:pPr indent="0" lvl="0" marL="0" rtl="0" algn="l">
              <a:lnSpc>
                <a:spcPct val="115000"/>
              </a:lnSpc>
              <a:spcBef>
                <a:spcPts val="3000"/>
              </a:spcBef>
              <a:spcAft>
                <a:spcPts val="0"/>
              </a:spcAft>
              <a:buClr>
                <a:schemeClr val="dk1"/>
              </a:buClr>
              <a:buSzPts val="1100"/>
              <a:buFont typeface="Arial"/>
              <a:buNone/>
            </a:pPr>
            <a:r>
              <a:t/>
            </a:r>
            <a:endParaRPr>
              <a:solidFill>
                <a:srgbClr val="1B1C1D"/>
              </a:solidFill>
            </a:endParaRPr>
          </a:p>
          <a:p>
            <a:pPr indent="0" lvl="0" marL="0" rtl="0" algn="l">
              <a:lnSpc>
                <a:spcPct val="115000"/>
              </a:lnSpc>
              <a:spcBef>
                <a:spcPts val="1200"/>
              </a:spcBef>
              <a:spcAft>
                <a:spcPts val="1200"/>
              </a:spcAft>
              <a:buClr>
                <a:schemeClr val="dk1"/>
              </a:buClr>
              <a:buSzPts val="1100"/>
              <a:buFont typeface="Arial"/>
              <a:buNone/>
            </a:pPr>
            <a:r>
              <a:t/>
            </a:r>
            <a:endParaRPr>
              <a:solidFill>
                <a:srgbClr val="1B1C1D"/>
              </a:solidFill>
            </a:endParaRPr>
          </a:p>
        </p:txBody>
      </p:sp>
      <p:sp>
        <p:nvSpPr>
          <p:cNvPr id="205" name="Google Shape;205;g37084f751b1_0_8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708bf00c7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a:solidFill>
                  <a:srgbClr val="1B1C1D"/>
                </a:solidFill>
              </a:rPr>
              <a:t>Let's briefly discuss another traditional encoding method: One-Hot Encoding.</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The definition is quite simple: One-hot encoding converts each word into a binary vector. What this means is that for a given word, only the index in the vector that corresponds to that specific word is set to 1, while all other positions in the vector are set to 0.</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For example, if our vocabulary consists of ["apple", "banana", "orange"], and we want to one-hot encode the word "banana", the resulting vector would be [0, 1, 0]. The '1' is at the second position, corresponding to "banana" in our ordered vocabulary. This provides a unique, orthogonal representation for each word.</a:t>
            </a:r>
            <a:endParaRPr>
              <a:solidFill>
                <a:srgbClr val="1B1C1D"/>
              </a:solidFill>
            </a:endParaRPr>
          </a:p>
          <a:p>
            <a:pPr indent="0" lvl="0" marL="0" rtl="0" algn="l">
              <a:lnSpc>
                <a:spcPct val="115000"/>
              </a:lnSpc>
              <a:spcBef>
                <a:spcPts val="3000"/>
              </a:spcBef>
              <a:spcAft>
                <a:spcPts val="1200"/>
              </a:spcAft>
              <a:buClr>
                <a:schemeClr val="dk1"/>
              </a:buClr>
              <a:buSzPts val="1100"/>
              <a:buFont typeface="Arial"/>
              <a:buNone/>
            </a:pPr>
            <a:r>
              <a:t/>
            </a:r>
            <a:endParaRPr>
              <a:solidFill>
                <a:srgbClr val="1B1C1D"/>
              </a:solidFill>
            </a:endParaRPr>
          </a:p>
        </p:txBody>
      </p:sp>
      <p:sp>
        <p:nvSpPr>
          <p:cNvPr id="214" name="Google Shape;214;g3708bf00c7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708bf00c7c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a:solidFill>
                  <a:srgbClr val="1B1C1D"/>
                </a:solidFill>
              </a:rPr>
              <a:t>While simple, One-Hot Encoding has significant limitations.</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Firstly, it suffers from </a:t>
            </a:r>
            <a:r>
              <a:rPr b="1" lang="en-US">
                <a:solidFill>
                  <a:srgbClr val="1B1C1D"/>
                </a:solidFill>
              </a:rPr>
              <a:t>high memory usage</a:t>
            </a:r>
            <a:r>
              <a:rPr lang="en-US">
                <a:solidFill>
                  <a:srgbClr val="1B1C1D"/>
                </a:solidFill>
              </a:rPr>
              <a:t>. As your vocabulary grows, the size of each one-hot vector grows linearly. For large vocabularies with tens of thousands of words, these vectors become extremely long and sparse, consuming a lot of memory.</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Secondly, and crucially, one-hot encoding </a:t>
            </a:r>
            <a:r>
              <a:rPr b="1" lang="en-US">
                <a:solidFill>
                  <a:srgbClr val="1B1C1D"/>
                </a:solidFill>
              </a:rPr>
              <a:t>cannot capture any relationships between words</a:t>
            </a:r>
            <a:r>
              <a:rPr lang="en-US">
                <a:solidFill>
                  <a:srgbClr val="1B1C1D"/>
                </a:solidFill>
              </a:rPr>
              <a:t>. Each word is represented as an independent, orthogonal vector. This means that words with similar meanings, like "king" and "queen", or "cat" and "kitten", are treated as equally dissimilar as completely unrelated words like "cat" and "car". This lack of semantic understanding is a major drawback for more advanced NLP tasks.</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Despite these limitations, one-hot encoding does have its </a:t>
            </a:r>
            <a:r>
              <a:rPr b="1" lang="en-US">
                <a:solidFill>
                  <a:srgbClr val="1B1C1D"/>
                </a:solidFill>
              </a:rPr>
              <a:t>use cases</a:t>
            </a:r>
            <a:r>
              <a:rPr lang="en-US">
                <a:solidFill>
                  <a:srgbClr val="1B1C1D"/>
                </a:solidFill>
              </a:rPr>
              <a:t>, particularly in very basic neural network architectures, or more commonly, as an initial intermediate step. It can serve as the input layer that then feeds into an embedding layer, which is where the more sophisticated word relationships are learned.</a:t>
            </a:r>
            <a:endParaRPr>
              <a:solidFill>
                <a:srgbClr val="1B1C1D"/>
              </a:solidFill>
            </a:endParaRPr>
          </a:p>
          <a:p>
            <a:pPr indent="0" lvl="0" marL="0" rtl="0" algn="l">
              <a:lnSpc>
                <a:spcPct val="115000"/>
              </a:lnSpc>
              <a:spcBef>
                <a:spcPts val="3000"/>
              </a:spcBef>
              <a:spcAft>
                <a:spcPts val="1200"/>
              </a:spcAft>
              <a:buClr>
                <a:schemeClr val="dk1"/>
              </a:buClr>
              <a:buSzPts val="1100"/>
              <a:buFont typeface="Arial"/>
              <a:buNone/>
            </a:pPr>
            <a:r>
              <a:t/>
            </a:r>
            <a:endParaRPr>
              <a:solidFill>
                <a:srgbClr val="1B1C1D"/>
              </a:solidFill>
            </a:endParaRPr>
          </a:p>
        </p:txBody>
      </p:sp>
      <p:sp>
        <p:nvSpPr>
          <p:cNvPr id="223" name="Google Shape;223;g3708bf00c7c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708bf00c7c_0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a:solidFill>
                  <a:srgbClr val="1B1C1D"/>
                </a:solidFill>
              </a:rPr>
              <a:t>Moving beyond traditional methods, we arrive at the exciting field of Word Embeddings. These techniques revolutionise how we represent words by capturing their semantic meanings and relationships.</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The core concept behind Word2Vec, one of the pioneering word embedding models, involves training a shallow neural network. This network learns to predict either the surrounding context words given a target word (which is the Skip-gram model) or predict the target word given its surrounding context (which is the Continuous Bag of Words, or CBOW, model).</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The magic happens in the hidden layer of this network, where each word is represented as a dense vector. These vectors have a remarkable property: they encode semantic and syntactic relationships. A famous example illustrating this is how Word2Vec can learn analogies like "king - man + woman = queen". This demonstrates its ability to capture the underlying relationships between concepts.</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The key advantage of word embeddings is that they capture </a:t>
            </a:r>
            <a:r>
              <a:rPr b="1" lang="en-US">
                <a:solidFill>
                  <a:srgbClr val="1B1C1D"/>
                </a:solidFill>
              </a:rPr>
              <a:t>semantic similarity</a:t>
            </a:r>
            <a:r>
              <a:rPr lang="en-US">
                <a:solidFill>
                  <a:srgbClr val="1B1C1D"/>
                </a:solidFill>
              </a:rPr>
              <a:t>. Words with similar meanings or that appear in similar contexts will have vector representations that are close to each other in the embedding space. Furthermore, these vectors are </a:t>
            </a:r>
            <a:r>
              <a:rPr b="1" lang="en-US">
                <a:solidFill>
                  <a:srgbClr val="1B1C1D"/>
                </a:solidFill>
              </a:rPr>
              <a:t>low-dimensional</a:t>
            </a:r>
            <a:r>
              <a:rPr lang="en-US">
                <a:solidFill>
                  <a:srgbClr val="1B1C1D"/>
                </a:solidFill>
              </a:rPr>
              <a:t>, typically ranging from 100 to 300 dimensions, which is a significant reduction compared to the high-dimensional and sparse vectors of Bag of Words or One-Hot Encoding.</a:t>
            </a:r>
            <a:endParaRPr>
              <a:solidFill>
                <a:srgbClr val="1B1C1D"/>
              </a:solidFill>
            </a:endParaRPr>
          </a:p>
        </p:txBody>
      </p:sp>
      <p:sp>
        <p:nvSpPr>
          <p:cNvPr id="232" name="Google Shape;232;g3708bf00c7c_0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3708bf00c7c_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a:solidFill>
                  <a:srgbClr val="1B1C1D"/>
                </a:solidFill>
              </a:rPr>
              <a:t>Next in our discussion of word embeddings is GloVe, which stands for Global Vectors for Word Representation.</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Unlike Word2Vec, which relies on local context windows, GloVe's concept is to derive word vectors from </a:t>
            </a:r>
            <a:r>
              <a:rPr b="1" lang="en-US">
                <a:solidFill>
                  <a:srgbClr val="1B1C1D"/>
                </a:solidFill>
              </a:rPr>
              <a:t>aggregated global word-word co-occurrence statistics</a:t>
            </a:r>
            <a:r>
              <a:rPr lang="en-US">
                <a:solidFill>
                  <a:srgbClr val="1B1C1D"/>
                </a:solidFill>
              </a:rPr>
              <a:t> across the entire corpus. It essentially builds a large co-occurrence matrix and then uses matrix factorization techniques to learn the word embeddings.</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A significant advantage of GloVe is that </a:t>
            </a:r>
            <a:r>
              <a:rPr b="1" lang="en-US">
                <a:solidFill>
                  <a:srgbClr val="1B1C1D"/>
                </a:solidFill>
              </a:rPr>
              <a:t>pretrained models are readily available</a:t>
            </a:r>
            <a:r>
              <a:rPr lang="en-US">
                <a:solidFill>
                  <a:srgbClr val="1B1C1D"/>
                </a:solidFill>
              </a:rPr>
              <a:t> from Stanford NLP, trained on massive datasets. This means you can often use high-quality embeddings without having to train them from scratch, saving considerable computational resources.</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This global approach often makes GloVe </a:t>
            </a:r>
            <a:r>
              <a:rPr b="1" lang="en-US">
                <a:solidFill>
                  <a:srgbClr val="1B1C1D"/>
                </a:solidFill>
              </a:rPr>
              <a:t>more efficient, particularly for very large corpora</a:t>
            </a:r>
            <a:r>
              <a:rPr lang="en-US">
                <a:solidFill>
                  <a:srgbClr val="1B1C1D"/>
                </a:solidFill>
              </a:rPr>
              <a:t>, as it leverages the global statistical information more directly than Word2Vec.</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p:txBody>
      </p:sp>
      <p:sp>
        <p:nvSpPr>
          <p:cNvPr id="241" name="Google Shape;241;g3708bf00c7c_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708bf00c7c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a:solidFill>
                  <a:srgbClr val="1B1C1D"/>
                </a:solidFill>
              </a:rPr>
              <a:t>Finally, we come to BERT, which stands for Bidirectional Encoder Representations from Transformers. BERT represents a significant leap forward in word embeddings and is a cornerstone of modern NLP.</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The core concept distinguishing BERT is its use of a </a:t>
            </a:r>
            <a:r>
              <a:rPr b="1" lang="en-US">
                <a:solidFill>
                  <a:srgbClr val="1B1C1D"/>
                </a:solidFill>
              </a:rPr>
              <a:t>deep transformer model that processes text using a bidirectional context</a:t>
            </a:r>
            <a:r>
              <a:rPr lang="en-US">
                <a:solidFill>
                  <a:srgbClr val="1B1C1D"/>
                </a:solidFill>
              </a:rPr>
              <a:t>. This means that when BERT generates an embedding for a word, it considers the words that come both before and after it in a sentence, allowing for a much richer and more nuanced understanding of the word's meaning in that specific context.</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A key output of BERT, and what makes it so powerful, is its ability to produce </a:t>
            </a:r>
            <a:r>
              <a:rPr b="1" lang="en-US">
                <a:solidFill>
                  <a:srgbClr val="1B1C1D"/>
                </a:solidFill>
              </a:rPr>
              <a:t>different embeddings for the same word when it appears in different contexts</a:t>
            </a:r>
            <a:r>
              <a:rPr lang="en-US">
                <a:solidFill>
                  <a:srgbClr val="1B1C1D"/>
                </a:solidFill>
              </a:rPr>
              <a:t>. For example, the word "bank" in "river bank" will have a different embedding than "bank" in "financial bank." This contextual understanding is something traditional Word2Vec and GloVe cannot achieve.</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For practical implementation, BERT and other transformer models are widely accessible through the </a:t>
            </a:r>
            <a:r>
              <a:rPr b="1" lang="en-US">
                <a:solidFill>
                  <a:srgbClr val="1B1C1D"/>
                </a:solidFill>
              </a:rPr>
              <a:t>HuggingFace Transformers library</a:t>
            </a:r>
            <a:r>
              <a:rPr lang="en-US">
                <a:solidFill>
                  <a:srgbClr val="1B1C1D"/>
                </a:solidFill>
              </a:rPr>
              <a:t>, which provides pre-trained models and easy-to-use tokenizers.</a:t>
            </a:r>
            <a:endParaRPr>
              <a:solidFill>
                <a:srgbClr val="1B1C1D"/>
              </a:solidFill>
            </a:endParaRPr>
          </a:p>
          <a:p>
            <a:pPr indent="0" lvl="0" marL="914400" rtl="0" algn="l">
              <a:lnSpc>
                <a:spcPct val="115000"/>
              </a:lnSpc>
              <a:spcBef>
                <a:spcPts val="3000"/>
              </a:spcBef>
              <a:spcAft>
                <a:spcPts val="3000"/>
              </a:spcAft>
              <a:buSzPts val="1100"/>
              <a:buNone/>
            </a:pPr>
            <a:r>
              <a:t/>
            </a:r>
            <a:endParaRPr>
              <a:solidFill>
                <a:srgbClr val="1B1C1D"/>
              </a:solidFill>
            </a:endParaRPr>
          </a:p>
        </p:txBody>
      </p:sp>
      <p:sp>
        <p:nvSpPr>
          <p:cNvPr id="250" name="Google Shape;250;g3708bf00c7c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g3708bf00c7c_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a:solidFill>
                  <a:srgbClr val="1B1C1D"/>
                </a:solidFill>
              </a:rPr>
              <a:t>Let's take a moment to compare the three word embedding models we've discussed: Word2Vec, GloVe, and BERT.</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A critical distinction lies in their </a:t>
            </a:r>
            <a:r>
              <a:rPr b="1" lang="en-US">
                <a:solidFill>
                  <a:srgbClr val="1B1C1D"/>
                </a:solidFill>
              </a:rPr>
              <a:t>contextual understanding</a:t>
            </a:r>
            <a:r>
              <a:rPr lang="en-US">
                <a:solidFill>
                  <a:srgbClr val="1B1C1D"/>
                </a:solidFill>
              </a:rPr>
              <a:t>. Word2Vec and GloVe are </a:t>
            </a:r>
            <a:r>
              <a:rPr b="1" lang="en-US">
                <a:solidFill>
                  <a:srgbClr val="1B1C1D"/>
                </a:solidFill>
              </a:rPr>
              <a:t>not contextual</a:t>
            </a:r>
            <a:r>
              <a:rPr lang="en-US">
                <a:solidFill>
                  <a:srgbClr val="1B1C1D"/>
                </a:solidFill>
              </a:rPr>
              <a:t>; they produce a single fixed embedding for each word, regardless of the surrounding words. In contrast, BERT is explicitly </a:t>
            </a:r>
            <a:r>
              <a:rPr b="1" lang="en-US">
                <a:solidFill>
                  <a:srgbClr val="1B1C1D"/>
                </a:solidFill>
              </a:rPr>
              <a:t>contextual</a:t>
            </a:r>
            <a:r>
              <a:rPr lang="en-US">
                <a:solidFill>
                  <a:srgbClr val="1B1C1D"/>
                </a:solidFill>
              </a:rPr>
              <a:t>, generating dynamic embeddings that change based on the word's usage in a sentence.</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In terms of </a:t>
            </a:r>
            <a:r>
              <a:rPr b="1" lang="en-US">
                <a:solidFill>
                  <a:srgbClr val="1B1C1D"/>
                </a:solidFill>
              </a:rPr>
              <a:t>dimensionality</a:t>
            </a:r>
            <a:r>
              <a:rPr lang="en-US">
                <a:solidFill>
                  <a:srgbClr val="1B1C1D"/>
                </a:solidFill>
              </a:rPr>
              <a:t>, Word2Vec and GloVe typically produce embeddings in the range of 100 to 300 dimensions. BERT, being a much deeper model, typically generates higher-dimensional embeddings, often 768 dimensions or more. While higher dimensionality can sometimes imply more information, the power of BERT lies more in its contextual nature.</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Finally, all three models have </a:t>
            </a:r>
            <a:r>
              <a:rPr b="1" lang="en-US">
                <a:solidFill>
                  <a:srgbClr val="1B1C1D"/>
                </a:solidFill>
              </a:rPr>
              <a:t>pretrained versions available</a:t>
            </a:r>
            <a:r>
              <a:rPr lang="en-US">
                <a:solidFill>
                  <a:srgbClr val="1B1C1D"/>
                </a:solidFill>
              </a:rPr>
              <a:t>, which is a huge advantage for practitioners. This means you don't always need to train these models from scratch on your own data, which can be computationally intensive. You can leverage models already trained on vast amounts of text, saving time and resources.</a:t>
            </a:r>
            <a:endParaRPr>
              <a:solidFill>
                <a:srgbClr val="1B1C1D"/>
              </a:solidFill>
            </a:endParaRPr>
          </a:p>
          <a:p>
            <a:pPr indent="0" lvl="0" marL="914400" rtl="0" algn="l">
              <a:lnSpc>
                <a:spcPct val="115000"/>
              </a:lnSpc>
              <a:spcBef>
                <a:spcPts val="3000"/>
              </a:spcBef>
              <a:spcAft>
                <a:spcPts val="3000"/>
              </a:spcAft>
              <a:buSzPts val="1100"/>
              <a:buNone/>
            </a:pPr>
            <a:r>
              <a:t/>
            </a:r>
            <a:endParaRPr>
              <a:solidFill>
                <a:srgbClr val="1B1C1D"/>
              </a:solidFill>
            </a:endParaRPr>
          </a:p>
        </p:txBody>
      </p:sp>
      <p:sp>
        <p:nvSpPr>
          <p:cNvPr id="259" name="Google Shape;259;g3708bf00c7c_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708bf00c7c_0_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a:solidFill>
                  <a:srgbClr val="1B1C1D"/>
                </a:solidFill>
              </a:rPr>
              <a:t>Now, let's shift our focus to another foundational NLP preprocessing technique: Part-of-Speech (POS) Tagging.</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At its core, </a:t>
            </a:r>
            <a:r>
              <a:rPr b="1" lang="en-US">
                <a:solidFill>
                  <a:srgbClr val="1B1C1D"/>
                </a:solidFill>
              </a:rPr>
              <a:t>POS tagging is the process of assigning a grammatical category, or "part of speech," to each word in a given text</a:t>
            </a:r>
            <a:r>
              <a:rPr lang="en-US">
                <a:solidFill>
                  <a:srgbClr val="1B1C1D"/>
                </a:solidFill>
              </a:rPr>
              <a:t>. These categories include common roles like nouns, verbs, adjectives, adverbs, prepositions, and so on.</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Consider the example sentence: "The cat sat on the mat". A POS tagger would analyse this sentence and assign tags such as:</a:t>
            </a:r>
            <a:endParaRPr>
              <a:solidFill>
                <a:srgbClr val="1B1C1D"/>
              </a:solidFill>
            </a:endParaRPr>
          </a:p>
          <a:p>
            <a:pPr indent="-298450" lvl="2" marL="1371600" rtl="0" algn="l">
              <a:lnSpc>
                <a:spcPct val="115000"/>
              </a:lnSpc>
              <a:spcBef>
                <a:spcPts val="0"/>
              </a:spcBef>
              <a:spcAft>
                <a:spcPts val="0"/>
              </a:spcAft>
              <a:buClr>
                <a:srgbClr val="1B1C1D"/>
              </a:buClr>
              <a:buSzPts val="1100"/>
              <a:buChar char="■"/>
            </a:pPr>
            <a:r>
              <a:rPr lang="en-US">
                <a:solidFill>
                  <a:srgbClr val="1B1C1D"/>
                </a:solidFill>
              </a:rPr>
              <a:t>"The" -&gt; DT (Determiner)</a:t>
            </a:r>
            <a:endParaRPr>
              <a:solidFill>
                <a:srgbClr val="1B1C1D"/>
              </a:solidFill>
            </a:endParaRPr>
          </a:p>
          <a:p>
            <a:pPr indent="-298450" lvl="2" marL="1371600" rtl="0" algn="l">
              <a:lnSpc>
                <a:spcPct val="115000"/>
              </a:lnSpc>
              <a:spcBef>
                <a:spcPts val="0"/>
              </a:spcBef>
              <a:spcAft>
                <a:spcPts val="0"/>
              </a:spcAft>
              <a:buClr>
                <a:srgbClr val="1B1C1D"/>
              </a:buClr>
              <a:buSzPts val="1100"/>
              <a:buChar char="■"/>
            </a:pPr>
            <a:r>
              <a:rPr lang="en-US">
                <a:solidFill>
                  <a:srgbClr val="1B1C1D"/>
                </a:solidFill>
              </a:rPr>
              <a:t>"cat" -&gt; NN (Noun, singular)</a:t>
            </a:r>
            <a:endParaRPr>
              <a:solidFill>
                <a:srgbClr val="1B1C1D"/>
              </a:solidFill>
            </a:endParaRPr>
          </a:p>
          <a:p>
            <a:pPr indent="-298450" lvl="2" marL="1371600" rtl="0" algn="l">
              <a:lnSpc>
                <a:spcPct val="115000"/>
              </a:lnSpc>
              <a:spcBef>
                <a:spcPts val="0"/>
              </a:spcBef>
              <a:spcAft>
                <a:spcPts val="0"/>
              </a:spcAft>
              <a:buClr>
                <a:srgbClr val="1B1C1D"/>
              </a:buClr>
              <a:buSzPts val="1100"/>
              <a:buChar char="■"/>
            </a:pPr>
            <a:r>
              <a:rPr lang="en-US">
                <a:solidFill>
                  <a:srgbClr val="1B1C1D"/>
                </a:solidFill>
              </a:rPr>
              <a:t>"sat" -&gt; VBD (Verb, past tense)</a:t>
            </a:r>
            <a:endParaRPr>
              <a:solidFill>
                <a:srgbClr val="1B1C1D"/>
              </a:solidFill>
            </a:endParaRPr>
          </a:p>
          <a:p>
            <a:pPr indent="-298450" lvl="2" marL="1371600" rtl="0" algn="l">
              <a:lnSpc>
                <a:spcPct val="115000"/>
              </a:lnSpc>
              <a:spcBef>
                <a:spcPts val="0"/>
              </a:spcBef>
              <a:spcAft>
                <a:spcPts val="0"/>
              </a:spcAft>
              <a:buClr>
                <a:srgbClr val="1B1C1D"/>
              </a:buClr>
              <a:buSzPts val="1100"/>
              <a:buChar char="■"/>
            </a:pPr>
            <a:r>
              <a:rPr lang="en-US">
                <a:solidFill>
                  <a:srgbClr val="1B1C1D"/>
                </a:solidFill>
              </a:rPr>
              <a:t>"on" -&gt; IN (Preposition)</a:t>
            </a:r>
            <a:endParaRPr>
              <a:solidFill>
                <a:srgbClr val="1B1C1D"/>
              </a:solidFill>
            </a:endParaRPr>
          </a:p>
          <a:p>
            <a:pPr indent="-298450" lvl="2" marL="1371600" rtl="0" algn="l">
              <a:lnSpc>
                <a:spcPct val="115000"/>
              </a:lnSpc>
              <a:spcBef>
                <a:spcPts val="0"/>
              </a:spcBef>
              <a:spcAft>
                <a:spcPts val="0"/>
              </a:spcAft>
              <a:buClr>
                <a:srgbClr val="1B1C1D"/>
              </a:buClr>
              <a:buSzPts val="1100"/>
              <a:buChar char="■"/>
            </a:pPr>
            <a:r>
              <a:rPr lang="en-US">
                <a:solidFill>
                  <a:srgbClr val="1B1C1D"/>
                </a:solidFill>
              </a:rPr>
              <a:t>"the" -&gt; DT (Determiner)</a:t>
            </a:r>
            <a:endParaRPr>
              <a:solidFill>
                <a:srgbClr val="1B1C1D"/>
              </a:solidFill>
            </a:endParaRPr>
          </a:p>
          <a:p>
            <a:pPr indent="-298450" lvl="2" marL="1371600" rtl="0" algn="l">
              <a:lnSpc>
                <a:spcPct val="115000"/>
              </a:lnSpc>
              <a:spcBef>
                <a:spcPts val="0"/>
              </a:spcBef>
              <a:spcAft>
                <a:spcPts val="0"/>
              </a:spcAft>
              <a:buClr>
                <a:srgbClr val="1B1C1D"/>
              </a:buClr>
              <a:buSzPts val="1100"/>
              <a:buChar char="■"/>
            </a:pPr>
            <a:r>
              <a:rPr lang="en-US">
                <a:solidFill>
                  <a:srgbClr val="1B1C1D"/>
                </a:solidFill>
              </a:rPr>
              <a:t>"mat" -&gt; NN (Noun, singular)</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These tags provide valuable syntactic information about the words in a sentence, which can be incredibly useful for downstream NLP tasks.</a:t>
            </a:r>
            <a:endParaRPr>
              <a:solidFill>
                <a:srgbClr val="1B1C1D"/>
              </a:solidFill>
            </a:endParaRPr>
          </a:p>
          <a:p>
            <a:pPr indent="0" lvl="0" marL="914400" rtl="0" algn="l">
              <a:lnSpc>
                <a:spcPct val="115000"/>
              </a:lnSpc>
              <a:spcBef>
                <a:spcPts val="3000"/>
              </a:spcBef>
              <a:spcAft>
                <a:spcPts val="3000"/>
              </a:spcAft>
              <a:buSzPts val="1100"/>
              <a:buNone/>
            </a:pPr>
            <a:r>
              <a:t/>
            </a:r>
            <a:endParaRPr>
              <a:solidFill>
                <a:srgbClr val="1B1C1D"/>
              </a:solidFill>
            </a:endParaRPr>
          </a:p>
        </p:txBody>
      </p:sp>
      <p:sp>
        <p:nvSpPr>
          <p:cNvPr id="269" name="Google Shape;269;g3708bf00c7c_0_5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3708bf00c7c_0_6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a:solidFill>
                  <a:srgbClr val="1B1C1D"/>
                </a:solidFill>
              </a:rPr>
              <a:t>For implementing POS tagging, there are several excellent Python libraries available.</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The </a:t>
            </a:r>
            <a:r>
              <a:rPr lang="en-US">
                <a:solidFill>
                  <a:srgbClr val="575B5F"/>
                </a:solidFill>
                <a:highlight>
                  <a:srgbClr val="E9EEF6"/>
                </a:highlight>
              </a:rPr>
              <a:t>nltk</a:t>
            </a:r>
            <a:r>
              <a:rPr lang="en-US">
                <a:solidFill>
                  <a:srgbClr val="1B1C1D"/>
                </a:solidFill>
              </a:rPr>
              <a:t> (Natural Language Toolkit) library is a classic choice and provides the </a:t>
            </a:r>
            <a:r>
              <a:rPr lang="en-US">
                <a:solidFill>
                  <a:srgbClr val="575B5F"/>
                </a:solidFill>
                <a:highlight>
                  <a:srgbClr val="E9EEF6"/>
                </a:highlight>
              </a:rPr>
              <a:t>nltk.pos_tag()</a:t>
            </a:r>
            <a:r>
              <a:rPr lang="en-US">
                <a:solidFill>
                  <a:srgbClr val="1B1C1D"/>
                </a:solidFill>
              </a:rPr>
              <a:t> function for this purpose.</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Another powerful and often faster alternative is </a:t>
            </a:r>
            <a:r>
              <a:rPr lang="en-US">
                <a:solidFill>
                  <a:srgbClr val="575B5F"/>
                </a:solidFill>
                <a:highlight>
                  <a:srgbClr val="E9EEF6"/>
                </a:highlight>
              </a:rPr>
              <a:t>spaCy</a:t>
            </a:r>
            <a:r>
              <a:rPr lang="en-US">
                <a:solidFill>
                  <a:srgbClr val="1B1C1D"/>
                </a:solidFill>
              </a:rPr>
              <a:t>. You can load a pre-trained English model, like </a:t>
            </a:r>
            <a:r>
              <a:rPr lang="en-US">
                <a:solidFill>
                  <a:srgbClr val="575B5F"/>
                </a:solidFill>
                <a:highlight>
                  <a:srgbClr val="E9EEF6"/>
                </a:highlight>
              </a:rPr>
              <a:t>en_core_web_sm</a:t>
            </a:r>
            <a:r>
              <a:rPr lang="en-US">
                <a:solidFill>
                  <a:srgbClr val="1B1C1D"/>
                </a:solidFill>
              </a:rPr>
              <a:t>, and use its </a:t>
            </a:r>
            <a:r>
              <a:rPr lang="en-US">
                <a:solidFill>
                  <a:srgbClr val="575B5F"/>
                </a:solidFill>
                <a:highlight>
                  <a:srgbClr val="E9EEF6"/>
                </a:highlight>
              </a:rPr>
              <a:t>POS</a:t>
            </a:r>
            <a:r>
              <a:rPr lang="en-US">
                <a:solidFill>
                  <a:srgbClr val="1B1C1D"/>
                </a:solidFill>
              </a:rPr>
              <a:t> attribute to get the part-of-speech tags.</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In terms of </a:t>
            </a:r>
            <a:r>
              <a:rPr b="1" lang="en-US">
                <a:solidFill>
                  <a:srgbClr val="1B1C1D"/>
                </a:solidFill>
              </a:rPr>
              <a:t>use cases</a:t>
            </a:r>
            <a:r>
              <a:rPr lang="en-US">
                <a:solidFill>
                  <a:srgbClr val="1B1C1D"/>
                </a:solidFill>
              </a:rPr>
              <a:t>, POS tagging is highly valuable. It's essential for tasks like </a:t>
            </a:r>
            <a:r>
              <a:rPr b="1" lang="en-US">
                <a:solidFill>
                  <a:srgbClr val="1B1C1D"/>
                </a:solidFill>
              </a:rPr>
              <a:t>syntactic parsing</a:t>
            </a:r>
            <a:r>
              <a:rPr lang="en-US">
                <a:solidFill>
                  <a:srgbClr val="1B1C1D"/>
                </a:solidFill>
              </a:rPr>
              <a:t>, where you need to understand the grammatical structure of sentences. It significantly aids in </a:t>
            </a:r>
            <a:r>
              <a:rPr b="1" lang="en-US">
                <a:solidFill>
                  <a:srgbClr val="1B1C1D"/>
                </a:solidFill>
              </a:rPr>
              <a:t>sentiment analysis</a:t>
            </a:r>
            <a:r>
              <a:rPr lang="en-US">
                <a:solidFill>
                  <a:srgbClr val="1B1C1D"/>
                </a:solidFill>
              </a:rPr>
              <a:t> by allowing you to focus on words that typically carry sentiment, such as adjectives and adverbs. More broadly, it's a powerful tool for </a:t>
            </a:r>
            <a:r>
              <a:rPr b="1" lang="en-US">
                <a:solidFill>
                  <a:srgbClr val="1B1C1D"/>
                </a:solidFill>
              </a:rPr>
              <a:t>feature extraction in various NLP pipelines</a:t>
            </a:r>
            <a:r>
              <a:rPr lang="en-US">
                <a:solidFill>
                  <a:srgbClr val="1B1C1D"/>
                </a:solidFill>
              </a:rPr>
              <a:t>, as knowing a word's grammatical role can help in creating more refined and informative features for machine learning models.</a:t>
            </a:r>
            <a:endParaRPr>
              <a:solidFill>
                <a:srgbClr val="1B1C1D"/>
              </a:solidFill>
            </a:endParaRPr>
          </a:p>
          <a:p>
            <a:pPr indent="0" lvl="0" marL="914400" rtl="0" algn="l">
              <a:lnSpc>
                <a:spcPct val="115000"/>
              </a:lnSpc>
              <a:spcBef>
                <a:spcPts val="3000"/>
              </a:spcBef>
              <a:spcAft>
                <a:spcPts val="3000"/>
              </a:spcAft>
              <a:buSzPts val="1100"/>
              <a:buNone/>
            </a:pPr>
            <a:r>
              <a:t/>
            </a:r>
            <a:endParaRPr>
              <a:solidFill>
                <a:srgbClr val="1B1C1D"/>
              </a:solidFill>
            </a:endParaRPr>
          </a:p>
        </p:txBody>
      </p:sp>
      <p:sp>
        <p:nvSpPr>
          <p:cNvPr id="278" name="Google Shape;278;g3708bf00c7c_0_6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708bf00c7c_0_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a:solidFill>
                  <a:srgbClr val="1B1C1D"/>
                </a:solidFill>
              </a:rPr>
              <a:t>To wrap up our discussion on text feature engineering techniques, let's briefly summarize some of the common Python libraries and their specific tools that you'll encounter and use in practice.</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For basic </a:t>
            </a:r>
            <a:r>
              <a:rPr b="1" lang="en-US">
                <a:solidFill>
                  <a:srgbClr val="1B1C1D"/>
                </a:solidFill>
              </a:rPr>
              <a:t>text vectorization</a:t>
            </a:r>
            <a:r>
              <a:rPr lang="en-US">
                <a:solidFill>
                  <a:srgbClr val="1B1C1D"/>
                </a:solidFill>
              </a:rPr>
              <a:t> methods like Bag of Words and TF-IDF, the </a:t>
            </a:r>
            <a:r>
              <a:rPr lang="en-US">
                <a:solidFill>
                  <a:srgbClr val="575B5F"/>
                </a:solidFill>
                <a:highlight>
                  <a:srgbClr val="E9EEF6"/>
                </a:highlight>
              </a:rPr>
              <a:t>sklearn</a:t>
            </a:r>
            <a:r>
              <a:rPr lang="en-US">
                <a:solidFill>
                  <a:srgbClr val="1B1C1D"/>
                </a:solidFill>
              </a:rPr>
              <a:t> library, specifically its </a:t>
            </a:r>
            <a:r>
              <a:rPr lang="en-US">
                <a:solidFill>
                  <a:srgbClr val="575B5F"/>
                </a:solidFill>
                <a:highlight>
                  <a:srgbClr val="E9EEF6"/>
                </a:highlight>
              </a:rPr>
              <a:t>CountVectorizer</a:t>
            </a:r>
            <a:r>
              <a:rPr lang="en-US">
                <a:solidFill>
                  <a:srgbClr val="1B1C1D"/>
                </a:solidFill>
              </a:rPr>
              <a:t> and </a:t>
            </a:r>
            <a:r>
              <a:rPr lang="en-US">
                <a:solidFill>
                  <a:srgbClr val="575B5F"/>
                </a:solidFill>
                <a:highlight>
                  <a:srgbClr val="E9EEF6"/>
                </a:highlight>
              </a:rPr>
              <a:t>TfidfVectorizer</a:t>
            </a:r>
            <a:r>
              <a:rPr lang="en-US">
                <a:solidFill>
                  <a:srgbClr val="1B1C1D"/>
                </a:solidFill>
              </a:rPr>
              <a:t> classes, are your go-to tools.</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For fundamental preprocessing steps like </a:t>
            </a:r>
            <a:r>
              <a:rPr b="1" lang="en-US">
                <a:solidFill>
                  <a:srgbClr val="1B1C1D"/>
                </a:solidFill>
              </a:rPr>
              <a:t>tokenization and POS tagging</a:t>
            </a:r>
            <a:r>
              <a:rPr lang="en-US">
                <a:solidFill>
                  <a:srgbClr val="1B1C1D"/>
                </a:solidFill>
              </a:rPr>
              <a:t>, the </a:t>
            </a:r>
            <a:r>
              <a:rPr lang="en-US">
                <a:solidFill>
                  <a:srgbClr val="575B5F"/>
                </a:solidFill>
                <a:highlight>
                  <a:srgbClr val="E9EEF6"/>
                </a:highlight>
              </a:rPr>
              <a:t>nltk</a:t>
            </a:r>
            <a:r>
              <a:rPr lang="en-US">
                <a:solidFill>
                  <a:srgbClr val="1B1C1D"/>
                </a:solidFill>
              </a:rPr>
              <a:t> library provides useful functions like </a:t>
            </a:r>
            <a:r>
              <a:rPr lang="en-US">
                <a:solidFill>
                  <a:srgbClr val="575B5F"/>
                </a:solidFill>
                <a:highlight>
                  <a:srgbClr val="E9EEF6"/>
                </a:highlight>
              </a:rPr>
              <a:t>word_tokenize</a:t>
            </a:r>
            <a:r>
              <a:rPr lang="en-US">
                <a:solidFill>
                  <a:srgbClr val="1B1C1D"/>
                </a:solidFill>
              </a:rPr>
              <a:t> and </a:t>
            </a:r>
            <a:r>
              <a:rPr lang="en-US">
                <a:solidFill>
                  <a:srgbClr val="575B5F"/>
                </a:solidFill>
                <a:highlight>
                  <a:srgbClr val="E9EEF6"/>
                </a:highlight>
              </a:rPr>
              <a:t>pos_tag</a:t>
            </a:r>
            <a:r>
              <a:rPr lang="en-US">
                <a:solidFill>
                  <a:srgbClr val="1B1C1D"/>
                </a:solidFill>
              </a:rPr>
              <a:t>.</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When you need a </a:t>
            </a:r>
            <a:r>
              <a:rPr b="1" lang="en-US">
                <a:solidFill>
                  <a:srgbClr val="1B1C1D"/>
                </a:solidFill>
              </a:rPr>
              <a:t>fast and efficient NLP pipeline</a:t>
            </a:r>
            <a:r>
              <a:rPr lang="en-US">
                <a:solidFill>
                  <a:srgbClr val="1B1C1D"/>
                </a:solidFill>
              </a:rPr>
              <a:t> that includes tokenization, POS tagging, and other linguistic annotations, </a:t>
            </a:r>
            <a:r>
              <a:rPr lang="en-US">
                <a:solidFill>
                  <a:srgbClr val="575B5F"/>
                </a:solidFill>
                <a:highlight>
                  <a:srgbClr val="E9EEF6"/>
                </a:highlight>
              </a:rPr>
              <a:t>spaCy</a:t>
            </a:r>
            <a:r>
              <a:rPr lang="en-US">
                <a:solidFill>
                  <a:srgbClr val="1B1C1D"/>
                </a:solidFill>
              </a:rPr>
              <a:t> is an excellent choice, with its </a:t>
            </a:r>
            <a:r>
              <a:rPr lang="en-US">
                <a:solidFill>
                  <a:srgbClr val="575B5F"/>
                </a:solidFill>
                <a:highlight>
                  <a:srgbClr val="E9EEF6"/>
                </a:highlight>
              </a:rPr>
              <a:t>nlp.pipe</a:t>
            </a:r>
            <a:r>
              <a:rPr lang="en-US">
                <a:solidFill>
                  <a:srgbClr val="1B1C1D"/>
                </a:solidFill>
              </a:rPr>
              <a:t> and </a:t>
            </a:r>
            <a:r>
              <a:rPr lang="en-US">
                <a:solidFill>
                  <a:srgbClr val="575B5F"/>
                </a:solidFill>
                <a:highlight>
                  <a:srgbClr val="E9EEF6"/>
                </a:highlight>
              </a:rPr>
              <a:t>POS</a:t>
            </a:r>
            <a:r>
              <a:rPr lang="en-US">
                <a:solidFill>
                  <a:srgbClr val="1B1C1D"/>
                </a:solidFill>
              </a:rPr>
              <a:t> functionalities.</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For generating </a:t>
            </a:r>
            <a:r>
              <a:rPr b="1" lang="en-US">
                <a:solidFill>
                  <a:srgbClr val="1B1C1D"/>
                </a:solidFill>
              </a:rPr>
              <a:t>semantic embeddings</a:t>
            </a:r>
            <a:r>
              <a:rPr lang="en-US">
                <a:solidFill>
                  <a:srgbClr val="1B1C1D"/>
                </a:solidFill>
              </a:rPr>
              <a:t> like Word2Vec and Doc2Vec, the </a:t>
            </a:r>
            <a:r>
              <a:rPr lang="en-US">
                <a:solidFill>
                  <a:srgbClr val="575B5F"/>
                </a:solidFill>
                <a:highlight>
                  <a:srgbClr val="E9EEF6"/>
                </a:highlight>
              </a:rPr>
              <a:t>gensim</a:t>
            </a:r>
            <a:r>
              <a:rPr lang="en-US">
                <a:solidFill>
                  <a:srgbClr val="1B1C1D"/>
                </a:solidFill>
              </a:rPr>
              <a:t> library is the standard.</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And finally, for working with advanced </a:t>
            </a:r>
            <a:r>
              <a:rPr b="1" lang="en-US">
                <a:solidFill>
                  <a:srgbClr val="1B1C1D"/>
                </a:solidFill>
              </a:rPr>
              <a:t>deep contextual embeddings</a:t>
            </a:r>
            <a:r>
              <a:rPr lang="en-US">
                <a:solidFill>
                  <a:srgbClr val="1B1C1D"/>
                </a:solidFill>
              </a:rPr>
              <a:t> such as BERT, the </a:t>
            </a:r>
            <a:r>
              <a:rPr lang="en-US">
                <a:solidFill>
                  <a:srgbClr val="575B5F"/>
                </a:solidFill>
                <a:highlight>
                  <a:srgbClr val="E9EEF6"/>
                </a:highlight>
              </a:rPr>
              <a:t>transformers</a:t>
            </a:r>
            <a:r>
              <a:rPr lang="en-US">
                <a:solidFill>
                  <a:srgbClr val="1B1C1D"/>
                </a:solidFill>
              </a:rPr>
              <a:t> library by HuggingFace is the industry-standard, providing access to pre-trained BERT models and their associated tokenizers. This table provides a quick reference for the tools you'll be using in the upcoming practical session.</a:t>
            </a:r>
            <a:endParaRPr>
              <a:solidFill>
                <a:srgbClr val="1B1C1D"/>
              </a:solidFill>
            </a:endParaRPr>
          </a:p>
          <a:p>
            <a:pPr indent="0" lvl="0" marL="914400" rtl="0" algn="l">
              <a:lnSpc>
                <a:spcPct val="115000"/>
              </a:lnSpc>
              <a:spcBef>
                <a:spcPts val="3000"/>
              </a:spcBef>
              <a:spcAft>
                <a:spcPts val="3000"/>
              </a:spcAft>
              <a:buSzPts val="1100"/>
              <a:buNone/>
            </a:pPr>
            <a:r>
              <a:t/>
            </a:r>
            <a:endParaRPr>
              <a:solidFill>
                <a:srgbClr val="1B1C1D"/>
              </a:solidFill>
            </a:endParaRPr>
          </a:p>
        </p:txBody>
      </p:sp>
      <p:sp>
        <p:nvSpPr>
          <p:cNvPr id="287" name="Google Shape;287;g3708bf00c7c_0_7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3708bf00c7c_0_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US">
                <a:solidFill>
                  <a:srgbClr val="1B1C1D"/>
                </a:solidFill>
              </a:rPr>
              <a:t>To conclude this module, it's crucial to understand that feature engineering in NLP is by no means a one-size-fits-all approach. There isn't a single "best" technique that applies to every scenario.</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The optimal choice between methods like Bag of Words, TF-IDF, Word2Vec, or BERT largely depends on several factors: the inherent </a:t>
            </a:r>
            <a:r>
              <a:rPr b="1" lang="en-US">
                <a:solidFill>
                  <a:srgbClr val="1B1C1D"/>
                </a:solidFill>
              </a:rPr>
              <a:t>complexity of the problem</a:t>
            </a:r>
            <a:r>
              <a:rPr lang="en-US">
                <a:solidFill>
                  <a:srgbClr val="1B1C1D"/>
                </a:solidFill>
              </a:rPr>
              <a:t> you're trying to solve, the </a:t>
            </a:r>
            <a:r>
              <a:rPr b="1" lang="en-US">
                <a:solidFill>
                  <a:srgbClr val="1B1C1D"/>
                </a:solidFill>
              </a:rPr>
              <a:t>availability of data</a:t>
            </a:r>
            <a:r>
              <a:rPr lang="en-US">
                <a:solidFill>
                  <a:srgbClr val="1B1C1D"/>
                </a:solidFill>
              </a:rPr>
              <a:t> (both in quantity and quality), and your </a:t>
            </a:r>
            <a:r>
              <a:rPr b="1" lang="en-US">
                <a:solidFill>
                  <a:srgbClr val="1B1C1D"/>
                </a:solidFill>
              </a:rPr>
              <a:t>computational resources</a:t>
            </a:r>
            <a:r>
              <a:rPr lang="en-US">
                <a:solidFill>
                  <a:srgbClr val="1B1C1D"/>
                </a:solidFill>
              </a:rPr>
              <a:t>. For simpler tasks and smaller datasets, simpler methods might suffice, while complex tasks with abundant data might warrant more sophisticated deep learning-based embeddings.</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In this module, we've laid the essential foundation for how to transform raw, unstructured text into rich, numerical features that machines can actually learn from. This transformation is where the real power of NLP begins.</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Remember, the ultimate power of any NLP system doesn't just lie in the advanced algorithms you choose, but critically, in the </a:t>
            </a:r>
            <a:r>
              <a:rPr b="1" lang="en-US">
                <a:solidFill>
                  <a:srgbClr val="1B1C1D"/>
                </a:solidFill>
              </a:rPr>
              <a:t>quality and meaning of the features you generate</a:t>
            </a:r>
            <a:r>
              <a:rPr lang="en-US">
                <a:solidFill>
                  <a:srgbClr val="1B1C1D"/>
                </a:solidFill>
              </a:rPr>
              <a:t>.</a:t>
            </a:r>
            <a:endParaRPr>
              <a:solidFill>
                <a:srgbClr val="1B1C1D"/>
              </a:solidFill>
            </a:endParaRPr>
          </a:p>
          <a:p>
            <a:pPr indent="0" lvl="0" marL="0" rtl="0" algn="l">
              <a:lnSpc>
                <a:spcPct val="115000"/>
              </a:lnSpc>
              <a:spcBef>
                <a:spcPts val="0"/>
              </a:spcBef>
              <a:spcAft>
                <a:spcPts val="0"/>
              </a:spcAft>
              <a:buNone/>
            </a:pPr>
            <a:r>
              <a:t/>
            </a:r>
            <a:endParaRPr>
              <a:solidFill>
                <a:srgbClr val="1B1C1D"/>
              </a:solidFill>
            </a:endParaRPr>
          </a:p>
          <a:p>
            <a:pPr indent="0" lvl="0" marL="0" rtl="0" algn="l">
              <a:lnSpc>
                <a:spcPct val="115000"/>
              </a:lnSpc>
              <a:spcBef>
                <a:spcPts val="0"/>
              </a:spcBef>
              <a:spcAft>
                <a:spcPts val="0"/>
              </a:spcAft>
              <a:buNone/>
            </a:pPr>
            <a:r>
              <a:rPr lang="en-US">
                <a:solidFill>
                  <a:srgbClr val="1B1C1D"/>
                </a:solidFill>
              </a:rPr>
              <a:t>Ultimately, the more meaningful and informative your text representation, the more powerful and accurate your machine learning model will become. This is what we will explore further in our practical lab sessions.</a:t>
            </a:r>
            <a:endParaRPr>
              <a:solidFill>
                <a:schemeClr val="dk1"/>
              </a:solidFill>
            </a:endParaRPr>
          </a:p>
          <a:p>
            <a:pPr indent="0" lvl="0" marL="914400" rtl="0" algn="l">
              <a:lnSpc>
                <a:spcPct val="115000"/>
              </a:lnSpc>
              <a:spcBef>
                <a:spcPts val="3000"/>
              </a:spcBef>
              <a:spcAft>
                <a:spcPts val="3000"/>
              </a:spcAft>
              <a:buSzPts val="1100"/>
              <a:buNone/>
            </a:pPr>
            <a:r>
              <a:t/>
            </a:r>
            <a:endParaRPr>
              <a:solidFill>
                <a:srgbClr val="1B1C1D"/>
              </a:solidFill>
            </a:endParaRPr>
          </a:p>
        </p:txBody>
      </p:sp>
      <p:sp>
        <p:nvSpPr>
          <p:cNvPr id="297" name="Google Shape;297;g3708bf00c7c_0_9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06" name="Google Shape;3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0"/>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10"/>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17" name="Google Shape;17;p10"/>
          <p:cNvPicPr preferRelativeResize="0"/>
          <p:nvPr/>
        </p:nvPicPr>
        <p:blipFill rotWithShape="1">
          <a:blip r:embed="rId2">
            <a:alphaModFix/>
          </a:blip>
          <a:srcRect b="0" l="0" r="0" t="0"/>
          <a:stretch/>
        </p:blipFill>
        <p:spPr>
          <a:xfrm>
            <a:off x="-2" y="6466115"/>
            <a:ext cx="12204000" cy="10800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 name="Shape 18"/>
        <p:cNvGrpSpPr/>
        <p:nvPr/>
      </p:nvGrpSpPr>
      <p:grpSpPr>
        <a:xfrm>
          <a:off x="0" y="0"/>
          <a:ext cx="0" cy="0"/>
          <a:chOff x="0" y="0"/>
          <a:chExt cx="0" cy="0"/>
        </a:xfrm>
      </p:grpSpPr>
      <p:sp>
        <p:nvSpPr>
          <p:cNvPr id="19" name="Google Shape;19;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2" name="Shape 22"/>
        <p:cNvGrpSpPr/>
        <p:nvPr/>
      </p:nvGrpSpPr>
      <p:grpSpPr>
        <a:xfrm>
          <a:off x="0" y="0"/>
          <a:ext cx="0" cy="0"/>
          <a:chOff x="0" y="0"/>
          <a:chExt cx="0" cy="0"/>
        </a:xfrm>
      </p:grpSpPr>
      <p:sp>
        <p:nvSpPr>
          <p:cNvPr id="23" name="Google Shape;23;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13"/>
          <p:cNvSpPr txBox="1"/>
          <p:nvPr>
            <p:ph type="title"/>
          </p:nvPr>
        </p:nvSpPr>
        <p:spPr>
          <a:xfrm>
            <a:off x="441960" y="349885"/>
            <a:ext cx="9326880" cy="93066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4400"/>
              <a:buFont typeface="Arial Narrow"/>
              <a:buNone/>
              <a:defRPr b="1" i="0">
                <a:latin typeface="Arial Narrow"/>
                <a:ea typeface="Arial Narrow"/>
                <a:cs typeface="Arial Narrow"/>
                <a:sym typeface="Arial Narrow"/>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3"/>
          <p:cNvSpPr txBox="1"/>
          <p:nvPr>
            <p:ph idx="1" type="body"/>
          </p:nvPr>
        </p:nvSpPr>
        <p:spPr>
          <a:xfrm>
            <a:off x="533400" y="1825625"/>
            <a:ext cx="11323320" cy="4351338"/>
          </a:xfrm>
          <a:prstGeom prst="rect">
            <a:avLst/>
          </a:prstGeom>
          <a:noFill/>
          <a:ln>
            <a:noFill/>
          </a:ln>
        </p:spPr>
        <p:txBody>
          <a:bodyPr anchorCtr="0" anchor="t" bIns="45700" lIns="91425" spcFirstLastPara="1" rIns="91425" wrap="square" tIns="45700">
            <a:normAutofit/>
          </a:bodyPr>
          <a:lstStyle>
            <a:lvl1pPr indent="-381000" lvl="0" marL="457200" algn="l">
              <a:lnSpc>
                <a:spcPct val="90000"/>
              </a:lnSpc>
              <a:spcBef>
                <a:spcPts val="1000"/>
              </a:spcBef>
              <a:spcAft>
                <a:spcPts val="0"/>
              </a:spcAft>
              <a:buClr>
                <a:schemeClr val="dk1"/>
              </a:buClr>
              <a:buSzPts val="2400"/>
              <a:buChar char="•"/>
              <a:defRPr sz="2400"/>
            </a:lvl1pPr>
            <a:lvl2pPr indent="-355600" lvl="1" marL="914400" algn="l">
              <a:lnSpc>
                <a:spcPct val="90000"/>
              </a:lnSpc>
              <a:spcBef>
                <a:spcPts val="500"/>
              </a:spcBef>
              <a:spcAft>
                <a:spcPts val="0"/>
              </a:spcAft>
              <a:buClr>
                <a:schemeClr val="dk1"/>
              </a:buClr>
              <a:buSzPts val="2000"/>
              <a:buChar char="•"/>
              <a:defRPr sz="2000"/>
            </a:lvl2pPr>
            <a:lvl3pPr indent="-342900" lvl="2" marL="1371600" algn="l">
              <a:lnSpc>
                <a:spcPct val="90000"/>
              </a:lnSpc>
              <a:spcBef>
                <a:spcPts val="500"/>
              </a:spcBef>
              <a:spcAft>
                <a:spcPts val="0"/>
              </a:spcAft>
              <a:buClr>
                <a:schemeClr val="dk1"/>
              </a:buClr>
              <a:buSzPts val="1800"/>
              <a:buChar char="•"/>
              <a:defRPr sz="1800"/>
            </a:lvl3pPr>
            <a:lvl4pPr indent="-330200" lvl="3" marL="1828800" algn="l">
              <a:lnSpc>
                <a:spcPct val="90000"/>
              </a:lnSpc>
              <a:spcBef>
                <a:spcPts val="500"/>
              </a:spcBef>
              <a:spcAft>
                <a:spcPts val="0"/>
              </a:spcAft>
              <a:buClr>
                <a:schemeClr val="dk1"/>
              </a:buClr>
              <a:buSzPts val="1600"/>
              <a:buChar char="•"/>
              <a:defRPr sz="1600"/>
            </a:lvl4pPr>
            <a:lvl5pPr indent="-330200" lvl="4" marL="2286000" algn="l">
              <a:lnSpc>
                <a:spcPct val="90000"/>
              </a:lnSpc>
              <a:spcBef>
                <a:spcPts val="500"/>
              </a:spcBef>
              <a:spcAft>
                <a:spcPts val="0"/>
              </a:spcAft>
              <a:buClr>
                <a:schemeClr val="dk1"/>
              </a:buClr>
              <a:buSzPts val="1600"/>
              <a:buChar char="•"/>
              <a:defRPr sz="16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30" name="Google Shape;30;p13"/>
          <p:cNvPicPr preferRelativeResize="0"/>
          <p:nvPr/>
        </p:nvPicPr>
        <p:blipFill rotWithShape="1">
          <a:blip r:embed="rId2">
            <a:alphaModFix/>
          </a:blip>
          <a:srcRect b="0" l="0" r="0" t="0"/>
          <a:stretch/>
        </p:blipFill>
        <p:spPr>
          <a:xfrm>
            <a:off x="-2" y="6466115"/>
            <a:ext cx="12204000" cy="108000"/>
          </a:xfrm>
          <a:prstGeom prst="rect">
            <a:avLst/>
          </a:prstGeom>
          <a:noFill/>
          <a:ln>
            <a:noFill/>
          </a:ln>
        </p:spPr>
      </p:pic>
      <p:pic>
        <p:nvPicPr>
          <p:cNvPr id="31" name="Google Shape;31;p13"/>
          <p:cNvPicPr preferRelativeResize="0"/>
          <p:nvPr/>
        </p:nvPicPr>
        <p:blipFill rotWithShape="1">
          <a:blip r:embed="rId3">
            <a:alphaModFix/>
          </a:blip>
          <a:srcRect b="0" l="0" r="0" t="0"/>
          <a:stretch/>
        </p:blipFill>
        <p:spPr>
          <a:xfrm>
            <a:off x="-2" y="1295790"/>
            <a:ext cx="4465320" cy="103523"/>
          </a:xfrm>
          <a:prstGeom prst="rect">
            <a:avLst/>
          </a:prstGeom>
          <a:noFill/>
          <a:ln>
            <a:noFill/>
          </a:ln>
        </p:spPr>
      </p:pic>
      <p:pic>
        <p:nvPicPr>
          <p:cNvPr id="32" name="Google Shape;32;p13"/>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1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6" name="Google Shape;3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3" name="Google Shape;43;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1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1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1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1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1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7"/>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8" name="Google Shape;58;p17"/>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2" name="Shape 62"/>
        <p:cNvGrpSpPr/>
        <p:nvPr/>
      </p:nvGrpSpPr>
      <p:grpSpPr>
        <a:xfrm>
          <a:off x="0" y="0"/>
          <a:ext cx="0" cy="0"/>
          <a:chOff x="0" y="0"/>
          <a:chExt cx="0" cy="0"/>
        </a:xfrm>
      </p:grpSpPr>
      <p:sp>
        <p:nvSpPr>
          <p:cNvPr id="63" name="Google Shape;63;p18"/>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8"/>
          <p:cNvSpPr/>
          <p:nvPr>
            <p:ph idx="2" type="pic"/>
          </p:nvPr>
        </p:nvSpPr>
        <p:spPr>
          <a:xfrm>
            <a:off x="5183188" y="987425"/>
            <a:ext cx="6172200" cy="4873625"/>
          </a:xfrm>
          <a:prstGeom prst="rect">
            <a:avLst/>
          </a:prstGeom>
          <a:noFill/>
          <a:ln>
            <a:noFill/>
          </a:ln>
        </p:spPr>
      </p:sp>
      <p:sp>
        <p:nvSpPr>
          <p:cNvPr id="65" name="Google Shape;65;p18"/>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6" name="Google Shape;66;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9"/>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5" name="Shape 75"/>
        <p:cNvGrpSpPr/>
        <p:nvPr/>
      </p:nvGrpSpPr>
      <p:grpSpPr>
        <a:xfrm>
          <a:off x="0" y="0"/>
          <a:ext cx="0" cy="0"/>
          <a:chOff x="0" y="0"/>
          <a:chExt cx="0" cy="0"/>
        </a:xfrm>
      </p:grpSpPr>
      <p:sp>
        <p:nvSpPr>
          <p:cNvPr id="76" name="Google Shape;76;p20"/>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0"/>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2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9" name="Google Shape;9;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0" name="Google Shape;10;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pic>
        <p:nvPicPr>
          <p:cNvPr id="85" name="Google Shape;85;p1"/>
          <p:cNvPicPr preferRelativeResize="0"/>
          <p:nvPr/>
        </p:nvPicPr>
        <p:blipFill rotWithShape="1">
          <a:blip r:embed="rId3">
            <a:alphaModFix/>
          </a:blip>
          <a:srcRect b="0" l="0" r="0" t="0"/>
          <a:stretch/>
        </p:blipFill>
        <p:spPr>
          <a:xfrm>
            <a:off x="3176241" y="2315842"/>
            <a:ext cx="5839519" cy="222631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id="90" name="Google Shape;90;p2"/>
          <p:cNvPicPr preferRelativeResize="0"/>
          <p:nvPr/>
        </p:nvPicPr>
        <p:blipFill rotWithShape="1">
          <a:blip r:embed="rId3">
            <a:alphaModFix/>
          </a:blip>
          <a:srcRect b="0" l="0" r="0" t="0"/>
          <a:stretch/>
        </p:blipFill>
        <p:spPr>
          <a:xfrm>
            <a:off x="894099" y="2592668"/>
            <a:ext cx="4387317" cy="1672665"/>
          </a:xfrm>
          <a:prstGeom prst="rect">
            <a:avLst/>
          </a:prstGeom>
          <a:noFill/>
          <a:ln>
            <a:noFill/>
          </a:ln>
        </p:spPr>
      </p:pic>
      <p:sp>
        <p:nvSpPr>
          <p:cNvPr id="91" name="Google Shape;91;p2"/>
          <p:cNvSpPr/>
          <p:nvPr/>
        </p:nvSpPr>
        <p:spPr>
          <a:xfrm>
            <a:off x="6065574" y="2513226"/>
            <a:ext cx="60852" cy="1851425"/>
          </a:xfrm>
          <a:prstGeom prst="rect">
            <a:avLst/>
          </a:prstGeom>
          <a:solidFill>
            <a:srgbClr val="970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Arial"/>
              <a:ea typeface="Arial"/>
              <a:cs typeface="Arial"/>
              <a:sym typeface="Arial"/>
            </a:endParaRPr>
          </a:p>
        </p:txBody>
      </p:sp>
      <p:sp>
        <p:nvSpPr>
          <p:cNvPr id="92" name="Google Shape;92;p2"/>
          <p:cNvSpPr txBox="1"/>
          <p:nvPr/>
        </p:nvSpPr>
        <p:spPr>
          <a:xfrm>
            <a:off x="6816256" y="2513226"/>
            <a:ext cx="3971014" cy="617524"/>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9700FF"/>
              </a:buClr>
              <a:buSzPts val="2800"/>
              <a:buFont typeface="Arial Narrow"/>
              <a:buNone/>
            </a:pPr>
            <a:r>
              <a:rPr b="1" i="0" lang="en-US" sz="2800" u="none" cap="none" strike="noStrike">
                <a:solidFill>
                  <a:srgbClr val="9700FF"/>
                </a:solidFill>
                <a:latin typeface="Arial Narrow"/>
                <a:ea typeface="Arial Narrow"/>
                <a:cs typeface="Arial Narrow"/>
                <a:sym typeface="Arial Narrow"/>
              </a:rPr>
              <a:t>Feature Engineering</a:t>
            </a:r>
            <a:endParaRPr b="1" i="0" sz="2800" u="none" cap="none" strike="noStrike">
              <a:solidFill>
                <a:srgbClr val="9700FF"/>
              </a:solidFill>
              <a:latin typeface="Arial Narrow"/>
              <a:ea typeface="Arial Narrow"/>
              <a:cs typeface="Arial Narrow"/>
              <a:sym typeface="Arial Narrow"/>
            </a:endParaRPr>
          </a:p>
        </p:txBody>
      </p:sp>
      <p:sp>
        <p:nvSpPr>
          <p:cNvPr id="93" name="Google Shape;93;p2"/>
          <p:cNvSpPr txBox="1"/>
          <p:nvPr/>
        </p:nvSpPr>
        <p:spPr>
          <a:xfrm>
            <a:off x="6910584" y="3193775"/>
            <a:ext cx="3876686" cy="874643"/>
          </a:xfrm>
          <a:prstGeom prst="rect">
            <a:avLst/>
          </a:prstGeom>
          <a:noFill/>
          <a:ln>
            <a:noFill/>
          </a:ln>
        </p:spPr>
        <p:txBody>
          <a:bodyPr anchorCtr="0" anchor="t" bIns="45700" lIns="91425" spcFirstLastPara="1" rIns="91425" wrap="square" tIns="45700">
            <a:normAutofit lnSpcReduction="20000"/>
          </a:bodyPr>
          <a:lstStyle/>
          <a:p>
            <a:pPr indent="0" lvl="0" marL="0" marR="0" rtl="0" algn="l">
              <a:lnSpc>
                <a:spcPct val="90000"/>
              </a:lnSpc>
              <a:spcBef>
                <a:spcPts val="0"/>
              </a:spcBef>
              <a:spcAft>
                <a:spcPts val="0"/>
              </a:spcAft>
              <a:buClr>
                <a:schemeClr val="dk1"/>
              </a:buClr>
              <a:buSzPts val="2400"/>
              <a:buFont typeface="Arial"/>
              <a:buNone/>
            </a:pPr>
            <a:r>
              <a:rPr b="1" i="0" lang="en-US" sz="2400" u="none" cap="none" strike="noStrike">
                <a:solidFill>
                  <a:schemeClr val="dk1"/>
                </a:solidFill>
                <a:latin typeface="Arial"/>
                <a:ea typeface="Arial"/>
                <a:cs typeface="Arial"/>
                <a:sym typeface="Arial"/>
              </a:rPr>
              <a:t>Feature Engineering Techniques for Text Data</a:t>
            </a:r>
            <a:endParaRPr b="1"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chemeClr val="dk1"/>
              </a:buClr>
              <a:buSzPts val="2400"/>
              <a:buFont typeface="Arial"/>
              <a:buNone/>
            </a:pPr>
            <a:r>
              <a:t/>
            </a:r>
            <a:endParaRPr b="1" i="0" sz="2400" u="none" cap="none" strike="noStrike">
              <a:solidFill>
                <a:schemeClr val="dk1"/>
              </a:solidFill>
              <a:latin typeface="Arial"/>
              <a:ea typeface="Arial"/>
              <a:cs typeface="Arial"/>
              <a:sym typeface="Arial"/>
            </a:endParaRPr>
          </a:p>
        </p:txBody>
      </p:sp>
      <p:sp>
        <p:nvSpPr>
          <p:cNvPr id="94" name="Google Shape;94;p2"/>
          <p:cNvSpPr txBox="1"/>
          <p:nvPr/>
        </p:nvSpPr>
        <p:spPr>
          <a:xfrm>
            <a:off x="6910584" y="4119559"/>
            <a:ext cx="3876686" cy="425937"/>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Prof. Anita Ramachandran </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g3707f902fe4_0_0"/>
          <p:cNvSpPr txBox="1"/>
          <p:nvPr/>
        </p:nvSpPr>
        <p:spPr>
          <a:xfrm>
            <a:off x="441960" y="3498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Introduction to Text Feature Engineering</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00" name="Google Shape;100;g3707f902fe4_0_0"/>
          <p:cNvSpPr txBox="1"/>
          <p:nvPr/>
        </p:nvSpPr>
        <p:spPr>
          <a:xfrm>
            <a:off x="533400" y="1825625"/>
            <a:ext cx="11323200" cy="43512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Introduction</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Text: The most abundant form of data.</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Raw text is unstructured.</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Goal: Transform unstructured text into structured, numerical formats.</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Focus: Traditional methods (Bag of Words, TF-IDF) and semantic embeddings (Word2Vec, GloVe, BERT).</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Foundational preprocessing: Tokenization, n-gram generation, POS tagging.</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9144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rgbClr val="000000"/>
              </a:buClr>
              <a:buSzPts val="1400"/>
              <a:buFont typeface="Arial"/>
              <a:buNone/>
            </a:pPr>
            <a:r>
              <a:t/>
            </a:r>
            <a:endParaRPr b="0" i="0" sz="2400" u="none" cap="none" strike="noStrike">
              <a:solidFill>
                <a:srgbClr val="000000"/>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101" name="Google Shape;101;g3707f902fe4_0_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02" name="Google Shape;102;g3707f902fe4_0_0"/>
          <p:cNvPicPr preferRelativeResize="0"/>
          <p:nvPr/>
        </p:nvPicPr>
        <p:blipFill rotWithShape="1">
          <a:blip r:embed="rId4">
            <a:alphaModFix/>
          </a:blip>
          <a:srcRect b="0" l="0" r="0" t="0"/>
          <a:stretch/>
        </p:blipFill>
        <p:spPr>
          <a:xfrm>
            <a:off x="-2" y="1295790"/>
            <a:ext cx="4465321" cy="103523"/>
          </a:xfrm>
          <a:prstGeom prst="rect">
            <a:avLst/>
          </a:prstGeom>
          <a:noFill/>
          <a:ln>
            <a:noFill/>
          </a:ln>
        </p:spPr>
      </p:pic>
      <p:pic>
        <p:nvPicPr>
          <p:cNvPr id="103" name="Google Shape;103;g3707f902fe4_0_0"/>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g3708268c0a4_0_0"/>
          <p:cNvSpPr txBox="1"/>
          <p:nvPr/>
        </p:nvSpPr>
        <p:spPr>
          <a:xfrm>
            <a:off x="441960" y="3498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What is Tokenization?</a:t>
            </a:r>
            <a:endParaRPr b="1" i="0" sz="4400" u="none" cap="none" strike="noStrike">
              <a:solidFill>
                <a:schemeClr val="dk1"/>
              </a:solidFill>
              <a:latin typeface="Arial Narrow"/>
              <a:ea typeface="Arial Narrow"/>
              <a:cs typeface="Arial Narrow"/>
              <a:sym typeface="Arial Narrow"/>
            </a:endParaRPr>
          </a:p>
        </p:txBody>
      </p:sp>
      <p:sp>
        <p:nvSpPr>
          <p:cNvPr id="109" name="Google Shape;109;g3708268c0a4_0_0"/>
          <p:cNvSpPr txBox="1"/>
          <p:nvPr/>
        </p:nvSpPr>
        <p:spPr>
          <a:xfrm>
            <a:off x="434400" y="1816850"/>
            <a:ext cx="11323200" cy="43512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Definition</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Definition: The process of splitting a text sequence into individual units called tokens.</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Tokens are typically words, but can also be characters or subwords.</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110" name="Google Shape;110;g3708268c0a4_0_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11" name="Google Shape;111;g3708268c0a4_0_0"/>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112" name="Google Shape;112;g3708268c0a4_0_0"/>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37084f751b1_0_0"/>
          <p:cNvSpPr txBox="1"/>
          <p:nvPr/>
        </p:nvSpPr>
        <p:spPr>
          <a:xfrm>
            <a:off x="441960" y="4260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Types of Tokenization</a:t>
            </a:r>
            <a:endParaRPr b="1" i="0" sz="4400" u="none" cap="none" strike="noStrike">
              <a:solidFill>
                <a:schemeClr val="dk1"/>
              </a:solidFill>
              <a:latin typeface="Arial Narrow"/>
              <a:ea typeface="Arial Narrow"/>
              <a:cs typeface="Arial Narrow"/>
              <a:sym typeface="Arial Narrow"/>
            </a:endParaRPr>
          </a:p>
        </p:txBody>
      </p:sp>
      <p:sp>
        <p:nvSpPr>
          <p:cNvPr id="118" name="Google Shape;118;g37084f751b1_0_0"/>
          <p:cNvSpPr txBox="1"/>
          <p:nvPr/>
        </p:nvSpPr>
        <p:spPr>
          <a:xfrm>
            <a:off x="434400" y="1874700"/>
            <a:ext cx="11323200" cy="4351200"/>
          </a:xfrm>
          <a:prstGeom prst="rect">
            <a:avLst/>
          </a:prstGeom>
          <a:noFill/>
          <a:ln>
            <a:noFill/>
          </a:ln>
        </p:spPr>
        <p:txBody>
          <a:bodyPr anchorCtr="0" anchor="t" bIns="45700" lIns="91425" spcFirstLastPara="1" rIns="91425" wrap="square" tIns="45700">
            <a:normAutofit lnSpcReduction="20000"/>
          </a:bodyPr>
          <a:lstStyle/>
          <a:p>
            <a:pPr indent="0" lvl="0" marL="0" marR="0" rtl="0" algn="l">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Types:</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Word Tokenization: Splits text by spaces and punctuation.</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Example: "Data Science is fun" → ["Data", "Science", "is", "fun"]</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Character Tokenization: Treats each character as a separate token.</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Example: "AI" → ["A", "I"]</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Subword Tokenization: Used in deep learning models; uncommon words split into meaningful parts.</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Example: "unhappiness" → ["un", "happi", "ness"]</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119" name="Google Shape;119;g37084f751b1_0_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20" name="Google Shape;120;g37084f751b1_0_0"/>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121" name="Google Shape;121;g37084f751b1_0_0"/>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37084f751b1_0_8"/>
          <p:cNvSpPr txBox="1"/>
          <p:nvPr/>
        </p:nvSpPr>
        <p:spPr>
          <a:xfrm>
            <a:off x="441960" y="3498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Importance of Tokenization</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27" name="Google Shape;127;g37084f751b1_0_8"/>
          <p:cNvSpPr txBox="1"/>
          <p:nvPr/>
        </p:nvSpPr>
        <p:spPr>
          <a:xfrm>
            <a:off x="533400" y="1825625"/>
            <a:ext cx="11323200" cy="43512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Importance</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First and most critical preprocessing step.</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Every text-based feature engineering method starts with converting text into tokens.</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chemeClr val="dk1"/>
              </a:buClr>
              <a:buSzPts val="11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128" name="Google Shape;128;g37084f751b1_0_8"/>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29" name="Google Shape;129;g37084f751b1_0_8"/>
          <p:cNvPicPr preferRelativeResize="0"/>
          <p:nvPr/>
        </p:nvPicPr>
        <p:blipFill rotWithShape="1">
          <a:blip r:embed="rId4">
            <a:alphaModFix/>
          </a:blip>
          <a:srcRect b="0" l="0" r="0" t="0"/>
          <a:stretch/>
        </p:blipFill>
        <p:spPr>
          <a:xfrm>
            <a:off x="-2" y="1295790"/>
            <a:ext cx="4465321" cy="103523"/>
          </a:xfrm>
          <a:prstGeom prst="rect">
            <a:avLst/>
          </a:prstGeom>
          <a:noFill/>
          <a:ln>
            <a:noFill/>
          </a:ln>
        </p:spPr>
      </p:pic>
      <p:pic>
        <p:nvPicPr>
          <p:cNvPr id="130" name="Google Shape;130;g37084f751b1_0_8"/>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g37084f751b1_0_16"/>
          <p:cNvSpPr txBox="1"/>
          <p:nvPr/>
        </p:nvSpPr>
        <p:spPr>
          <a:xfrm>
            <a:off x="441960" y="3498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Introduction to N-Grams</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36" name="Google Shape;136;g37084f751b1_0_16"/>
          <p:cNvSpPr txBox="1"/>
          <p:nvPr/>
        </p:nvSpPr>
        <p:spPr>
          <a:xfrm>
            <a:off x="533400" y="1825625"/>
            <a:ext cx="11323200" cy="43512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1000"/>
              </a:spcBef>
              <a:spcAft>
                <a:spcPts val="0"/>
              </a:spcAft>
              <a:buClr>
                <a:schemeClr val="dk1"/>
              </a:buClr>
              <a:buSzPts val="2400"/>
              <a:buFont typeface="Arial"/>
              <a:buNone/>
            </a:pPr>
            <a:r>
              <a:rPr lang="en-US" sz="2400">
                <a:solidFill>
                  <a:schemeClr val="dk1"/>
                </a:solidFill>
              </a:rPr>
              <a:t>An n-gram is a</a:t>
            </a:r>
            <a:r>
              <a:rPr b="0" i="0" lang="en-US" sz="2400" u="none" cap="none" strike="noStrike">
                <a:solidFill>
                  <a:schemeClr val="dk1"/>
                </a:solidFill>
                <a:latin typeface="Arial"/>
                <a:ea typeface="Arial"/>
                <a:cs typeface="Arial"/>
                <a:sym typeface="Arial"/>
              </a:rPr>
              <a:t> contiguous sequence of 'n' tokens from a given text.</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chemeClr val="dk1"/>
              </a:buClr>
              <a:buSzPts val="11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137" name="Google Shape;137;g37084f751b1_0_16"/>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38" name="Google Shape;138;g37084f751b1_0_16"/>
          <p:cNvPicPr preferRelativeResize="0"/>
          <p:nvPr/>
        </p:nvPicPr>
        <p:blipFill rotWithShape="1">
          <a:blip r:embed="rId4">
            <a:alphaModFix/>
          </a:blip>
          <a:srcRect b="0" l="0" r="0" t="0"/>
          <a:stretch/>
        </p:blipFill>
        <p:spPr>
          <a:xfrm>
            <a:off x="-2" y="1295790"/>
            <a:ext cx="4465321" cy="103523"/>
          </a:xfrm>
          <a:prstGeom prst="rect">
            <a:avLst/>
          </a:prstGeom>
          <a:noFill/>
          <a:ln>
            <a:noFill/>
          </a:ln>
        </p:spPr>
      </p:pic>
      <p:pic>
        <p:nvPicPr>
          <p:cNvPr id="139" name="Google Shape;139;g37084f751b1_0_16"/>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37084f751b1_0_24"/>
          <p:cNvSpPr txBox="1"/>
          <p:nvPr/>
        </p:nvSpPr>
        <p:spPr>
          <a:xfrm>
            <a:off x="441960" y="3498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Types of N-Grams</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45" name="Google Shape;145;g37084f751b1_0_24"/>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Types:</a:t>
            </a:r>
            <a:br>
              <a:rPr b="0" i="0" lang="en-US" sz="2400" u="none" cap="none" strike="noStrike">
                <a:solidFill>
                  <a:schemeClr val="dk1"/>
                </a:solidFill>
                <a:latin typeface="Arial"/>
                <a:ea typeface="Arial"/>
                <a:cs typeface="Arial"/>
                <a:sym typeface="Arial"/>
              </a:rPr>
            </a:b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 Unigrams (n=1): Individual words.</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Example: ["This", "is", "great"]</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Bigrams (n=2): Consecutive word pairs.</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Example: ["This is", "is great"]</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Trigrams (n=3): Consecutive word triplets.</a:t>
            </a:r>
            <a:endParaRPr b="0" i="0" sz="2400" u="none" cap="none" strike="noStrike">
              <a:solidFill>
                <a:schemeClr val="dk1"/>
              </a:solidFill>
              <a:latin typeface="Arial"/>
              <a:ea typeface="Arial"/>
              <a:cs typeface="Arial"/>
              <a:sym typeface="Arial"/>
            </a:endParaRPr>
          </a:p>
          <a:p>
            <a:pPr indent="-381000" lvl="0" marL="457200" marR="0" rtl="0" algn="l">
              <a:lnSpc>
                <a:spcPct val="9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Example: ["This is great"]</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chemeClr val="dk1"/>
              </a:buClr>
              <a:buSzPts val="11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146" name="Google Shape;146;g37084f751b1_0_24"/>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47" name="Google Shape;147;g37084f751b1_0_24"/>
          <p:cNvPicPr preferRelativeResize="0"/>
          <p:nvPr/>
        </p:nvPicPr>
        <p:blipFill rotWithShape="1">
          <a:blip r:embed="rId4">
            <a:alphaModFix/>
          </a:blip>
          <a:srcRect b="0" l="0" r="0" t="0"/>
          <a:stretch/>
        </p:blipFill>
        <p:spPr>
          <a:xfrm>
            <a:off x="-2" y="1295790"/>
            <a:ext cx="4465321" cy="103523"/>
          </a:xfrm>
          <a:prstGeom prst="rect">
            <a:avLst/>
          </a:prstGeom>
          <a:noFill/>
          <a:ln>
            <a:noFill/>
          </a:ln>
        </p:spPr>
      </p:pic>
      <p:pic>
        <p:nvPicPr>
          <p:cNvPr id="148" name="Google Shape;148;g37084f751b1_0_24"/>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37084f751b1_0_32"/>
          <p:cNvSpPr txBox="1"/>
          <p:nvPr/>
        </p:nvSpPr>
        <p:spPr>
          <a:xfrm>
            <a:off x="441960" y="349885"/>
            <a:ext cx="93270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Why N-Grams Matter</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54" name="Google Shape;154;g37084f751b1_0_32"/>
          <p:cNvSpPr txBox="1"/>
          <p:nvPr/>
        </p:nvSpPr>
        <p:spPr>
          <a:xfrm>
            <a:off x="533525"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2040"/>
              <a:buFont typeface="Arial"/>
              <a:buNone/>
            </a:pPr>
            <a:r>
              <a:rPr b="0" i="0" lang="en-US" sz="2440" u="none" cap="none" strike="noStrike">
                <a:solidFill>
                  <a:schemeClr val="dk1"/>
                </a:solidFill>
                <a:latin typeface="Arial"/>
                <a:ea typeface="Arial"/>
                <a:cs typeface="Arial"/>
                <a:sym typeface="Arial"/>
              </a:rPr>
              <a:t>Importance and Application</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Unigrams capture word-level information.</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Bigrams and trigrams capture contextual and syntactic relationships.</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Example: "not good" vs. "good" – bigrams capture sentiment better.</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Real-World Application: Spam filtering, sentiment analysis, predictive text input.</a:t>
            </a:r>
            <a:endParaRPr b="0" i="0" sz="244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935"/>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040"/>
              <a:buFont typeface="Arial"/>
              <a:buNone/>
            </a:pPr>
            <a:r>
              <a:t/>
            </a:r>
            <a:endParaRPr b="0" i="0" sz="244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040"/>
              <a:buFont typeface="Arial"/>
              <a:buNone/>
            </a:pPr>
            <a:r>
              <a:t/>
            </a:r>
            <a:endParaRPr b="0" i="0" sz="244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040"/>
              <a:buFont typeface="Arial"/>
              <a:buNone/>
            </a:pPr>
            <a:r>
              <a:t/>
            </a:r>
            <a:endParaRPr b="0" i="0" sz="244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040"/>
              <a:buFont typeface="Arial"/>
              <a:buNone/>
            </a:pPr>
            <a:r>
              <a:t/>
            </a:r>
            <a:endParaRPr b="0" i="0" sz="244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chemeClr val="dk1"/>
              </a:buClr>
              <a:buSzPts val="935"/>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t/>
            </a:r>
            <a:endParaRPr b="0" i="0" sz="2440" u="none" cap="none" strike="noStrike">
              <a:solidFill>
                <a:schemeClr val="dk1"/>
              </a:solidFill>
              <a:latin typeface="Arial"/>
              <a:ea typeface="Arial"/>
              <a:cs typeface="Arial"/>
              <a:sym typeface="Arial"/>
            </a:endParaRPr>
          </a:p>
        </p:txBody>
      </p:sp>
      <p:pic>
        <p:nvPicPr>
          <p:cNvPr id="155" name="Google Shape;155;g37084f751b1_0_32"/>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56" name="Google Shape;156;g37084f751b1_0_32"/>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157" name="Google Shape;157;g37084f751b1_0_32"/>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1" name="Shape 161"/>
        <p:cNvGrpSpPr/>
        <p:nvPr/>
      </p:nvGrpSpPr>
      <p:grpSpPr>
        <a:xfrm>
          <a:off x="0" y="0"/>
          <a:ext cx="0" cy="0"/>
          <a:chOff x="0" y="0"/>
          <a:chExt cx="0" cy="0"/>
        </a:xfrm>
      </p:grpSpPr>
      <p:sp>
        <p:nvSpPr>
          <p:cNvPr id="162" name="Google Shape;162;g37084f751b1_0_40"/>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Bag of Words (BoW)</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63" name="Google Shape;163;g37084f751b1_0_40"/>
          <p:cNvSpPr txBox="1"/>
          <p:nvPr/>
        </p:nvSpPr>
        <p:spPr>
          <a:xfrm>
            <a:off x="533400" y="1825625"/>
            <a:ext cx="11323200" cy="43512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rgbClr val="000000"/>
              </a:buClr>
              <a:buSzPts val="2400"/>
              <a:buFont typeface="Arial"/>
              <a:buNone/>
            </a:pPr>
            <a:r>
              <a:rPr lang="en-US" sz="2400">
                <a:solidFill>
                  <a:schemeClr val="dk1"/>
                </a:solidFill>
              </a:rPr>
              <a:t>A bag of words (BoW) r</a:t>
            </a:r>
            <a:r>
              <a:rPr b="0" i="0" lang="en-US" sz="2400" u="none" cap="none" strike="noStrike">
                <a:solidFill>
                  <a:schemeClr val="dk1"/>
                </a:solidFill>
                <a:latin typeface="Arial"/>
                <a:ea typeface="Arial"/>
                <a:cs typeface="Arial"/>
                <a:sym typeface="Arial"/>
              </a:rPr>
              <a:t>epresents each document as a vector counting word occurrences in the vocabulary.</a:t>
            </a:r>
            <a:br>
              <a:rPr b="0" i="0" lang="en-US" sz="2400" u="none" cap="none" strike="noStrike">
                <a:solidFill>
                  <a:schemeClr val="dk1"/>
                </a:solidFill>
                <a:latin typeface="Arial"/>
                <a:ea typeface="Arial"/>
                <a:cs typeface="Arial"/>
                <a:sym typeface="Arial"/>
              </a:rPr>
            </a:b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Ignores grammar and word order.</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chemeClr val="dk1"/>
              </a:buClr>
              <a:buSzPts val="11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164" name="Google Shape;164;g37084f751b1_0_4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65" name="Google Shape;165;g37084f751b1_0_40"/>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166" name="Google Shape;166;g37084f751b1_0_40"/>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g37084f751b1_0_48"/>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Bag of Words (BoW) Example</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72" name="Google Shape;172;g37084f751b1_0_48"/>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680"/>
              <a:buFont typeface="Arial"/>
              <a:buNone/>
            </a:pPr>
            <a:r>
              <a:rPr b="0" i="0" lang="en-US" sz="2400" u="none" cap="none" strike="noStrike">
                <a:solidFill>
                  <a:schemeClr val="dk1"/>
                </a:solidFill>
                <a:latin typeface="Arial"/>
                <a:ea typeface="Arial"/>
                <a:cs typeface="Arial"/>
                <a:sym typeface="Arial"/>
              </a:rPr>
              <a:t>Example:</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680"/>
              <a:buFont typeface="Arial"/>
              <a:buNone/>
            </a:pPr>
            <a:br>
              <a:rPr b="0" i="0" lang="en-US" sz="2400" u="none" cap="none" strike="noStrike">
                <a:solidFill>
                  <a:schemeClr val="dk1"/>
                </a:solidFill>
                <a:latin typeface="Arial"/>
                <a:ea typeface="Arial"/>
                <a:cs typeface="Arial"/>
                <a:sym typeface="Arial"/>
              </a:rPr>
            </a:br>
            <a:r>
              <a:rPr b="0" i="0" lang="en-US" sz="2400" u="none" cap="none" strike="noStrike">
                <a:solidFill>
                  <a:schemeClr val="dk1"/>
                </a:solidFill>
                <a:latin typeface="Arial"/>
                <a:ea typeface="Arial"/>
                <a:cs typeface="Arial"/>
                <a:sym typeface="Arial"/>
              </a:rPr>
              <a:t>Corpus: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"Machine learning is fun"</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"Learning is a continuous process"</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77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77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770"/>
              <a:buFont typeface="Arial"/>
              <a:buNone/>
            </a:pPr>
            <a:r>
              <a:rPr b="0" i="0" lang="en-US" sz="2400" u="none" cap="none" strike="noStrike">
                <a:solidFill>
                  <a:schemeClr val="dk1"/>
                </a:solidFill>
                <a:latin typeface="Arial"/>
                <a:ea typeface="Arial"/>
                <a:cs typeface="Arial"/>
                <a:sym typeface="Arial"/>
              </a:rPr>
              <a:t>Vocabulary: ["Machine", "learning", "is", "fun", "a", "continuous", "process"]</a:t>
            </a:r>
            <a:br>
              <a:rPr b="0" i="0" lang="en-US" sz="2400" u="none" cap="none" strike="noStrike">
                <a:solidFill>
                  <a:schemeClr val="dk1"/>
                </a:solidFill>
                <a:latin typeface="Arial"/>
                <a:ea typeface="Arial"/>
                <a:cs typeface="Arial"/>
                <a:sym typeface="Arial"/>
              </a:rPr>
            </a:b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77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770"/>
              <a:buFont typeface="Arial"/>
              <a:buNone/>
            </a:pPr>
            <a:r>
              <a:rPr b="0" i="0" lang="en-US" sz="2400" u="none" cap="none" strike="noStrike">
                <a:solidFill>
                  <a:schemeClr val="dk1"/>
                </a:solidFill>
                <a:latin typeface="Arial"/>
                <a:ea typeface="Arial"/>
                <a:cs typeface="Arial"/>
                <a:sym typeface="Arial"/>
              </a:rPr>
              <a:t>BoW vectors: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Doc1: [1, 1, 1, 1, 0, 0, 0]</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Doc2: [0, 1, 1, 0, 1, 1, 1]</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77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168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168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168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chemeClr val="dk1"/>
              </a:buClr>
              <a:buSzPts val="77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680"/>
              <a:buFont typeface="Arial"/>
              <a:buNone/>
            </a:pPr>
            <a:r>
              <a:t/>
            </a:r>
            <a:endParaRPr b="0" i="0" sz="2400" u="none" cap="none" strike="noStrike">
              <a:solidFill>
                <a:schemeClr val="dk1"/>
              </a:solidFill>
              <a:latin typeface="Arial"/>
              <a:ea typeface="Arial"/>
              <a:cs typeface="Arial"/>
              <a:sym typeface="Arial"/>
            </a:endParaRPr>
          </a:p>
        </p:txBody>
      </p:sp>
      <p:pic>
        <p:nvPicPr>
          <p:cNvPr id="173" name="Google Shape;173;g37084f751b1_0_48"/>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74" name="Google Shape;174;g37084f751b1_0_48"/>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175" name="Google Shape;175;g37084f751b1_0_48"/>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g37084f751b1_0_56"/>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Bag of Words (BoW) Advantages and Limitations</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81" name="Google Shape;181;g37084f751b1_0_56"/>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2040"/>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rPr b="0" i="0" lang="en-US" sz="2440" u="none" cap="none" strike="noStrike">
                <a:solidFill>
                  <a:schemeClr val="dk1"/>
                </a:solidFill>
                <a:latin typeface="Arial"/>
                <a:ea typeface="Arial"/>
                <a:cs typeface="Arial"/>
                <a:sym typeface="Arial"/>
              </a:rPr>
              <a:t>Advantages and Limitations</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rPr b="0" i="0" lang="en-US" sz="2440" u="none" cap="none" strike="noStrike">
                <a:solidFill>
                  <a:schemeClr val="dk1"/>
                </a:solidFill>
                <a:latin typeface="Arial"/>
                <a:ea typeface="Arial"/>
                <a:cs typeface="Arial"/>
                <a:sym typeface="Arial"/>
              </a:rPr>
              <a:t>Advantages:</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Easy to implement</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Performs well for small datasets</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935"/>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040"/>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chemeClr val="dk1"/>
              </a:buClr>
              <a:buSzPts val="935"/>
              <a:buFont typeface="Arial"/>
              <a:buNone/>
            </a:pPr>
            <a:r>
              <a:rPr b="0" i="0" lang="en-US" sz="2440" u="none" cap="none" strike="noStrike">
                <a:solidFill>
                  <a:schemeClr val="dk1"/>
                </a:solidFill>
                <a:latin typeface="Arial"/>
                <a:ea typeface="Arial"/>
                <a:cs typeface="Arial"/>
                <a:sym typeface="Arial"/>
              </a:rPr>
              <a:t>Limitations:</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Results in sparse and high-dimensional vectors</a:t>
            </a:r>
            <a:endParaRPr b="0" i="0" sz="2440" u="none" cap="none" strike="noStrike">
              <a:solidFill>
                <a:schemeClr val="dk1"/>
              </a:solidFill>
              <a:latin typeface="Arial"/>
              <a:ea typeface="Arial"/>
              <a:cs typeface="Arial"/>
              <a:sym typeface="Arial"/>
            </a:endParaRPr>
          </a:p>
          <a:p>
            <a:pPr indent="-383540" lvl="0" marL="457200" marR="0" rtl="0" algn="l">
              <a:lnSpc>
                <a:spcPct val="70000"/>
              </a:lnSpc>
              <a:spcBef>
                <a:spcPts val="0"/>
              </a:spcBef>
              <a:spcAft>
                <a:spcPts val="0"/>
              </a:spcAft>
              <a:buClr>
                <a:schemeClr val="dk1"/>
              </a:buClr>
              <a:buSzPts val="2440"/>
              <a:buFont typeface="Arial"/>
              <a:buChar char="●"/>
            </a:pPr>
            <a:r>
              <a:rPr b="0" i="0" lang="en-US" sz="2440" u="none" cap="none" strike="noStrike">
                <a:solidFill>
                  <a:schemeClr val="dk1"/>
                </a:solidFill>
                <a:latin typeface="Arial"/>
                <a:ea typeface="Arial"/>
                <a:cs typeface="Arial"/>
                <a:sym typeface="Arial"/>
              </a:rPr>
              <a:t>Cannot capture word order or semantics</a:t>
            </a:r>
            <a:endParaRPr b="0" i="0" sz="244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935"/>
              <a:buFont typeface="Arial"/>
              <a:buNone/>
            </a:pPr>
            <a:r>
              <a:t/>
            </a:r>
            <a:endParaRPr b="0" i="0" sz="244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935"/>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935"/>
              <a:buFont typeface="Arial"/>
              <a:buNone/>
            </a:pPr>
            <a:r>
              <a:rPr b="0" i="0" lang="en-US" sz="2440" u="none" cap="none" strike="noStrike">
                <a:solidFill>
                  <a:schemeClr val="dk1"/>
                </a:solidFill>
                <a:latin typeface="Arial"/>
                <a:ea typeface="Arial"/>
                <a:cs typeface="Arial"/>
                <a:sym typeface="Arial"/>
              </a:rPr>
              <a:t>Use Case: Text classification and document clustering for small to mid-sized corpora.</a:t>
            </a:r>
            <a:endParaRPr b="0" i="0" sz="244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chemeClr val="dk1"/>
              </a:buClr>
              <a:buSzPts val="935"/>
              <a:buFont typeface="Arial"/>
              <a:buNone/>
            </a:pPr>
            <a:r>
              <a:t/>
            </a:r>
            <a:endParaRPr b="0" i="0" sz="244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2040"/>
              <a:buFont typeface="Arial"/>
              <a:buNone/>
            </a:pPr>
            <a:r>
              <a:t/>
            </a:r>
            <a:endParaRPr b="0" i="0" sz="2440" u="none" cap="none" strike="noStrike">
              <a:solidFill>
                <a:schemeClr val="dk1"/>
              </a:solidFill>
              <a:latin typeface="Arial"/>
              <a:ea typeface="Arial"/>
              <a:cs typeface="Arial"/>
              <a:sym typeface="Arial"/>
            </a:endParaRPr>
          </a:p>
        </p:txBody>
      </p:sp>
      <p:pic>
        <p:nvPicPr>
          <p:cNvPr id="182" name="Google Shape;182;g37084f751b1_0_56"/>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83" name="Google Shape;183;g37084f751b1_0_56"/>
          <p:cNvPicPr preferRelativeResize="0"/>
          <p:nvPr/>
        </p:nvPicPr>
        <p:blipFill rotWithShape="1">
          <a:blip r:embed="rId4">
            <a:alphaModFix/>
          </a:blip>
          <a:srcRect b="0" l="0" r="0" t="0"/>
          <a:stretch/>
        </p:blipFill>
        <p:spPr>
          <a:xfrm>
            <a:off x="-2" y="1722103"/>
            <a:ext cx="4465321" cy="103523"/>
          </a:xfrm>
          <a:prstGeom prst="rect">
            <a:avLst/>
          </a:prstGeom>
          <a:noFill/>
          <a:ln>
            <a:noFill/>
          </a:ln>
        </p:spPr>
      </p:pic>
      <p:pic>
        <p:nvPicPr>
          <p:cNvPr id="184" name="Google Shape;184;g37084f751b1_0_56"/>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37084f751b1_0_64"/>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TF-IDF (Term Frequency-Inverse Document Frequency)</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90" name="Google Shape;190;g37084f751b1_0_64"/>
          <p:cNvSpPr txBox="1"/>
          <p:nvPr/>
        </p:nvSpPr>
        <p:spPr>
          <a:xfrm>
            <a:off x="533400" y="1825625"/>
            <a:ext cx="11323200" cy="435120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rPr lang="en-US" sz="2400">
                <a:solidFill>
                  <a:schemeClr val="dk1"/>
                </a:solidFill>
              </a:rPr>
              <a:t>Term Frequency-Inverse Document Frequency (TF-IDF) g</a:t>
            </a:r>
            <a:r>
              <a:rPr b="0" i="0" lang="en-US" sz="2400" u="none" cap="none" strike="noStrike">
                <a:solidFill>
                  <a:schemeClr val="dk1"/>
                </a:solidFill>
                <a:latin typeface="Arial"/>
                <a:ea typeface="Arial"/>
                <a:cs typeface="Arial"/>
                <a:sym typeface="Arial"/>
              </a:rPr>
              <a:t>ives higher importance to words that occur frequently in a document but rarely across all documents.</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Arial"/>
              <a:ea typeface="Arial"/>
              <a:cs typeface="Arial"/>
              <a:sym typeface="Arial"/>
            </a:endParaRPr>
          </a:p>
        </p:txBody>
      </p:sp>
      <p:pic>
        <p:nvPicPr>
          <p:cNvPr id="191" name="Google Shape;191;g37084f751b1_0_64"/>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192" name="Google Shape;192;g37084f751b1_0_64"/>
          <p:cNvPicPr preferRelativeResize="0"/>
          <p:nvPr/>
        </p:nvPicPr>
        <p:blipFill rotWithShape="1">
          <a:blip r:embed="rId4">
            <a:alphaModFix/>
          </a:blip>
          <a:srcRect b="0" l="0" r="0" t="0"/>
          <a:stretch/>
        </p:blipFill>
        <p:spPr>
          <a:xfrm>
            <a:off x="-2" y="1722103"/>
            <a:ext cx="4465321" cy="103523"/>
          </a:xfrm>
          <a:prstGeom prst="rect">
            <a:avLst/>
          </a:prstGeom>
          <a:noFill/>
          <a:ln>
            <a:noFill/>
          </a:ln>
        </p:spPr>
      </p:pic>
      <p:pic>
        <p:nvPicPr>
          <p:cNvPr id="193" name="Google Shape;193;g37084f751b1_0_64"/>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7084f751b1_0_72"/>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TF-IDF Formula</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199" name="Google Shape;199;g37084f751b1_0_72"/>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Formula</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Term Frequency (TF):</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(Number of times term 't' appears in a document) / (Total terms in the document)</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Inverse Document Frequency (IDF):</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loge​(Total number of documents/Number of documents with term ’t’)</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Example (IDF):</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(Term: "science"</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Appears in 2 out of 10 documents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IDF = loge​(10/2)=0.699</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00" name="Google Shape;200;g37084f751b1_0_72"/>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01" name="Google Shape;201;g37084f751b1_0_72"/>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202" name="Google Shape;202;g37084f751b1_0_72"/>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g37084f751b1_0_80"/>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Why Use TF-IDF?</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08" name="Google Shape;208;g37084f751b1_0_80"/>
          <p:cNvSpPr txBox="1"/>
          <p:nvPr/>
        </p:nvSpPr>
        <p:spPr>
          <a:xfrm>
            <a:off x="533525"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Advantages and Applications</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Why Use TF-IDF</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Filters out commonly used words like "the" and "is".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Retains words that offer unique information.</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Applications: Web search engines (e.g., Google), recommendation systems, keyword extraction.</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09" name="Google Shape;209;g37084f751b1_0_8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10" name="Google Shape;210;g37084f751b1_0_80"/>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211" name="Google Shape;211;g37084f751b1_0_80"/>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g3708bf00c7c_0_0"/>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One-Hot Encoding</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17" name="Google Shape;217;g3708bf00c7c_0_0"/>
          <p:cNvSpPr txBox="1"/>
          <p:nvPr/>
        </p:nvSpPr>
        <p:spPr>
          <a:xfrm>
            <a:off x="533400" y="18256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Definition</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Definition: Converts each word into a binary vector.</a:t>
            </a:r>
            <a:br>
              <a:rPr b="0" i="0" lang="en-US" sz="2400" u="none" cap="none" strike="noStrike">
                <a:solidFill>
                  <a:schemeClr val="dk1"/>
                </a:solidFill>
                <a:latin typeface="Arial"/>
                <a:ea typeface="Arial"/>
                <a:cs typeface="Arial"/>
                <a:sym typeface="Arial"/>
              </a:rPr>
            </a:b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Only the index corresponding to the word is 1, all others are 0.</a:t>
            </a:r>
            <a:br>
              <a:rPr b="0" i="0" lang="en-US" sz="2400" u="none" cap="none" strike="noStrike">
                <a:solidFill>
                  <a:schemeClr val="dk1"/>
                </a:solidFill>
                <a:latin typeface="Arial"/>
                <a:ea typeface="Arial"/>
                <a:cs typeface="Arial"/>
                <a:sym typeface="Arial"/>
              </a:rPr>
            </a:b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Example: Vocabulary: ["apple", "banana", "orange"]</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"banana" → [0, 1, 0]</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18" name="Google Shape;218;g3708bf00c7c_0_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19" name="Google Shape;219;g3708bf00c7c_0_0"/>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220" name="Google Shape;220;g3708bf00c7c_0_0"/>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g3708bf00c7c_0_8"/>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One-Hot Encoding Limitations and Use Case</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26" name="Google Shape;226;g3708bf00c7c_0_8"/>
          <p:cNvSpPr txBox="1"/>
          <p:nvPr/>
        </p:nvSpPr>
        <p:spPr>
          <a:xfrm>
            <a:off x="440400" y="21149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Limitations and Use Case</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Limitations: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High memory usage.</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Cannot capture any relationships between words.</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br>
              <a:rPr b="0" i="0" lang="en-US" sz="2400" u="none" cap="none" strike="noStrike">
                <a:solidFill>
                  <a:schemeClr val="dk1"/>
                </a:solidFill>
                <a:latin typeface="Arial"/>
                <a:ea typeface="Arial"/>
                <a:cs typeface="Arial"/>
                <a:sym typeface="Arial"/>
              </a:rPr>
            </a:b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Use Case: Basic neural networks or as an intermediate step for embedding layers.</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27" name="Google Shape;227;g3708bf00c7c_0_8"/>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28" name="Google Shape;228;g3708bf00c7c_0_8"/>
          <p:cNvPicPr preferRelativeResize="0"/>
          <p:nvPr/>
        </p:nvPicPr>
        <p:blipFill rotWithShape="1">
          <a:blip r:embed="rId4">
            <a:alphaModFix/>
          </a:blip>
          <a:srcRect b="0" l="0" r="0" t="0"/>
          <a:stretch/>
        </p:blipFill>
        <p:spPr>
          <a:xfrm>
            <a:off x="-2" y="1825628"/>
            <a:ext cx="4465321" cy="103523"/>
          </a:xfrm>
          <a:prstGeom prst="rect">
            <a:avLst/>
          </a:prstGeom>
          <a:noFill/>
          <a:ln>
            <a:noFill/>
          </a:ln>
        </p:spPr>
      </p:pic>
      <p:pic>
        <p:nvPicPr>
          <p:cNvPr id="229" name="Google Shape;229;g3708bf00c7c_0_8"/>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3708bf00c7c_0_16"/>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Introduction to Word Embeddings</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35" name="Google Shape;235;g3708bf00c7c_0_16"/>
          <p:cNvSpPr txBox="1"/>
          <p:nvPr/>
        </p:nvSpPr>
        <p:spPr>
          <a:xfrm>
            <a:off x="434400" y="18401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Word Embeddings</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Concept: Trains a shallow neural network to predict context words from a target word (Skip-gram) or vice versa (CBOW).</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Example: Word2Vec may learn that "king - man + woman = queen"</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Advantage: Captures semantic similarity; low-dimensional (100–300D).</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rPr b="0" i="0" lang="en-US" sz="2400" u="none" cap="none" strike="noStrike">
                <a:solidFill>
                  <a:schemeClr val="dk1"/>
                </a:solidFill>
                <a:latin typeface="Arial"/>
                <a:ea typeface="Arial"/>
                <a:cs typeface="Arial"/>
                <a:sym typeface="Arial"/>
              </a:rPr>
              <a:t>.</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36" name="Google Shape;236;g3708bf00c7c_0_16"/>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37" name="Google Shape;237;g3708bf00c7c_0_16"/>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238" name="Google Shape;238;g3708bf00c7c_0_16"/>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3708bf00c7c_0_24"/>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GloVe Word Embeddings</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44" name="Google Shape;244;g3708bf00c7c_0_24"/>
          <p:cNvSpPr txBox="1"/>
          <p:nvPr/>
        </p:nvSpPr>
        <p:spPr>
          <a:xfrm>
            <a:off x="434400" y="18401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GloVe</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Concept: Global vectors based on aggregated word-word co-occurrence statistics.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Source: Pretrained models from Stanford NLP.</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Advantage: More efficient for large corpora.</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45" name="Google Shape;245;g3708bf00c7c_0_24"/>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46" name="Google Shape;246;g3708bf00c7c_0_24"/>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247" name="Google Shape;247;g3708bf00c7c_0_24"/>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g3708bf00c7c_0_32"/>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BERT Word Embeddings</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53" name="Google Shape;253;g3708bf00c7c_0_32"/>
          <p:cNvSpPr txBox="1"/>
          <p:nvPr/>
        </p:nvSpPr>
        <p:spPr>
          <a:xfrm>
            <a:off x="440400" y="182817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BERT</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Concept: Deep transformer model using bidirectional context.</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Output: Different embeddings for the same word in different contexts.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Library: HuggingFace Transformers.</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54" name="Google Shape;254;g3708bf00c7c_0_32"/>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55" name="Google Shape;255;g3708bf00c7c_0_32"/>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256" name="Google Shape;256;g3708bf00c7c_0_32"/>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g3708bf00c7c_0_40"/>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Word Embedding Comparison</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62" name="Google Shape;262;g3708bf00c7c_0_40"/>
          <p:cNvSpPr txBox="1"/>
          <p:nvPr/>
        </p:nvSpPr>
        <p:spPr>
          <a:xfrm>
            <a:off x="434400" y="182817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Comparison</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63" name="Google Shape;263;g3708bf00c7c_0_40"/>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64" name="Google Shape;264;g3708bf00c7c_0_40"/>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graphicFrame>
        <p:nvGraphicFramePr>
          <p:cNvPr id="265" name="Google Shape;265;g3708bf00c7c_0_40"/>
          <p:cNvGraphicFramePr/>
          <p:nvPr/>
        </p:nvGraphicFramePr>
        <p:xfrm>
          <a:off x="698150" y="2529150"/>
          <a:ext cx="3000000" cy="3000000"/>
        </p:xfrm>
        <a:graphic>
          <a:graphicData uri="http://schemas.openxmlformats.org/drawingml/2006/table">
            <a:tbl>
              <a:tblPr>
                <a:noFill/>
                <a:tableStyleId>{3C1AB03A-21FF-4956-9FCD-F7B2C00BB914}</a:tableStyleId>
              </a:tblPr>
              <a:tblGrid>
                <a:gridCol w="2571750"/>
                <a:gridCol w="2571750"/>
                <a:gridCol w="2571750"/>
                <a:gridCol w="2571750"/>
              </a:tblGrid>
              <a:tr h="381000">
                <a:tc>
                  <a:txBody>
                    <a:bodyPr/>
                    <a:lstStyle/>
                    <a:p>
                      <a:pPr indent="0" lvl="0" marL="0" marR="0" rtl="0" algn="l">
                        <a:lnSpc>
                          <a:spcPct val="115000"/>
                        </a:lnSpc>
                        <a:spcBef>
                          <a:spcPts val="0"/>
                        </a:spcBef>
                        <a:spcAft>
                          <a:spcPts val="0"/>
                        </a:spcAft>
                        <a:buClr>
                          <a:srgbClr val="000000"/>
                        </a:buClr>
                        <a:buSzPts val="2400"/>
                        <a:buFont typeface="Arial"/>
                        <a:buNone/>
                      </a:pPr>
                      <a:r>
                        <a:rPr lang="en-US" sz="2400" u="none" cap="none" strike="noStrike">
                          <a:solidFill>
                            <a:srgbClr val="1B1C1D"/>
                          </a:solidFill>
                        </a:rPr>
                        <a:t>Model</a:t>
                      </a:r>
                      <a:endParaRPr sz="24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400"/>
                        <a:buFont typeface="Arial"/>
                        <a:buNone/>
                      </a:pPr>
                      <a:r>
                        <a:rPr lang="en-US" sz="2400" u="none" cap="none" strike="noStrike">
                          <a:solidFill>
                            <a:srgbClr val="1B1C1D"/>
                          </a:solidFill>
                        </a:rPr>
                        <a:t>Contextual</a:t>
                      </a:r>
                      <a:endParaRPr sz="24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400"/>
                        <a:buFont typeface="Arial"/>
                        <a:buNone/>
                      </a:pPr>
                      <a:r>
                        <a:rPr lang="en-US" sz="2400" u="none" cap="none" strike="noStrike">
                          <a:solidFill>
                            <a:srgbClr val="1B1C1D"/>
                          </a:solidFill>
                        </a:rPr>
                        <a:t>Dimensionality</a:t>
                      </a:r>
                      <a:endParaRPr sz="24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400"/>
                        <a:buFont typeface="Arial"/>
                        <a:buNone/>
                      </a:pPr>
                      <a:r>
                        <a:rPr lang="en-US" sz="2400" u="none" cap="none" strike="noStrike">
                          <a:solidFill>
                            <a:srgbClr val="1B1C1D"/>
                          </a:solidFill>
                        </a:rPr>
                        <a:t>Pretrained Available</a:t>
                      </a:r>
                      <a:endParaRPr sz="24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r>
              <a:tr h="381000">
                <a:tc>
                  <a:txBody>
                    <a:bodyPr/>
                    <a:lstStyle/>
                    <a:p>
                      <a:pPr indent="0" lvl="0" marL="0" marR="0" rtl="0" algn="l">
                        <a:lnSpc>
                          <a:spcPct val="115000"/>
                        </a:lnSpc>
                        <a:spcBef>
                          <a:spcPts val="0"/>
                        </a:spcBef>
                        <a:spcAft>
                          <a:spcPts val="0"/>
                        </a:spcAft>
                        <a:buClr>
                          <a:srgbClr val="000000"/>
                        </a:buClr>
                        <a:buSzPts val="2400"/>
                        <a:buFont typeface="Arial"/>
                        <a:buNone/>
                      </a:pPr>
                      <a:r>
                        <a:rPr lang="en-US" sz="2400" u="none" cap="none" strike="noStrike">
                          <a:solidFill>
                            <a:srgbClr val="1B1C1D"/>
                          </a:solidFill>
                        </a:rPr>
                        <a:t>Word2Vec</a:t>
                      </a:r>
                      <a:endParaRPr sz="24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400"/>
                        <a:buFont typeface="Arial"/>
                        <a:buNone/>
                      </a:pPr>
                      <a:r>
                        <a:rPr lang="en-US" sz="2400" u="none" cap="none" strike="noStrike">
                          <a:solidFill>
                            <a:srgbClr val="1B1C1D"/>
                          </a:solidFill>
                        </a:rPr>
                        <a:t>No</a:t>
                      </a:r>
                      <a:endParaRPr sz="24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400"/>
                        <a:buFont typeface="Arial"/>
                        <a:buNone/>
                      </a:pPr>
                      <a:r>
                        <a:rPr lang="en-US" sz="2400" u="none" cap="none" strike="noStrike">
                          <a:solidFill>
                            <a:srgbClr val="1B1C1D"/>
                          </a:solidFill>
                        </a:rPr>
                        <a:t>100-300</a:t>
                      </a:r>
                      <a:endParaRPr sz="24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400"/>
                        <a:buFont typeface="Arial"/>
                        <a:buNone/>
                      </a:pPr>
                      <a:r>
                        <a:rPr lang="en-US" sz="2400" u="none" cap="none" strike="noStrike">
                          <a:solidFill>
                            <a:srgbClr val="1B1C1D"/>
                          </a:solidFill>
                        </a:rPr>
                        <a:t>Yes</a:t>
                      </a:r>
                      <a:endParaRPr sz="24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r>
              <a:tr h="381000">
                <a:tc>
                  <a:txBody>
                    <a:bodyPr/>
                    <a:lstStyle/>
                    <a:p>
                      <a:pPr indent="0" lvl="0" marL="0" marR="0" rtl="0" algn="l">
                        <a:lnSpc>
                          <a:spcPct val="115000"/>
                        </a:lnSpc>
                        <a:spcBef>
                          <a:spcPts val="0"/>
                        </a:spcBef>
                        <a:spcAft>
                          <a:spcPts val="0"/>
                        </a:spcAft>
                        <a:buClr>
                          <a:srgbClr val="000000"/>
                        </a:buClr>
                        <a:buSzPts val="2400"/>
                        <a:buFont typeface="Arial"/>
                        <a:buNone/>
                      </a:pPr>
                      <a:r>
                        <a:rPr lang="en-US" sz="2400" u="none" cap="none" strike="noStrike">
                          <a:solidFill>
                            <a:srgbClr val="1B1C1D"/>
                          </a:solidFill>
                        </a:rPr>
                        <a:t>GloVe</a:t>
                      </a:r>
                      <a:endParaRPr sz="24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400"/>
                        <a:buFont typeface="Arial"/>
                        <a:buNone/>
                      </a:pPr>
                      <a:r>
                        <a:rPr lang="en-US" sz="2400" u="none" cap="none" strike="noStrike">
                          <a:solidFill>
                            <a:srgbClr val="1B1C1D"/>
                          </a:solidFill>
                        </a:rPr>
                        <a:t>No</a:t>
                      </a:r>
                      <a:endParaRPr sz="24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400"/>
                        <a:buFont typeface="Arial"/>
                        <a:buNone/>
                      </a:pPr>
                      <a:r>
                        <a:rPr lang="en-US" sz="2400" u="none" cap="none" strike="noStrike">
                          <a:solidFill>
                            <a:srgbClr val="1B1C1D"/>
                          </a:solidFill>
                        </a:rPr>
                        <a:t>100-300</a:t>
                      </a:r>
                      <a:endParaRPr sz="24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400"/>
                        <a:buFont typeface="Arial"/>
                        <a:buNone/>
                      </a:pPr>
                      <a:r>
                        <a:rPr lang="en-US" sz="2400" u="none" cap="none" strike="noStrike">
                          <a:solidFill>
                            <a:srgbClr val="1B1C1D"/>
                          </a:solidFill>
                        </a:rPr>
                        <a:t>Yes</a:t>
                      </a:r>
                      <a:endParaRPr sz="24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r>
              <a:tr h="381000">
                <a:tc>
                  <a:txBody>
                    <a:bodyPr/>
                    <a:lstStyle/>
                    <a:p>
                      <a:pPr indent="0" lvl="0" marL="0" marR="0" rtl="0" algn="l">
                        <a:lnSpc>
                          <a:spcPct val="115000"/>
                        </a:lnSpc>
                        <a:spcBef>
                          <a:spcPts val="0"/>
                        </a:spcBef>
                        <a:spcAft>
                          <a:spcPts val="0"/>
                        </a:spcAft>
                        <a:buClr>
                          <a:srgbClr val="000000"/>
                        </a:buClr>
                        <a:buSzPts val="2400"/>
                        <a:buFont typeface="Arial"/>
                        <a:buNone/>
                      </a:pPr>
                      <a:r>
                        <a:rPr lang="en-US" sz="2400" u="none" cap="none" strike="noStrike">
                          <a:solidFill>
                            <a:srgbClr val="1B1C1D"/>
                          </a:solidFill>
                        </a:rPr>
                        <a:t>BERT</a:t>
                      </a:r>
                      <a:endParaRPr sz="24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400"/>
                        <a:buFont typeface="Arial"/>
                        <a:buNone/>
                      </a:pPr>
                      <a:r>
                        <a:rPr lang="en-US" sz="2400" u="none" cap="none" strike="noStrike">
                          <a:solidFill>
                            <a:srgbClr val="1B1C1D"/>
                          </a:solidFill>
                        </a:rPr>
                        <a:t>Yes</a:t>
                      </a:r>
                      <a:endParaRPr sz="24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400"/>
                        <a:buFont typeface="Arial"/>
                        <a:buNone/>
                      </a:pPr>
                      <a:r>
                        <a:rPr lang="en-US" sz="2400" u="none" cap="none" strike="noStrike">
                          <a:solidFill>
                            <a:srgbClr val="1B1C1D"/>
                          </a:solidFill>
                        </a:rPr>
                        <a:t>768+</a:t>
                      </a:r>
                      <a:endParaRPr sz="24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400"/>
                        <a:buFont typeface="Arial"/>
                        <a:buNone/>
                      </a:pPr>
                      <a:r>
                        <a:rPr lang="en-US" sz="2400" u="none" cap="none" strike="noStrike">
                          <a:solidFill>
                            <a:srgbClr val="1B1C1D"/>
                          </a:solidFill>
                        </a:rPr>
                        <a:t>Yes</a:t>
                      </a:r>
                      <a:endParaRPr sz="24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r>
            </a:tbl>
          </a:graphicData>
        </a:graphic>
      </p:graphicFrame>
      <p:pic>
        <p:nvPicPr>
          <p:cNvPr id="266" name="Google Shape;266;g3708bf00c7c_0_40"/>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g3708bf00c7c_0_59"/>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POS Tagging (Part-of-Speech Tagging)</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72" name="Google Shape;272;g3708bf00c7c_0_59"/>
          <p:cNvSpPr txBox="1"/>
          <p:nvPr/>
        </p:nvSpPr>
        <p:spPr>
          <a:xfrm>
            <a:off x="440400" y="18401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rPr lang="en-US" sz="2400">
                <a:solidFill>
                  <a:schemeClr val="dk1"/>
                </a:solidFill>
              </a:rPr>
              <a:t>POS tagging is the process of assigning</a:t>
            </a:r>
            <a:r>
              <a:rPr b="0" i="0" lang="en-US" sz="2400" u="none" cap="none" strike="noStrike">
                <a:solidFill>
                  <a:schemeClr val="dk1"/>
                </a:solidFill>
                <a:latin typeface="Arial"/>
                <a:ea typeface="Arial"/>
                <a:cs typeface="Arial"/>
                <a:sym typeface="Arial"/>
              </a:rPr>
              <a:t> grammatical roles to words such as noun, verb, adjective.</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Example: Sentence: "The cat sat on the mat"</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Tags: ["DT", "NN", "VBD", "IN", "DT", "NN"]</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73" name="Google Shape;273;g3708bf00c7c_0_59"/>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74" name="Google Shape;274;g3708bf00c7c_0_59"/>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275" name="Google Shape;275;g3708bf00c7c_0_59"/>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g3708bf00c7c_0_68"/>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POS Tagging Libraries and Use Case</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81" name="Google Shape;281;g3708bf00c7c_0_68"/>
          <p:cNvSpPr txBox="1"/>
          <p:nvPr/>
        </p:nvSpPr>
        <p:spPr>
          <a:xfrm>
            <a:off x="440400" y="1840125"/>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Libraries and Use Case</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br>
              <a:rPr b="0" i="0" lang="en-US" sz="2400" u="none" cap="none" strike="noStrike">
                <a:solidFill>
                  <a:schemeClr val="dk1"/>
                </a:solidFill>
                <a:latin typeface="Arial"/>
                <a:ea typeface="Arial"/>
                <a:cs typeface="Arial"/>
                <a:sym typeface="Arial"/>
              </a:rPr>
            </a:br>
            <a:br>
              <a:rPr b="0" i="0" lang="en-US" sz="2400" u="none" cap="none" strike="noStrike">
                <a:solidFill>
                  <a:schemeClr val="dk1"/>
                </a:solidFill>
                <a:latin typeface="Arial"/>
                <a:ea typeface="Arial"/>
                <a:cs typeface="Arial"/>
                <a:sym typeface="Arial"/>
              </a:rPr>
            </a:br>
            <a:r>
              <a:rPr b="0" i="0" lang="en-US" sz="2400" u="none" cap="none" strike="noStrike">
                <a:solidFill>
                  <a:schemeClr val="dk1"/>
                </a:solidFill>
                <a:latin typeface="Arial"/>
                <a:ea typeface="Arial"/>
                <a:cs typeface="Arial"/>
                <a:sym typeface="Arial"/>
              </a:rPr>
              <a:t>Libraries: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nltk: nltk.pos_tag()</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spaCy: spacy.load('en_core_web_sm')</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100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rPr b="0" i="0" lang="en-US" sz="2400" u="none" cap="none" strike="noStrike">
                <a:solidFill>
                  <a:schemeClr val="dk1"/>
                </a:solidFill>
                <a:latin typeface="Arial"/>
                <a:ea typeface="Arial"/>
                <a:cs typeface="Arial"/>
                <a:sym typeface="Arial"/>
              </a:rPr>
              <a:t>Use Case: Useful for syntactic parsing, sentiment analysis, and feature extraction in NLP pipelines.</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82" name="Google Shape;282;g3708bf00c7c_0_68"/>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83" name="Google Shape;283;g3708bf00c7c_0_68"/>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284" name="Google Shape;284;g3708bf00c7c_0_68"/>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g3708bf00c7c_0_76"/>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Common APIs for Text Feature Engineering</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290" name="Google Shape;290;g3708bf00c7c_0_76"/>
          <p:cNvSpPr txBox="1"/>
          <p:nvPr/>
        </p:nvSpPr>
        <p:spPr>
          <a:xfrm>
            <a:off x="441950" y="1697688"/>
            <a:ext cx="11323200" cy="4351200"/>
          </a:xfrm>
          <a:prstGeom prst="rect">
            <a:avLst/>
          </a:prstGeom>
          <a:noFill/>
          <a:ln>
            <a:noFill/>
          </a:ln>
        </p:spPr>
        <p:txBody>
          <a:bodyPr anchorCtr="0" anchor="t" bIns="45700" lIns="91425" spcFirstLastPara="1" rIns="91425" wrap="square" tIns="45700">
            <a:noAutofit/>
          </a:bodyPr>
          <a:lstStyle/>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291" name="Google Shape;291;g3708bf00c7c_0_76"/>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292" name="Google Shape;292;g3708bf00c7c_0_76"/>
          <p:cNvPicPr preferRelativeResize="0"/>
          <p:nvPr/>
        </p:nvPicPr>
        <p:blipFill rotWithShape="1">
          <a:blip r:embed="rId4">
            <a:alphaModFix/>
          </a:blip>
          <a:srcRect b="0" l="0" r="0" t="0"/>
          <a:stretch/>
        </p:blipFill>
        <p:spPr>
          <a:xfrm>
            <a:off x="-2" y="1825628"/>
            <a:ext cx="4465321" cy="103523"/>
          </a:xfrm>
          <a:prstGeom prst="rect">
            <a:avLst/>
          </a:prstGeom>
          <a:noFill/>
          <a:ln>
            <a:noFill/>
          </a:ln>
        </p:spPr>
      </p:pic>
      <p:pic>
        <p:nvPicPr>
          <p:cNvPr id="293" name="Google Shape;293;g3708bf00c7c_0_76"/>
          <p:cNvPicPr preferRelativeResize="0"/>
          <p:nvPr/>
        </p:nvPicPr>
        <p:blipFill rotWithShape="1">
          <a:blip r:embed="rId5">
            <a:alphaModFix/>
          </a:blip>
          <a:srcRect b="0" l="0" r="0" t="0"/>
          <a:stretch/>
        </p:blipFill>
        <p:spPr>
          <a:xfrm>
            <a:off x="10078720" y="405951"/>
            <a:ext cx="1778000" cy="679450"/>
          </a:xfrm>
          <a:prstGeom prst="rect">
            <a:avLst/>
          </a:prstGeom>
          <a:noFill/>
          <a:ln>
            <a:noFill/>
          </a:ln>
        </p:spPr>
      </p:pic>
      <p:graphicFrame>
        <p:nvGraphicFramePr>
          <p:cNvPr id="294" name="Google Shape;294;g3708bf00c7c_0_76"/>
          <p:cNvGraphicFramePr/>
          <p:nvPr/>
        </p:nvGraphicFramePr>
        <p:xfrm>
          <a:off x="952500" y="2251725"/>
          <a:ext cx="3000000" cy="3000000"/>
        </p:xfrm>
        <a:graphic>
          <a:graphicData uri="http://schemas.openxmlformats.org/drawingml/2006/table">
            <a:tbl>
              <a:tblPr>
                <a:noFill/>
                <a:tableStyleId>{3C1AB03A-21FF-4956-9FCD-F7B2C00BB914}</a:tableStyleId>
              </a:tblPr>
              <a:tblGrid>
                <a:gridCol w="3429000"/>
                <a:gridCol w="3429000"/>
                <a:gridCol w="3429000"/>
              </a:tblGrid>
              <a:tr h="381000">
                <a:tc>
                  <a:txBody>
                    <a:bodyPr/>
                    <a:lstStyle/>
                    <a:p>
                      <a:pPr indent="0" lvl="0" marL="0" marR="0" rtl="0" algn="l">
                        <a:lnSpc>
                          <a:spcPct val="115000"/>
                        </a:lnSpc>
                        <a:spcBef>
                          <a:spcPts val="0"/>
                        </a:spcBef>
                        <a:spcAft>
                          <a:spcPts val="0"/>
                        </a:spcAft>
                        <a:buClr>
                          <a:srgbClr val="000000"/>
                        </a:buClr>
                        <a:buSzPts val="2100"/>
                        <a:buFont typeface="Arial"/>
                        <a:buNone/>
                      </a:pPr>
                      <a:r>
                        <a:rPr lang="en-US" sz="2100" u="none" cap="none" strike="noStrike">
                          <a:solidFill>
                            <a:srgbClr val="1B1C1D"/>
                          </a:solidFill>
                        </a:rPr>
                        <a:t>Library</a:t>
                      </a:r>
                      <a:endParaRPr b="1" sz="21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100"/>
                        <a:buFont typeface="Arial"/>
                        <a:buNone/>
                      </a:pPr>
                      <a:r>
                        <a:rPr lang="en-US" sz="2100" u="none" cap="none" strike="noStrike">
                          <a:solidFill>
                            <a:srgbClr val="1B1C1D"/>
                          </a:solidFill>
                        </a:rPr>
                        <a:t>Tool</a:t>
                      </a:r>
                      <a:endParaRPr sz="21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100"/>
                        <a:buFont typeface="Arial"/>
                        <a:buNone/>
                      </a:pPr>
                      <a:r>
                        <a:rPr lang="en-US" sz="2100" u="none" cap="none" strike="noStrike">
                          <a:solidFill>
                            <a:srgbClr val="1B1C1D"/>
                          </a:solidFill>
                        </a:rPr>
                        <a:t>Purpose</a:t>
                      </a:r>
                      <a:endParaRPr sz="21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r>
              <a:tr h="381000">
                <a:tc>
                  <a:txBody>
                    <a:bodyPr/>
                    <a:lstStyle/>
                    <a:p>
                      <a:pPr indent="0" lvl="0" marL="0" marR="0" rtl="0" algn="l">
                        <a:lnSpc>
                          <a:spcPct val="115000"/>
                        </a:lnSpc>
                        <a:spcBef>
                          <a:spcPts val="0"/>
                        </a:spcBef>
                        <a:spcAft>
                          <a:spcPts val="0"/>
                        </a:spcAft>
                        <a:buClr>
                          <a:srgbClr val="000000"/>
                        </a:buClr>
                        <a:buSzPts val="2100"/>
                        <a:buFont typeface="Arial"/>
                        <a:buNone/>
                      </a:pPr>
                      <a:r>
                        <a:rPr lang="en-US" sz="2100" u="none" cap="none" strike="noStrike">
                          <a:solidFill>
                            <a:srgbClr val="575B5F"/>
                          </a:solidFill>
                          <a:highlight>
                            <a:srgbClr val="E9EEF6"/>
                          </a:highlight>
                        </a:rPr>
                        <a:t>sklearn</a:t>
                      </a:r>
                      <a:endParaRPr sz="21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100"/>
                        <a:buFont typeface="Arial"/>
                        <a:buNone/>
                      </a:pPr>
                      <a:r>
                        <a:rPr lang="en-US" sz="2100" u="none" cap="none" strike="noStrike">
                          <a:solidFill>
                            <a:srgbClr val="575B5F"/>
                          </a:solidFill>
                          <a:highlight>
                            <a:srgbClr val="E9EEF6"/>
                          </a:highlight>
                        </a:rPr>
                        <a:t>CountVectorizer</a:t>
                      </a:r>
                      <a:r>
                        <a:rPr lang="en-US" sz="2100" u="none" cap="none" strike="noStrike">
                          <a:solidFill>
                            <a:srgbClr val="1B1C1D"/>
                          </a:solidFill>
                        </a:rPr>
                        <a:t>, </a:t>
                      </a:r>
                      <a:r>
                        <a:rPr lang="en-US" sz="2100" u="none" cap="none" strike="noStrike">
                          <a:solidFill>
                            <a:srgbClr val="575B5F"/>
                          </a:solidFill>
                          <a:highlight>
                            <a:srgbClr val="E9EEF6"/>
                          </a:highlight>
                        </a:rPr>
                        <a:t>TfidfVectorizer</a:t>
                      </a:r>
                      <a:endParaRPr sz="21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100"/>
                        <a:buFont typeface="Arial"/>
                        <a:buNone/>
                      </a:pPr>
                      <a:r>
                        <a:rPr lang="en-US" sz="2100" u="none" cap="none" strike="noStrike">
                          <a:solidFill>
                            <a:srgbClr val="1B1C1D"/>
                          </a:solidFill>
                        </a:rPr>
                        <a:t>Text vectorization</a:t>
                      </a:r>
                      <a:endParaRPr sz="21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r>
              <a:tr h="381000">
                <a:tc>
                  <a:txBody>
                    <a:bodyPr/>
                    <a:lstStyle/>
                    <a:p>
                      <a:pPr indent="0" lvl="0" marL="0" marR="0" rtl="0" algn="l">
                        <a:lnSpc>
                          <a:spcPct val="115000"/>
                        </a:lnSpc>
                        <a:spcBef>
                          <a:spcPts val="0"/>
                        </a:spcBef>
                        <a:spcAft>
                          <a:spcPts val="0"/>
                        </a:spcAft>
                        <a:buClr>
                          <a:srgbClr val="000000"/>
                        </a:buClr>
                        <a:buSzPts val="2100"/>
                        <a:buFont typeface="Arial"/>
                        <a:buNone/>
                      </a:pPr>
                      <a:r>
                        <a:rPr lang="en-US" sz="2100" u="none" cap="none" strike="noStrike">
                          <a:solidFill>
                            <a:srgbClr val="575B5F"/>
                          </a:solidFill>
                          <a:highlight>
                            <a:srgbClr val="E9EEF6"/>
                          </a:highlight>
                        </a:rPr>
                        <a:t>nltk</a:t>
                      </a:r>
                      <a:endParaRPr sz="21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100"/>
                        <a:buFont typeface="Arial"/>
                        <a:buNone/>
                      </a:pPr>
                      <a:r>
                        <a:rPr lang="en-US" sz="2100" u="none" cap="none" strike="noStrike">
                          <a:solidFill>
                            <a:srgbClr val="575B5F"/>
                          </a:solidFill>
                          <a:highlight>
                            <a:srgbClr val="E9EEF6"/>
                          </a:highlight>
                        </a:rPr>
                        <a:t>word_tokenize</a:t>
                      </a:r>
                      <a:r>
                        <a:rPr lang="en-US" sz="2100" u="none" cap="none" strike="noStrike">
                          <a:solidFill>
                            <a:srgbClr val="1B1C1D"/>
                          </a:solidFill>
                        </a:rPr>
                        <a:t>, </a:t>
                      </a:r>
                      <a:r>
                        <a:rPr lang="en-US" sz="2100" u="none" cap="none" strike="noStrike">
                          <a:solidFill>
                            <a:srgbClr val="575B5F"/>
                          </a:solidFill>
                          <a:highlight>
                            <a:srgbClr val="E9EEF6"/>
                          </a:highlight>
                        </a:rPr>
                        <a:t>pos_tag</a:t>
                      </a:r>
                      <a:endParaRPr sz="21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100"/>
                        <a:buFont typeface="Arial"/>
                        <a:buNone/>
                      </a:pPr>
                      <a:r>
                        <a:rPr lang="en-US" sz="2100" u="none" cap="none" strike="noStrike">
                          <a:solidFill>
                            <a:srgbClr val="1B1C1D"/>
                          </a:solidFill>
                        </a:rPr>
                        <a:t>Tokenization, POS tagging</a:t>
                      </a:r>
                      <a:endParaRPr sz="21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r>
              <a:tr h="381000">
                <a:tc>
                  <a:txBody>
                    <a:bodyPr/>
                    <a:lstStyle/>
                    <a:p>
                      <a:pPr indent="0" lvl="0" marL="0" marR="0" rtl="0" algn="l">
                        <a:lnSpc>
                          <a:spcPct val="115000"/>
                        </a:lnSpc>
                        <a:spcBef>
                          <a:spcPts val="0"/>
                        </a:spcBef>
                        <a:spcAft>
                          <a:spcPts val="0"/>
                        </a:spcAft>
                        <a:buClr>
                          <a:srgbClr val="000000"/>
                        </a:buClr>
                        <a:buSzPts val="2100"/>
                        <a:buFont typeface="Arial"/>
                        <a:buNone/>
                      </a:pPr>
                      <a:r>
                        <a:rPr lang="en-US" sz="2100" u="none" cap="none" strike="noStrike">
                          <a:solidFill>
                            <a:srgbClr val="575B5F"/>
                          </a:solidFill>
                          <a:highlight>
                            <a:srgbClr val="E9EEF6"/>
                          </a:highlight>
                        </a:rPr>
                        <a:t>spaCy</a:t>
                      </a:r>
                      <a:endParaRPr sz="21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100"/>
                        <a:buFont typeface="Arial"/>
                        <a:buNone/>
                      </a:pPr>
                      <a:r>
                        <a:rPr lang="en-US" sz="2100" u="none" cap="none" strike="noStrike">
                          <a:solidFill>
                            <a:srgbClr val="575B5F"/>
                          </a:solidFill>
                          <a:highlight>
                            <a:srgbClr val="E9EEF6"/>
                          </a:highlight>
                        </a:rPr>
                        <a:t>nlp.pipe</a:t>
                      </a:r>
                      <a:r>
                        <a:rPr lang="en-US" sz="2100" u="none" cap="none" strike="noStrike">
                          <a:solidFill>
                            <a:srgbClr val="1B1C1D"/>
                          </a:solidFill>
                        </a:rPr>
                        <a:t>, </a:t>
                      </a:r>
                      <a:r>
                        <a:rPr lang="en-US" sz="2100" u="none" cap="none" strike="noStrike">
                          <a:solidFill>
                            <a:srgbClr val="575B5F"/>
                          </a:solidFill>
                          <a:highlight>
                            <a:srgbClr val="E9EEF6"/>
                          </a:highlight>
                        </a:rPr>
                        <a:t>POS</a:t>
                      </a:r>
                      <a:endParaRPr sz="21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100"/>
                        <a:buFont typeface="Arial"/>
                        <a:buNone/>
                      </a:pPr>
                      <a:r>
                        <a:rPr lang="en-US" sz="2100" u="none" cap="none" strike="noStrike">
                          <a:solidFill>
                            <a:srgbClr val="1B1C1D"/>
                          </a:solidFill>
                        </a:rPr>
                        <a:t>Fast NLP pipeline</a:t>
                      </a:r>
                      <a:endParaRPr sz="21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r>
              <a:tr h="381000">
                <a:tc>
                  <a:txBody>
                    <a:bodyPr/>
                    <a:lstStyle/>
                    <a:p>
                      <a:pPr indent="0" lvl="0" marL="0" marR="0" rtl="0" algn="l">
                        <a:lnSpc>
                          <a:spcPct val="115000"/>
                        </a:lnSpc>
                        <a:spcBef>
                          <a:spcPts val="0"/>
                        </a:spcBef>
                        <a:spcAft>
                          <a:spcPts val="0"/>
                        </a:spcAft>
                        <a:buClr>
                          <a:srgbClr val="000000"/>
                        </a:buClr>
                        <a:buSzPts val="2100"/>
                        <a:buFont typeface="Arial"/>
                        <a:buNone/>
                      </a:pPr>
                      <a:r>
                        <a:rPr lang="en-US" sz="2100" u="none" cap="none" strike="noStrike">
                          <a:solidFill>
                            <a:srgbClr val="575B5F"/>
                          </a:solidFill>
                          <a:highlight>
                            <a:srgbClr val="E9EEF6"/>
                          </a:highlight>
                        </a:rPr>
                        <a:t>gensim</a:t>
                      </a:r>
                      <a:endParaRPr sz="21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100"/>
                        <a:buFont typeface="Arial"/>
                        <a:buNone/>
                      </a:pPr>
                      <a:r>
                        <a:rPr lang="en-US" sz="2100" u="none" cap="none" strike="noStrike">
                          <a:solidFill>
                            <a:srgbClr val="575B5F"/>
                          </a:solidFill>
                          <a:highlight>
                            <a:srgbClr val="E9EEF6"/>
                          </a:highlight>
                        </a:rPr>
                        <a:t>Word2Vec</a:t>
                      </a:r>
                      <a:r>
                        <a:rPr lang="en-US" sz="2100" u="none" cap="none" strike="noStrike">
                          <a:solidFill>
                            <a:srgbClr val="1B1C1D"/>
                          </a:solidFill>
                        </a:rPr>
                        <a:t>, </a:t>
                      </a:r>
                      <a:r>
                        <a:rPr lang="en-US" sz="2100" u="none" cap="none" strike="noStrike">
                          <a:solidFill>
                            <a:srgbClr val="575B5F"/>
                          </a:solidFill>
                          <a:highlight>
                            <a:srgbClr val="E9EEF6"/>
                          </a:highlight>
                        </a:rPr>
                        <a:t>Doc2Vec</a:t>
                      </a:r>
                      <a:endParaRPr sz="21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100"/>
                        <a:buFont typeface="Arial"/>
                        <a:buNone/>
                      </a:pPr>
                      <a:r>
                        <a:rPr lang="en-US" sz="2100" u="none" cap="none" strike="noStrike">
                          <a:solidFill>
                            <a:srgbClr val="1B1C1D"/>
                          </a:solidFill>
                        </a:rPr>
                        <a:t>Semantic embeddings</a:t>
                      </a:r>
                      <a:endParaRPr sz="21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r>
              <a:tr h="381000">
                <a:tc>
                  <a:txBody>
                    <a:bodyPr/>
                    <a:lstStyle/>
                    <a:p>
                      <a:pPr indent="0" lvl="0" marL="0" marR="0" rtl="0" algn="l">
                        <a:lnSpc>
                          <a:spcPct val="115000"/>
                        </a:lnSpc>
                        <a:spcBef>
                          <a:spcPts val="0"/>
                        </a:spcBef>
                        <a:spcAft>
                          <a:spcPts val="0"/>
                        </a:spcAft>
                        <a:buClr>
                          <a:srgbClr val="000000"/>
                        </a:buClr>
                        <a:buSzPts val="2100"/>
                        <a:buFont typeface="Arial"/>
                        <a:buNone/>
                      </a:pPr>
                      <a:r>
                        <a:rPr lang="en-US" sz="2100" u="none" cap="none" strike="noStrike">
                          <a:solidFill>
                            <a:srgbClr val="575B5F"/>
                          </a:solidFill>
                          <a:highlight>
                            <a:srgbClr val="E9EEF6"/>
                          </a:highlight>
                        </a:rPr>
                        <a:t>transformers</a:t>
                      </a:r>
                      <a:endParaRPr sz="21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100"/>
                        <a:buFont typeface="Arial"/>
                        <a:buNone/>
                      </a:pPr>
                      <a:r>
                        <a:rPr lang="en-US" sz="2100" u="none" cap="none" strike="noStrike">
                          <a:solidFill>
                            <a:srgbClr val="575B5F"/>
                          </a:solidFill>
                          <a:highlight>
                            <a:srgbClr val="E9EEF6"/>
                          </a:highlight>
                        </a:rPr>
                        <a:t>BERT model</a:t>
                      </a:r>
                      <a:r>
                        <a:rPr lang="en-US" sz="2100" u="none" cap="none" strike="noStrike">
                          <a:solidFill>
                            <a:srgbClr val="1B1C1D"/>
                          </a:solidFill>
                        </a:rPr>
                        <a:t>, </a:t>
                      </a:r>
                      <a:r>
                        <a:rPr lang="en-US" sz="2100" u="none" cap="none" strike="noStrike">
                          <a:solidFill>
                            <a:srgbClr val="575B5F"/>
                          </a:solidFill>
                          <a:highlight>
                            <a:srgbClr val="E9EEF6"/>
                          </a:highlight>
                        </a:rPr>
                        <a:t>tokenizer</a:t>
                      </a:r>
                      <a:endParaRPr sz="21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c>
                  <a:txBody>
                    <a:bodyPr/>
                    <a:lstStyle/>
                    <a:p>
                      <a:pPr indent="0" lvl="0" marL="0" marR="0" rtl="0" algn="l">
                        <a:lnSpc>
                          <a:spcPct val="115000"/>
                        </a:lnSpc>
                        <a:spcBef>
                          <a:spcPts val="0"/>
                        </a:spcBef>
                        <a:spcAft>
                          <a:spcPts val="0"/>
                        </a:spcAft>
                        <a:buClr>
                          <a:srgbClr val="000000"/>
                        </a:buClr>
                        <a:buSzPts val="2100"/>
                        <a:buFont typeface="Arial"/>
                        <a:buNone/>
                      </a:pPr>
                      <a:r>
                        <a:rPr lang="en-US" sz="2100" u="none" cap="none" strike="noStrike">
                          <a:solidFill>
                            <a:srgbClr val="1B1C1D"/>
                          </a:solidFill>
                        </a:rPr>
                        <a:t>Deep contextual embeddings</a:t>
                      </a:r>
                      <a:endParaRPr sz="2100" u="none" cap="none" strike="noStrike">
                        <a:solidFill>
                          <a:srgbClr val="1B1C1D"/>
                        </a:solidFill>
                      </a:endParaRPr>
                    </a:p>
                  </a:txBody>
                  <a:tcPr marT="76200" marB="76200" marR="114300" marL="114300">
                    <a:lnL cap="flat" cmpd="sng" w="9525">
                      <a:solidFill>
                        <a:srgbClr val="1B1C1D"/>
                      </a:solidFill>
                      <a:prstDash val="solid"/>
                      <a:round/>
                      <a:headEnd len="sm" w="sm" type="none"/>
                      <a:tailEnd len="sm" w="sm" type="none"/>
                    </a:lnL>
                    <a:lnR cap="flat" cmpd="sng" w="9525">
                      <a:solidFill>
                        <a:srgbClr val="1B1C1D"/>
                      </a:solidFill>
                      <a:prstDash val="solid"/>
                      <a:round/>
                      <a:headEnd len="sm" w="sm" type="none"/>
                      <a:tailEnd len="sm" w="sm" type="none"/>
                    </a:lnR>
                    <a:lnT cap="flat" cmpd="sng" w="9525">
                      <a:solidFill>
                        <a:srgbClr val="1B1C1D"/>
                      </a:solidFill>
                      <a:prstDash val="solid"/>
                      <a:round/>
                      <a:headEnd len="sm" w="sm" type="none"/>
                      <a:tailEnd len="sm" w="sm" type="none"/>
                    </a:lnT>
                    <a:lnB cap="flat" cmpd="sng" w="9525">
                      <a:solidFill>
                        <a:srgbClr val="1B1C1D"/>
                      </a:solidFill>
                      <a:prstDash val="solid"/>
                      <a:round/>
                      <a:headEnd len="sm" w="sm" type="none"/>
                      <a:tailEnd len="sm" w="sm" type="none"/>
                    </a:lnB>
                    <a:solidFill>
                      <a:srgbClr val="F8FAFD"/>
                    </a:solidFill>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g3708bf00c7c_0_91"/>
          <p:cNvSpPr txBox="1"/>
          <p:nvPr/>
        </p:nvSpPr>
        <p:spPr>
          <a:xfrm>
            <a:off x="441950" y="349875"/>
            <a:ext cx="9135300" cy="9306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400"/>
              <a:buFont typeface="Arial Narrow"/>
              <a:buNone/>
            </a:pPr>
            <a:r>
              <a:rPr b="1" i="0" lang="en-US" sz="4400" u="none" cap="none" strike="noStrike">
                <a:solidFill>
                  <a:schemeClr val="dk1"/>
                </a:solidFill>
                <a:latin typeface="Arial Narrow"/>
                <a:ea typeface="Arial Narrow"/>
                <a:cs typeface="Arial Narrow"/>
                <a:sym typeface="Arial Narrow"/>
              </a:rPr>
              <a:t>Conclusion</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a:p>
            <a:pPr indent="0" lvl="0" marL="0" marR="0" rtl="0" algn="l">
              <a:lnSpc>
                <a:spcPct val="90000"/>
              </a:lnSpc>
              <a:spcBef>
                <a:spcPts val="0"/>
              </a:spcBef>
              <a:spcAft>
                <a:spcPts val="0"/>
              </a:spcAft>
              <a:buClr>
                <a:schemeClr val="dk1"/>
              </a:buClr>
              <a:buSzPts val="4400"/>
              <a:buFont typeface="Arial Narrow"/>
              <a:buNone/>
            </a:pPr>
            <a:r>
              <a:t/>
            </a:r>
            <a:endParaRPr b="1" i="0" sz="4400" u="none" cap="none" strike="noStrike">
              <a:solidFill>
                <a:schemeClr val="dk1"/>
              </a:solidFill>
              <a:latin typeface="Arial Narrow"/>
              <a:ea typeface="Arial Narrow"/>
              <a:cs typeface="Arial Narrow"/>
              <a:sym typeface="Arial Narrow"/>
            </a:endParaRPr>
          </a:p>
        </p:txBody>
      </p:sp>
      <p:sp>
        <p:nvSpPr>
          <p:cNvPr id="300" name="Google Shape;300;g3708bf00c7c_0_91"/>
          <p:cNvSpPr txBox="1"/>
          <p:nvPr/>
        </p:nvSpPr>
        <p:spPr>
          <a:xfrm>
            <a:off x="440400" y="1840125"/>
            <a:ext cx="11323200" cy="4351200"/>
          </a:xfrm>
          <a:prstGeom prst="rect">
            <a:avLst/>
          </a:prstGeom>
          <a:noFill/>
          <a:ln>
            <a:noFill/>
          </a:ln>
        </p:spPr>
        <p:txBody>
          <a:bodyPr anchorCtr="0" anchor="t" bIns="45700" lIns="91425" spcFirstLastPara="1" rIns="91425" wrap="square" tIns="45700">
            <a:noAutofit/>
          </a:bodyPr>
          <a:lstStyle/>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Feature engineering in NLP is not one-size-fits-all.</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Choice depends on problem complexity, data availability, and computational resources.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Foundation for converting raw text into rich features.</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The power of NLP lies in the quality of features generated.</a:t>
            </a:r>
            <a:endParaRPr b="0" i="0" sz="2400" u="none" cap="none" strike="noStrike">
              <a:solidFill>
                <a:schemeClr val="dk1"/>
              </a:solidFill>
              <a:latin typeface="Arial"/>
              <a:ea typeface="Arial"/>
              <a:cs typeface="Arial"/>
              <a:sym typeface="Arial"/>
            </a:endParaRPr>
          </a:p>
          <a:p>
            <a:pPr indent="-381000" lvl="0" marL="457200" marR="0" rtl="0" algn="l">
              <a:lnSpc>
                <a:spcPct val="70000"/>
              </a:lnSpc>
              <a:spcBef>
                <a:spcPts val="1000"/>
              </a:spcBef>
              <a:spcAft>
                <a:spcPts val="0"/>
              </a:spcAft>
              <a:buClr>
                <a:schemeClr val="dk1"/>
              </a:buClr>
              <a:buSzPts val="2400"/>
              <a:buFont typeface="Arial"/>
              <a:buChar char="●"/>
            </a:pPr>
            <a:r>
              <a:rPr b="0" i="0" lang="en-US" sz="2400" u="none" cap="none" strike="noStrike">
                <a:solidFill>
                  <a:schemeClr val="dk1"/>
                </a:solidFill>
                <a:latin typeface="Arial"/>
                <a:ea typeface="Arial"/>
                <a:cs typeface="Arial"/>
                <a:sym typeface="Arial"/>
              </a:rPr>
              <a:t>More meaningful representation leads to more powerful models.</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2400"/>
              <a:buFont typeface="Arial"/>
              <a:buNone/>
            </a:pPr>
            <a:r>
              <a:t/>
            </a:r>
            <a:endParaRPr b="0" i="0" sz="2400" u="none" cap="none" strike="noStrike">
              <a:solidFill>
                <a:schemeClr val="dk1"/>
              </a:solidFill>
              <a:latin typeface="Arial"/>
              <a:ea typeface="Arial"/>
              <a:cs typeface="Arial"/>
              <a:sym typeface="Arial"/>
            </a:endParaRPr>
          </a:p>
          <a:p>
            <a:pPr indent="0" lvl="0" marL="45720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0"/>
              </a:spcBef>
              <a:spcAft>
                <a:spcPts val="0"/>
              </a:spcAft>
              <a:buClr>
                <a:srgbClr val="000000"/>
              </a:buClr>
              <a:buSzPts val="852"/>
              <a:buFont typeface="Arial"/>
              <a:buNone/>
            </a:pPr>
            <a:r>
              <a:t/>
            </a:r>
            <a:endParaRPr b="0" i="0" sz="2400" u="none" cap="none" strike="noStrike">
              <a:solidFill>
                <a:schemeClr val="dk1"/>
              </a:solidFill>
              <a:latin typeface="Arial"/>
              <a:ea typeface="Arial"/>
              <a:cs typeface="Arial"/>
              <a:sym typeface="Arial"/>
            </a:endParaRPr>
          </a:p>
          <a:p>
            <a:pPr indent="0" lvl="0" marL="0" marR="0" rtl="0" algn="l">
              <a:lnSpc>
                <a:spcPct val="70000"/>
              </a:lnSpc>
              <a:spcBef>
                <a:spcPts val="1000"/>
              </a:spcBef>
              <a:spcAft>
                <a:spcPts val="0"/>
              </a:spcAft>
              <a:buClr>
                <a:schemeClr val="dk1"/>
              </a:buClr>
              <a:buSzPts val="1860"/>
              <a:buFont typeface="Arial"/>
              <a:buNone/>
            </a:pPr>
            <a:r>
              <a:t/>
            </a:r>
            <a:endParaRPr b="0" i="0" sz="2400" u="none" cap="none" strike="noStrike">
              <a:solidFill>
                <a:schemeClr val="dk1"/>
              </a:solidFill>
              <a:latin typeface="Arial"/>
              <a:ea typeface="Arial"/>
              <a:cs typeface="Arial"/>
              <a:sym typeface="Arial"/>
            </a:endParaRPr>
          </a:p>
        </p:txBody>
      </p:sp>
      <p:pic>
        <p:nvPicPr>
          <p:cNvPr id="301" name="Google Shape;301;g3708bf00c7c_0_91"/>
          <p:cNvPicPr preferRelativeResize="0"/>
          <p:nvPr/>
        </p:nvPicPr>
        <p:blipFill rotWithShape="1">
          <a:blip r:embed="rId3">
            <a:alphaModFix/>
          </a:blip>
          <a:srcRect b="0" l="0" r="0" t="0"/>
          <a:stretch/>
        </p:blipFill>
        <p:spPr>
          <a:xfrm>
            <a:off x="-2" y="6466115"/>
            <a:ext cx="12204000" cy="108000"/>
          </a:xfrm>
          <a:prstGeom prst="rect">
            <a:avLst/>
          </a:prstGeom>
          <a:noFill/>
          <a:ln>
            <a:noFill/>
          </a:ln>
        </p:spPr>
      </p:pic>
      <p:pic>
        <p:nvPicPr>
          <p:cNvPr id="302" name="Google Shape;302;g3708bf00c7c_0_91"/>
          <p:cNvPicPr preferRelativeResize="0"/>
          <p:nvPr/>
        </p:nvPicPr>
        <p:blipFill rotWithShape="1">
          <a:blip r:embed="rId4">
            <a:alphaModFix/>
          </a:blip>
          <a:srcRect b="0" l="0" r="0" t="0"/>
          <a:stretch/>
        </p:blipFill>
        <p:spPr>
          <a:xfrm>
            <a:off x="10078720" y="405951"/>
            <a:ext cx="1778000" cy="679450"/>
          </a:xfrm>
          <a:prstGeom prst="rect">
            <a:avLst/>
          </a:prstGeom>
          <a:noFill/>
          <a:ln>
            <a:noFill/>
          </a:ln>
        </p:spPr>
      </p:pic>
      <p:pic>
        <p:nvPicPr>
          <p:cNvPr id="303" name="Google Shape;303;g3708bf00c7c_0_91"/>
          <p:cNvPicPr preferRelativeResize="0"/>
          <p:nvPr/>
        </p:nvPicPr>
        <p:blipFill rotWithShape="1">
          <a:blip r:embed="rId5">
            <a:alphaModFix/>
          </a:blip>
          <a:srcRect b="0" l="0" r="0" t="0"/>
          <a:stretch/>
        </p:blipFill>
        <p:spPr>
          <a:xfrm>
            <a:off x="-2" y="1295790"/>
            <a:ext cx="4465321" cy="103523"/>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5"/>
          <p:cNvSpPr/>
          <p:nvPr/>
        </p:nvSpPr>
        <p:spPr>
          <a:xfrm>
            <a:off x="11998" y="3894332"/>
            <a:ext cx="12192000" cy="2855668"/>
          </a:xfrm>
          <a:prstGeom prst="roundRect">
            <a:avLst>
              <a:gd fmla="val 16667" name="adj"/>
            </a:avLst>
          </a:prstGeom>
          <a:solidFill>
            <a:srgbClr val="7E00FF"/>
          </a:soli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Arial"/>
                <a:ea typeface="Arial"/>
                <a:cs typeface="Arial"/>
                <a:sym typeface="Arial"/>
              </a:rPr>
              <a:t>The content provided in this digital training programme has been developed by professors / external vendors. All intellectual property rights in the content, including but not limited to video, text, slides, graphics, and audio materials, are owned exclusively by BITS Pilani (“BITS”), unless otherwise expressly stated. This programme may also include licensed or contributed works from third-party experts, faculty, and collaborating institutions, all of whom are duly acknowledged where appropriate.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Arial"/>
                <a:ea typeface="Arial"/>
                <a:cs typeface="Arial"/>
                <a:sym typeface="Arial"/>
              </a:rPr>
              <a:t>All product names, logos, brands, and entity names referenced within this content are the property of their respective trademark owners. The inclusion of such names, logos, or brands does not imply any affiliation with, or endorsement by, these entities.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Arial"/>
                <a:ea typeface="Arial"/>
                <a:cs typeface="Arial"/>
                <a:sym typeface="Arial"/>
              </a:rPr>
              <a:t>This material is intended solely for personal learning and academic purposes. Except for content that is explicitly confirmed to be in the public domain, no part of this content may be reproduced, copied, modified, distributed, republished, uploaded, posted, publicly displayed, or transmitted in any form or by any means – electronic, mechanical, photocopying, recording, or otherwise – without the prior express written consent of BITS Pilani or the applicable rights holder.</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Arial"/>
                <a:ea typeface="Arial"/>
                <a:cs typeface="Arial"/>
                <a:sym typeface="Arial"/>
              </a:rPr>
              <a:t>Any unauthorized use, commercial exploitation, resale, or public sharing of this content in any manner constitutes a violation of applicable intellectual property laws. BITS Pilani reserves the right to pursue all appropriate legal remedies, including but not limited to civil action and criminal prosecution under the Copyright Act, 1957, and other relevant statutes in force in India.</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chemeClr val="lt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lt1"/>
                </a:solidFill>
                <a:latin typeface="Arial"/>
                <a:ea typeface="Arial"/>
                <a:cs typeface="Arial"/>
                <a:sym typeface="Arial"/>
              </a:rPr>
              <a:t>By accessing or using this digital training programme, you agree to comply with the terms set forth in this disclaimer.</a:t>
            </a:r>
            <a:endParaRPr b="0" i="0" sz="1400" u="none" cap="none" strike="noStrike">
              <a:solidFill>
                <a:srgbClr val="000000"/>
              </a:solidFill>
              <a:latin typeface="Arial"/>
              <a:ea typeface="Arial"/>
              <a:cs typeface="Arial"/>
              <a:sym typeface="Arial"/>
            </a:endParaRPr>
          </a:p>
        </p:txBody>
      </p:sp>
      <p:pic>
        <p:nvPicPr>
          <p:cNvPr id="309" name="Google Shape;309;p5"/>
          <p:cNvPicPr preferRelativeResize="0"/>
          <p:nvPr/>
        </p:nvPicPr>
        <p:blipFill rotWithShape="1">
          <a:blip r:embed="rId3">
            <a:alphaModFix/>
          </a:blip>
          <a:srcRect b="0" l="0" r="0" t="0"/>
          <a:stretch/>
        </p:blipFill>
        <p:spPr>
          <a:xfrm>
            <a:off x="10078720" y="405951"/>
            <a:ext cx="1778000" cy="679450"/>
          </a:xfrm>
          <a:prstGeom prst="rect">
            <a:avLst/>
          </a:prstGeom>
          <a:noFill/>
          <a:ln>
            <a:noFill/>
          </a:ln>
        </p:spPr>
      </p:pic>
      <p:sp>
        <p:nvSpPr>
          <p:cNvPr id="310" name="Google Shape;310;p5"/>
          <p:cNvSpPr txBox="1"/>
          <p:nvPr/>
        </p:nvSpPr>
        <p:spPr>
          <a:xfrm>
            <a:off x="3268980" y="2963668"/>
            <a:ext cx="5654040" cy="930665"/>
          </a:xfrm>
          <a:prstGeom prst="rect">
            <a:avLst/>
          </a:prstGeom>
          <a:noFill/>
          <a:ln>
            <a:noFill/>
          </a:ln>
        </p:spPr>
        <p:txBody>
          <a:bodyPr anchorCtr="0" anchor="t" bIns="45700" lIns="91425" spcFirstLastPara="1" rIns="91425" wrap="square" tIns="45700">
            <a:noAutofit/>
          </a:bodyPr>
          <a:lstStyle/>
          <a:p>
            <a:pPr indent="0" lvl="0" marL="0" marR="0" rtl="0" algn="ctr">
              <a:lnSpc>
                <a:spcPct val="90000"/>
              </a:lnSpc>
              <a:spcBef>
                <a:spcPts val="0"/>
              </a:spcBef>
              <a:spcAft>
                <a:spcPts val="0"/>
              </a:spcAft>
              <a:buClr>
                <a:schemeClr val="dk1"/>
              </a:buClr>
              <a:buSzPts val="7200"/>
              <a:buFont typeface="Play"/>
              <a:buNone/>
            </a:pPr>
            <a:r>
              <a:rPr b="1" i="0" lang="en-US" sz="7200" u="none" cap="none" strike="noStrike">
                <a:solidFill>
                  <a:schemeClr val="dk1"/>
                </a:solidFill>
                <a:latin typeface="Play"/>
                <a:ea typeface="Play"/>
                <a:cs typeface="Play"/>
                <a:sym typeface="Play"/>
              </a:rPr>
              <a:t>Thank You</a:t>
            </a:r>
            <a:endParaRPr b="1" i="0" sz="7200" u="none" cap="none" strike="noStrike">
              <a:solidFill>
                <a:schemeClr val="dk1"/>
              </a:solidFill>
              <a:latin typeface="Play"/>
              <a:ea typeface="Play"/>
              <a:cs typeface="Play"/>
              <a:sym typeface="Play"/>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2025-05-30T08:20:10Z</dcterms:created>
  <dc:creator>Singh, Manjeet (GRG-MRM)</dc:creator>
</cp:coreProperties>
</file>