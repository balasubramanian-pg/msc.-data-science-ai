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92" r:id="rId7"/>
    <p:sldId id="293" r:id="rId8"/>
    <p:sldId id="294" r:id="rId9"/>
    <p:sldId id="264" r:id="rId10"/>
    <p:sldId id="295" r:id="rId11"/>
    <p:sldId id="296" r:id="rId12"/>
    <p:sldId id="297" r:id="rId13"/>
    <p:sldId id="298" r:id="rId14"/>
    <p:sldId id="299" r:id="rId15"/>
    <p:sldId id="300" r:id="rId16"/>
    <p:sldId id="301" r:id="rId17"/>
    <p:sldId id="302" r:id="rId18"/>
    <p:sldId id="303" r:id="rId19"/>
    <p:sldId id="304" r:id="rId20"/>
    <p:sldId id="305" r:id="rId21"/>
    <p:sldId id="306" r:id="rId22"/>
    <p:sldId id="307" r:id="rId23"/>
    <p:sldId id="308" r:id="rId24"/>
    <p:sldId id="309" r:id="rId25"/>
    <p:sldId id="310" r:id="rId26"/>
    <p:sldId id="311" r:id="rId27"/>
    <p:sldId id="312" r:id="rId28"/>
    <p:sldId id="313" r:id="rId29"/>
    <p:sldId id="314" r:id="rId30"/>
    <p:sldId id="315" r:id="rId31"/>
    <p:sldId id="316" r:id="rId32"/>
    <p:sldId id="317" r:id="rId33"/>
    <p:sldId id="318" r:id="rId34"/>
    <p:sldId id="320" r:id="rId35"/>
    <p:sldId id="321" r:id="rId36"/>
    <p:sldId id="291" r:id="rId37"/>
  </p:sldIdLst>
  <p:sldSz cx="12192000" cy="6858000"/>
  <p:notesSz cx="6858000" cy="9144000"/>
  <p:embeddedFontLst>
    <p:embeddedFont>
      <p:font typeface="Afacad" pitchFamily="2" charset="0"/>
      <p:regular r:id="rId39"/>
      <p:bold r:id="rId40"/>
      <p:italic r:id="rId41"/>
      <p:boldItalic r:id="rId42"/>
    </p:embeddedFont>
    <p:embeddedFont>
      <p:font typeface="Arial Narrow" panose="020B0606020202030204" pitchFamily="34" charset="0"/>
      <p:regular r:id="rId43"/>
      <p:bold r:id="rId44"/>
      <p:italic r:id="rId45"/>
      <p:boldItalic r:id="rId46"/>
    </p:embeddedFont>
    <p:embeddedFont>
      <p:font typeface="Play" panose="020B0604020202020204" charset="0"/>
      <p:regular r:id="rId47"/>
      <p:bold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haCnhdQeqvOZwDOVrtNiAQmEOu/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59" d="100"/>
          <a:sy n="59" d="100"/>
        </p:scale>
        <p:origin x="940"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57519520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 name="Google Shape;8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35809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05468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707f902fe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Welcome to the third module of our Feature Engineering course, titled "General Feature Engineering Techniques." In this module, we'll cover the foundational concepts and methodologies that are crucial for preparing your data for machine learning models. We will delve into three core areas: Feature Extraction, Feature Construction, and Feature Selection. These techniques are vital for transforming raw data into a format that machine learning algorithms can effectively learn from, ultimately leading to better model performance and interpretability.</a:t>
            </a:r>
            <a:endParaRPr/>
          </a:p>
          <a:p>
            <a:pPr marL="0" lvl="0" indent="0" algn="l" rtl="0">
              <a:lnSpc>
                <a:spcPct val="100000"/>
              </a:lnSpc>
              <a:spcBef>
                <a:spcPts val="120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p:txBody>
      </p:sp>
      <p:sp>
        <p:nvSpPr>
          <p:cNvPr id="97" name="Google Shape;97;g3707f902fe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54949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708268c0a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Let's start with Feature Extraction. At its core, feature extraction is the process of converting raw, often complex and unstructured, data into a structured, numerical format that machine learning algorithms can understand and process. Think of it as taking something that isn't directly usable by a machine learning model, like a photograph or a spoken sentence, and breaking it down into quantifiable pieces. This is particularly relevant for data types such as text documents, images, audio files, and intricate time-series data, which aren't inherently numerical.</a:t>
            </a:r>
            <a:endParaRPr>
              <a:solidFill>
                <a:srgbClr val="1B1C1D"/>
              </a:solidFill>
            </a:endParaRPr>
          </a:p>
          <a:p>
            <a:pPr marL="0" lvl="0" indent="0" algn="l" rtl="0">
              <a:lnSpc>
                <a:spcPct val="100000"/>
              </a:lnSpc>
              <a:spcBef>
                <a:spcPts val="1200"/>
              </a:spcBef>
              <a:spcAft>
                <a:spcPts val="0"/>
              </a:spcAft>
              <a:buSzPts val="1100"/>
              <a:buNone/>
            </a:pPr>
            <a:endParaRPr/>
          </a:p>
        </p:txBody>
      </p:sp>
      <p:sp>
        <p:nvSpPr>
          <p:cNvPr id="106" name="Google Shape;106;g3708268c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362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7084f751b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Technically, feature extraction involves either dimensionality reduction or specialised encoding schemes. The goal here is not just to convert data, but to do so in a way that preserves the most important information or the underlying "signal" within the original data. This means we're trying to retain the predictive power while simplifying the representation. This process is especially useful for data that isn't already in a neat, tabular format, or even for structured data that still needs to be converted into a "feature vector," which is essentially a list of numerical features representing a single data point.</a:t>
            </a:r>
            <a:endParaRPr/>
          </a:p>
          <a:p>
            <a:pPr marL="0" lvl="0" indent="0" algn="l" rtl="0">
              <a:lnSpc>
                <a:spcPct val="100000"/>
              </a:lnSpc>
              <a:spcBef>
                <a:spcPts val="0"/>
              </a:spcBef>
              <a:spcAft>
                <a:spcPts val="0"/>
              </a:spcAft>
              <a:buSzPts val="1100"/>
              <a:buNone/>
            </a:pPr>
            <a:endParaRPr/>
          </a:p>
        </p:txBody>
      </p:sp>
      <p:sp>
        <p:nvSpPr>
          <p:cNvPr id="115" name="Google Shape;115;g37084f751b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431937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7084f751b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Technically, feature extraction involves either dimensionality reduction or specialised encoding schemes. The goal here is not just to convert data, but to do so in a way that preserves the most important information or the underlying "signal" within the original data. This means we're trying to retain the predictive power while simplifying the representation. This process is especially useful for data that isn't already in a neat, tabular format, or even for structured data that still needs to be converted into a "feature vector," which is essentially a list of numerical features representing a single data point.</a:t>
            </a:r>
            <a:endParaRPr/>
          </a:p>
          <a:p>
            <a:pPr marL="0" lvl="0" indent="0" algn="l" rtl="0">
              <a:lnSpc>
                <a:spcPct val="100000"/>
              </a:lnSpc>
              <a:spcBef>
                <a:spcPts val="0"/>
              </a:spcBef>
              <a:spcAft>
                <a:spcPts val="0"/>
              </a:spcAft>
              <a:buSzPts val="1100"/>
              <a:buNone/>
            </a:pPr>
            <a:endParaRPr/>
          </a:p>
        </p:txBody>
      </p:sp>
      <p:sp>
        <p:nvSpPr>
          <p:cNvPr id="115" name="Google Shape;115;g37084f751b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95579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7084f751b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Technically, feature extraction involves either dimensionality reduction or specialised encoding schemes. The goal here is not just to convert data, but to do so in a way that preserves the most important information or the underlying "signal" within the original data. This means we're trying to retain the predictive power while simplifying the representation. This process is especially useful for data that isn't already in a neat, tabular format, or even for structured data that still needs to be converted into a "feature vector," which is essentially a list of numerical features representing a single data point.</a:t>
            </a:r>
            <a:endParaRPr/>
          </a:p>
          <a:p>
            <a:pPr marL="0" lvl="0" indent="0" algn="l" rtl="0">
              <a:lnSpc>
                <a:spcPct val="100000"/>
              </a:lnSpc>
              <a:spcBef>
                <a:spcPts val="0"/>
              </a:spcBef>
              <a:spcAft>
                <a:spcPts val="0"/>
              </a:spcAft>
              <a:buSzPts val="1100"/>
              <a:buNone/>
            </a:pPr>
            <a:endParaRPr/>
          </a:p>
        </p:txBody>
      </p:sp>
      <p:sp>
        <p:nvSpPr>
          <p:cNvPr id="115" name="Google Shape;115;g37084f751b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546233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7084f751b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Technically, feature extraction involves either dimensionality reduction or specialised encoding schemes. The goal here is not just to convert data, but to do so in a way that preserves the most important information or the underlying "signal" within the original data. This means we're trying to retain the predictive power while simplifying the representation. This process is especially useful for data that isn't already in a neat, tabular format, or even for structured data that still needs to be converted into a "feature vector," which is essentially a list of numerical features representing a single data point.</a:t>
            </a:r>
            <a:endParaRPr/>
          </a:p>
          <a:p>
            <a:pPr marL="0" lvl="0" indent="0" algn="l" rtl="0">
              <a:lnSpc>
                <a:spcPct val="100000"/>
              </a:lnSpc>
              <a:spcBef>
                <a:spcPts val="0"/>
              </a:spcBef>
              <a:spcAft>
                <a:spcPts val="0"/>
              </a:spcAft>
              <a:buSzPts val="1100"/>
              <a:buNone/>
            </a:pPr>
            <a:endParaRPr/>
          </a:p>
        </p:txBody>
      </p:sp>
      <p:sp>
        <p:nvSpPr>
          <p:cNvPr id="115" name="Google Shape;115;g37084f751b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47659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399069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704030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187761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44226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774800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671586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655600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343543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451944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852765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147347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216606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41758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838816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719997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046405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726172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886219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160345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638758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741880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126649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057660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084f751b1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1B1C1D"/>
                </a:solidFill>
              </a:rPr>
              <a:t>Next, let's discuss Feature Construction. Unlike feature extraction, which often deals with raw, unstructured data, feature construction focuses on creating new features from existing ones within your dataset. This involves combining multiple features, applying mathematical transformations, or deriving entirely new variables based on the relationships and insights you have about your data.</a:t>
            </a:r>
            <a:endParaRPr>
              <a:solidFill>
                <a:srgbClr val="1B1C1D"/>
              </a:solidFill>
            </a:endParaRPr>
          </a:p>
          <a:p>
            <a:pPr marL="0" lvl="0" indent="0" algn="l" rtl="0">
              <a:lnSpc>
                <a:spcPct val="115000"/>
              </a:lnSpc>
              <a:spcBef>
                <a:spcPts val="1200"/>
              </a:spcBef>
              <a:spcAft>
                <a:spcPts val="1200"/>
              </a:spcAft>
              <a:buSzPts val="1100"/>
              <a:buNone/>
            </a:pPr>
            <a:endParaRPr>
              <a:solidFill>
                <a:srgbClr val="1B1C1D"/>
              </a:solidFill>
            </a:endParaRPr>
          </a:p>
        </p:txBody>
      </p:sp>
      <p:sp>
        <p:nvSpPr>
          <p:cNvPr id="151" name="Google Shape;151;g37084f751b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074318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44d97f5810_0_1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100"/>
              <a:buNone/>
            </a:pPr>
            <a:r>
              <a:rPr lang="en-US">
                <a:solidFill>
                  <a:srgbClr val="1B1C1D"/>
                </a:solidFill>
              </a:rPr>
              <a:t>After implementing any feature selection technique, it is absolutely crucial to validate its impact. Simply selecting features isn't enough; you need to assess how these selected features influence the performance of your downstream machine learning model. The true measure of a successful feature selection strategy is whether it leads to a better or more efficient model.</a:t>
            </a:r>
            <a:endParaRPr>
              <a:solidFill>
                <a:srgbClr val="1B1C1D"/>
              </a:solidFill>
            </a:endParaRPr>
          </a:p>
        </p:txBody>
      </p:sp>
      <p:sp>
        <p:nvSpPr>
          <p:cNvPr id="358" name="Google Shape;358;g344d97f5810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820853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44d97f5810_0_1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100"/>
              <a:buNone/>
            </a:pPr>
            <a:r>
              <a:rPr lang="en-US">
                <a:solidFill>
                  <a:srgbClr val="1B1C1D"/>
                </a:solidFill>
              </a:rPr>
              <a:t>After implementing any feature selection technique, it is absolutely crucial to validate its impact. Simply selecting features isn't enough; you need to assess how these selected features influence the performance of your downstream machine learning model. The true measure of a successful feature selection strategy is whether it leads to a better or more efficient model.</a:t>
            </a:r>
            <a:endParaRPr>
              <a:solidFill>
                <a:srgbClr val="1B1C1D"/>
              </a:solidFill>
            </a:endParaRPr>
          </a:p>
        </p:txBody>
      </p:sp>
      <p:sp>
        <p:nvSpPr>
          <p:cNvPr id="358" name="Google Shape;358;g344d97f5810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189710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44d97f5810_0_1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100"/>
              <a:buNone/>
            </a:pPr>
            <a:r>
              <a:rPr lang="en-US">
                <a:solidFill>
                  <a:srgbClr val="1B1C1D"/>
                </a:solidFill>
              </a:rPr>
              <a:t>After implementing any feature selection technique, it is absolutely crucial to validate its impact. Simply selecting features isn't enough; you need to assess how these selected features influence the performance of your downstream machine learning model. The true measure of a successful feature selection strategy is whether it leads to a better or more efficient model.</a:t>
            </a:r>
            <a:endParaRPr>
              <a:solidFill>
                <a:srgbClr val="1B1C1D"/>
              </a:solidFill>
            </a:endParaRPr>
          </a:p>
        </p:txBody>
      </p:sp>
      <p:sp>
        <p:nvSpPr>
          <p:cNvPr id="358" name="Google Shape;358;g344d97f5810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803314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4" name="Google Shape;39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698809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7" name="Google Shape;17;p10"/>
          <p:cNvPicPr preferRelativeResize="0"/>
          <p:nvPr/>
        </p:nvPicPr>
        <p:blipFill rotWithShape="1">
          <a:blip r:embed="rId2">
            <a:alphaModFix/>
          </a:blip>
          <a:srcRect/>
          <a:stretch/>
        </p:blipFill>
        <p:spPr>
          <a:xfrm>
            <a:off x="-2" y="6466115"/>
            <a:ext cx="12204000" cy="10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
        <p:cNvGrpSpPr/>
        <p:nvPr/>
      </p:nvGrpSpPr>
      <p:grpSpPr>
        <a:xfrm>
          <a:off x="0" y="0"/>
          <a:ext cx="0" cy="0"/>
          <a:chOff x="0" y="0"/>
          <a:chExt cx="0" cy="0"/>
        </a:xfrm>
      </p:grpSpPr>
      <p:sp>
        <p:nvSpPr>
          <p:cNvPr id="23" name="Google Shape;23;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13"/>
          <p:cNvSpPr txBox="1">
            <a:spLocks noGrp="1"/>
          </p:cNvSpPr>
          <p:nvPr>
            <p:ph type="title"/>
          </p:nvPr>
        </p:nvSpPr>
        <p:spPr>
          <a:xfrm>
            <a:off x="441960" y="349885"/>
            <a:ext cx="9326880" cy="93066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Narrow"/>
              <a:buNone/>
              <a:defRPr b="1" i="0">
                <a:latin typeface="Arial Narrow"/>
                <a:ea typeface="Arial Narrow"/>
                <a:cs typeface="Arial Narrow"/>
                <a:sym typeface="Arial Narrow"/>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3"/>
          <p:cNvSpPr txBox="1">
            <a:spLocks noGrp="1"/>
          </p:cNvSpPr>
          <p:nvPr>
            <p:ph type="body" idx="1"/>
          </p:nvPr>
        </p:nvSpPr>
        <p:spPr>
          <a:xfrm>
            <a:off x="533400" y="1825625"/>
            <a:ext cx="11323320" cy="4351338"/>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chemeClr val="dk1"/>
              </a:buClr>
              <a:buSzPts val="2400"/>
              <a:buChar char="•"/>
              <a:defRPr sz="2400"/>
            </a:lvl1pPr>
            <a:lvl2pPr marL="914400" lvl="1" indent="-355600" algn="l">
              <a:lnSpc>
                <a:spcPct val="90000"/>
              </a:lnSpc>
              <a:spcBef>
                <a:spcPts val="500"/>
              </a:spcBef>
              <a:spcAft>
                <a:spcPts val="0"/>
              </a:spcAft>
              <a:buClr>
                <a:schemeClr val="dk1"/>
              </a:buClr>
              <a:buSzPts val="2000"/>
              <a:buChar char="•"/>
              <a:defRPr sz="2000"/>
            </a:lvl2pPr>
            <a:lvl3pPr marL="1371600" lvl="2" indent="-342900" algn="l">
              <a:lnSpc>
                <a:spcPct val="90000"/>
              </a:lnSpc>
              <a:spcBef>
                <a:spcPts val="500"/>
              </a:spcBef>
              <a:spcAft>
                <a:spcPts val="0"/>
              </a:spcAft>
              <a:buClr>
                <a:schemeClr val="dk1"/>
              </a:buClr>
              <a:buSzPts val="1800"/>
              <a:buChar char="•"/>
              <a:defRPr sz="18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0" name="Google Shape;30;p13"/>
          <p:cNvPicPr preferRelativeResize="0"/>
          <p:nvPr/>
        </p:nvPicPr>
        <p:blipFill rotWithShape="1">
          <a:blip r:embed="rId2">
            <a:alphaModFix/>
          </a:blip>
          <a:srcRect/>
          <a:stretch/>
        </p:blipFill>
        <p:spPr>
          <a:xfrm>
            <a:off x="-2" y="6466115"/>
            <a:ext cx="12204000" cy="108000"/>
          </a:xfrm>
          <a:prstGeom prst="rect">
            <a:avLst/>
          </a:prstGeom>
          <a:noFill/>
          <a:ln>
            <a:noFill/>
          </a:ln>
        </p:spPr>
      </p:pic>
      <p:pic>
        <p:nvPicPr>
          <p:cNvPr id="31" name="Google Shape;31;p13"/>
          <p:cNvPicPr preferRelativeResize="0"/>
          <p:nvPr/>
        </p:nvPicPr>
        <p:blipFill rotWithShape="1">
          <a:blip r:embed="rId3">
            <a:alphaModFix/>
          </a:blip>
          <a:srcRect/>
          <a:stretch/>
        </p:blipFill>
        <p:spPr>
          <a:xfrm>
            <a:off x="-2" y="1295790"/>
            <a:ext cx="4465320" cy="103523"/>
          </a:xfrm>
          <a:prstGeom prst="rect">
            <a:avLst/>
          </a:prstGeom>
          <a:noFill/>
          <a:ln>
            <a:noFill/>
          </a:ln>
        </p:spPr>
      </p:pic>
      <p:pic>
        <p:nvPicPr>
          <p:cNvPr id="32" name="Google Shape;32;p13"/>
          <p:cNvPicPr preferRelativeResize="0"/>
          <p:nvPr/>
        </p:nvPicPr>
        <p:blipFill rotWithShape="1">
          <a:blip r:embed="rId4">
            <a:alphaModFix/>
          </a:blip>
          <a:srcRect/>
          <a:stretch/>
        </p:blipFill>
        <p:spPr>
          <a:xfrm>
            <a:off x="10078720" y="405951"/>
            <a:ext cx="1778000" cy="67945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1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6" name="Google Shape;36;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1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1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1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56" name="Google Shape;56;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8" name="Google Shape;58;p1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2"/>
        <p:cNvGrpSpPr/>
        <p:nvPr/>
      </p:nvGrpSpPr>
      <p:grpSpPr>
        <a:xfrm>
          <a:off x="0" y="0"/>
          <a:ext cx="0" cy="0"/>
          <a:chOff x="0" y="0"/>
          <a:chExt cx="0" cy="0"/>
        </a:xfrm>
      </p:grpSpPr>
      <p:sp>
        <p:nvSpPr>
          <p:cNvPr id="63" name="Google Shape;63;p1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8"/>
          <p:cNvSpPr>
            <a:spLocks noGrp="1"/>
          </p:cNvSpPr>
          <p:nvPr>
            <p:ph type="pic" idx="2"/>
          </p:nvPr>
        </p:nvSpPr>
        <p:spPr>
          <a:xfrm>
            <a:off x="5183188" y="987425"/>
            <a:ext cx="6172200" cy="4873625"/>
          </a:xfrm>
          <a:prstGeom prst="rect">
            <a:avLst/>
          </a:prstGeom>
          <a:noFill/>
          <a:ln>
            <a:noFill/>
          </a:ln>
        </p:spPr>
      </p:sp>
      <p:sp>
        <p:nvSpPr>
          <p:cNvPr id="65" name="Google Shape;65;p1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6" name="Google Shape;66;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9"/>
        <p:cNvGrpSpPr/>
        <p:nvPr/>
      </p:nvGrpSpPr>
      <p:grpSpPr>
        <a:xfrm>
          <a:off x="0" y="0"/>
          <a:ext cx="0" cy="0"/>
          <a:chOff x="0" y="0"/>
          <a:chExt cx="0" cy="0"/>
        </a:xfrm>
      </p:grpSpPr>
      <p:sp>
        <p:nvSpPr>
          <p:cNvPr id="70" name="Google Shape;7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5"/>
        <p:cNvGrpSpPr/>
        <p:nvPr/>
      </p:nvGrpSpPr>
      <p:grpSpPr>
        <a:xfrm>
          <a:off x="0" y="0"/>
          <a:ext cx="0" cy="0"/>
          <a:chOff x="0" y="0"/>
          <a:chExt cx="0" cy="0"/>
        </a:xfrm>
      </p:grpSpPr>
      <p:sp>
        <p:nvSpPr>
          <p:cNvPr id="76" name="Google Shape;76;p2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pic>
        <p:nvPicPr>
          <p:cNvPr id="85" name="Google Shape;85;p1"/>
          <p:cNvPicPr preferRelativeResize="0"/>
          <p:nvPr/>
        </p:nvPicPr>
        <p:blipFill rotWithShape="1">
          <a:blip r:embed="rId3">
            <a:alphaModFix/>
          </a:blip>
          <a:srcRect/>
          <a:stretch/>
        </p:blipFill>
        <p:spPr>
          <a:xfrm>
            <a:off x="3176241" y="2315842"/>
            <a:ext cx="5839519" cy="222631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pic>
        <p:nvPicPr>
          <p:cNvPr id="90" name="Google Shape;90;p2"/>
          <p:cNvPicPr preferRelativeResize="0"/>
          <p:nvPr/>
        </p:nvPicPr>
        <p:blipFill rotWithShape="1">
          <a:blip r:embed="rId3">
            <a:alphaModFix/>
          </a:blip>
          <a:srcRect/>
          <a:stretch/>
        </p:blipFill>
        <p:spPr>
          <a:xfrm>
            <a:off x="894099" y="2592668"/>
            <a:ext cx="4387317" cy="1672665"/>
          </a:xfrm>
          <a:prstGeom prst="rect">
            <a:avLst/>
          </a:prstGeom>
          <a:noFill/>
          <a:ln>
            <a:noFill/>
          </a:ln>
        </p:spPr>
      </p:pic>
      <p:sp>
        <p:nvSpPr>
          <p:cNvPr id="91" name="Google Shape;91;p2"/>
          <p:cNvSpPr/>
          <p:nvPr/>
        </p:nvSpPr>
        <p:spPr>
          <a:xfrm>
            <a:off x="6065574" y="2513226"/>
            <a:ext cx="60852" cy="1851425"/>
          </a:xfrm>
          <a:prstGeom prst="rect">
            <a:avLst/>
          </a:prstGeom>
          <a:solidFill>
            <a:srgbClr val="9700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facad" pitchFamily="2" charset="0"/>
              <a:cs typeface="Afacad" pitchFamily="2" charset="0"/>
              <a:sym typeface="Arial"/>
            </a:endParaRPr>
          </a:p>
        </p:txBody>
      </p:sp>
      <p:sp>
        <p:nvSpPr>
          <p:cNvPr id="92" name="Google Shape;92;p2"/>
          <p:cNvSpPr txBox="1"/>
          <p:nvPr/>
        </p:nvSpPr>
        <p:spPr>
          <a:xfrm>
            <a:off x="6816256" y="2513226"/>
            <a:ext cx="3971014" cy="61752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9700FF"/>
              </a:buClr>
              <a:buSzPts val="2800"/>
              <a:buFont typeface="Arial Narrow"/>
              <a:buNone/>
            </a:pPr>
            <a:r>
              <a:rPr lang="en-US" sz="2800" b="1" i="0" u="none" strike="noStrike" cap="none">
                <a:solidFill>
                  <a:srgbClr val="9700FF"/>
                </a:solidFill>
                <a:latin typeface="Afacad" pitchFamily="2" charset="0"/>
                <a:ea typeface="Arial Narrow"/>
                <a:cs typeface="Afacad" pitchFamily="2" charset="0"/>
                <a:sym typeface="Arial Narrow"/>
              </a:rPr>
              <a:t>Feature Engineering</a:t>
            </a:r>
            <a:endParaRPr sz="2800" b="1" i="0" u="none" strike="noStrike" cap="none">
              <a:solidFill>
                <a:srgbClr val="9700FF"/>
              </a:solidFill>
              <a:latin typeface="Afacad" pitchFamily="2" charset="0"/>
              <a:ea typeface="Arial Narrow"/>
              <a:cs typeface="Afacad" pitchFamily="2" charset="0"/>
              <a:sym typeface="Arial Narrow"/>
            </a:endParaRPr>
          </a:p>
        </p:txBody>
      </p:sp>
      <p:sp>
        <p:nvSpPr>
          <p:cNvPr id="93" name="Google Shape;93;p2"/>
          <p:cNvSpPr txBox="1"/>
          <p:nvPr/>
        </p:nvSpPr>
        <p:spPr>
          <a:xfrm>
            <a:off x="6910584" y="3193775"/>
            <a:ext cx="3876686" cy="874643"/>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400"/>
              <a:buFont typeface="Arial"/>
              <a:buNone/>
            </a:pPr>
            <a:r>
              <a:rPr lang="en-US" sz="2400" b="1" i="0" u="none" strike="noStrike" cap="none">
                <a:solidFill>
                  <a:schemeClr val="dk1"/>
                </a:solidFill>
                <a:latin typeface="Afacad" pitchFamily="2" charset="0"/>
                <a:cs typeface="Afacad" pitchFamily="2" charset="0"/>
                <a:sym typeface="Arial"/>
              </a:rPr>
              <a:t>General Feature Engineering Techniques</a:t>
            </a:r>
            <a:endParaRPr sz="2400" b="1" i="0" u="none" strike="noStrike" cap="none">
              <a:solidFill>
                <a:schemeClr val="dk1"/>
              </a:solidFill>
              <a:latin typeface="Afacad" pitchFamily="2" charset="0"/>
              <a:cs typeface="Afacad" pitchFamily="2" charset="0"/>
              <a:sym typeface="Arial"/>
            </a:endParaRPr>
          </a:p>
        </p:txBody>
      </p:sp>
      <p:sp>
        <p:nvSpPr>
          <p:cNvPr id="94" name="Google Shape;94;p2"/>
          <p:cNvSpPr txBox="1"/>
          <p:nvPr/>
        </p:nvSpPr>
        <p:spPr>
          <a:xfrm>
            <a:off x="6910584" y="4119559"/>
            <a:ext cx="3876686" cy="425937"/>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1800"/>
              <a:buFont typeface="Arial"/>
              <a:buNone/>
            </a:pPr>
            <a:r>
              <a:rPr lang="en-US" sz="1800" b="0" i="0" u="none" strike="noStrike" cap="none">
                <a:solidFill>
                  <a:schemeClr val="dk1"/>
                </a:solidFill>
                <a:latin typeface="Afacad" pitchFamily="2" charset="0"/>
                <a:cs typeface="Afacad" pitchFamily="2" charset="0"/>
                <a:sym typeface="Arial"/>
              </a:rPr>
              <a:t>Prof. Anita Ramachandran </a:t>
            </a:r>
            <a:endParaRPr sz="1800" b="0" i="0" u="none" strike="noStrike" cap="none">
              <a:solidFill>
                <a:schemeClr val="dk1"/>
              </a:solidFill>
              <a:latin typeface="Afacad" pitchFamily="2" charset="0"/>
              <a:cs typeface="Afacad" pitchFamily="2" charset="0"/>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g3707f902fe4_0_0"/>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facad" pitchFamily="2" charset="0"/>
                <a:ea typeface="Arial Narrow"/>
                <a:cs typeface="Afacad" pitchFamily="2" charset="0"/>
                <a:sym typeface="Arial Narrow"/>
              </a:rPr>
              <a:t>General Feature Engineering Techniques</a:t>
            </a:r>
            <a:endParaRPr sz="4400" b="1" i="0" u="none" strike="noStrike" cap="none">
              <a:solidFill>
                <a:schemeClr val="dk1"/>
              </a:solidFill>
              <a:latin typeface="Afacad" pitchFamily="2" charset="0"/>
              <a:ea typeface="Arial Narrow"/>
              <a:cs typeface="Afacad" pitchFamily="2" charset="0"/>
              <a:sym typeface="Arial Narrow"/>
            </a:endParaRPr>
          </a:p>
        </p:txBody>
      </p:sp>
      <p:sp>
        <p:nvSpPr>
          <p:cNvPr id="100" name="Google Shape;100;g3707f902fe4_0_0"/>
          <p:cNvSpPr txBox="1"/>
          <p:nvPr/>
        </p:nvSpPr>
        <p:spPr>
          <a:xfrm>
            <a:off x="533400" y="1825625"/>
            <a:ext cx="11323200" cy="43512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300"/>
              </a:spcBef>
              <a:spcAft>
                <a:spcPts val="300"/>
              </a:spcAft>
              <a:buClr>
                <a:srgbClr val="000000"/>
              </a:buClr>
              <a:buSzPts val="2400"/>
              <a:buFont typeface="Arial"/>
              <a:buNone/>
            </a:pPr>
            <a:r>
              <a:rPr lang="en-US" sz="2000" b="1" i="0" u="none" strike="noStrike" cap="none" dirty="0">
                <a:solidFill>
                  <a:schemeClr val="dk1"/>
                </a:solidFill>
                <a:latin typeface="Afacad" pitchFamily="2" charset="0"/>
                <a:cs typeface="Afacad" pitchFamily="2" charset="0"/>
                <a:sym typeface="Arial"/>
              </a:rPr>
              <a:t>Key Techniques:</a:t>
            </a:r>
            <a:endParaRPr sz="2000" b="1" i="0" u="none" strike="noStrike" cap="none" dirty="0">
              <a:solidFill>
                <a:schemeClr val="dk1"/>
              </a:solidFill>
              <a:latin typeface="Afacad" pitchFamily="2" charset="0"/>
              <a:cs typeface="Afacad" pitchFamily="2" charset="0"/>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facad" pitchFamily="2" charset="0"/>
                <a:cs typeface="Afacad" pitchFamily="2" charset="0"/>
                <a:sym typeface="Arial"/>
              </a:rPr>
              <a:t>Feature Extraction</a:t>
            </a:r>
            <a:endParaRPr sz="1800" b="0" i="0" u="none" strike="noStrike" cap="none" dirty="0">
              <a:solidFill>
                <a:schemeClr val="dk1"/>
              </a:solidFill>
              <a:latin typeface="Afacad" pitchFamily="2" charset="0"/>
              <a:cs typeface="Afacad" pitchFamily="2" charset="0"/>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facad" pitchFamily="2" charset="0"/>
                <a:cs typeface="Afacad" pitchFamily="2" charset="0"/>
                <a:sym typeface="Arial"/>
              </a:rPr>
              <a:t>Feature Construction</a:t>
            </a:r>
            <a:endParaRPr sz="1800" b="0" i="0" u="none" strike="noStrike" cap="none" dirty="0">
              <a:solidFill>
                <a:schemeClr val="dk1"/>
              </a:solidFill>
              <a:latin typeface="Afacad" pitchFamily="2" charset="0"/>
              <a:cs typeface="Afacad" pitchFamily="2" charset="0"/>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1800" b="0" i="0" u="none" strike="noStrike" cap="none" dirty="0">
                <a:solidFill>
                  <a:schemeClr val="dk1"/>
                </a:solidFill>
                <a:latin typeface="Afacad" pitchFamily="2" charset="0"/>
                <a:cs typeface="Afacad" pitchFamily="2" charset="0"/>
                <a:sym typeface="Arial"/>
              </a:rPr>
              <a:t>Feature Selection</a:t>
            </a:r>
            <a:endParaRPr sz="1800" b="0" i="0" u="none" strike="noStrike" cap="none" dirty="0">
              <a:solidFill>
                <a:schemeClr val="dk1"/>
              </a:solidFill>
              <a:latin typeface="Afacad" pitchFamily="2" charset="0"/>
              <a:cs typeface="Afacad" pitchFamily="2" charset="0"/>
              <a:sym typeface="Arial"/>
            </a:endParaRPr>
          </a:p>
          <a:p>
            <a:pPr marL="457200" marR="0" lvl="0" indent="0" algn="l" rtl="0">
              <a:lnSpc>
                <a:spcPct val="90000"/>
              </a:lnSpc>
              <a:spcBef>
                <a:spcPts val="0"/>
              </a:spcBef>
              <a:spcAft>
                <a:spcPts val="0"/>
              </a:spcAft>
              <a:buClr>
                <a:srgbClr val="000000"/>
              </a:buClr>
              <a:buSzPts val="2400"/>
              <a:buFont typeface="Arial"/>
              <a:buNone/>
            </a:pPr>
            <a:endParaRPr sz="2400" b="0" i="0" u="none" strike="noStrike" cap="none" dirty="0">
              <a:solidFill>
                <a:schemeClr val="dk1"/>
              </a:solidFill>
              <a:latin typeface="Afacad" pitchFamily="2" charset="0"/>
              <a:cs typeface="Afacad" pitchFamily="2" charset="0"/>
              <a:sym typeface="Arial"/>
            </a:endParaRPr>
          </a:p>
          <a:p>
            <a:pPr marL="914400" marR="0" lvl="0" indent="0" algn="l" rtl="0">
              <a:lnSpc>
                <a:spcPct val="90000"/>
              </a:lnSpc>
              <a:spcBef>
                <a:spcPts val="0"/>
              </a:spcBef>
              <a:spcAft>
                <a:spcPts val="0"/>
              </a:spcAft>
              <a:buClr>
                <a:srgbClr val="000000"/>
              </a:buClr>
              <a:buSzPts val="2400"/>
              <a:buFont typeface="Arial"/>
              <a:buNone/>
            </a:pPr>
            <a:endParaRPr sz="2400" b="0" i="0" u="none" strike="noStrike" cap="none" dirty="0">
              <a:solidFill>
                <a:schemeClr val="dk1"/>
              </a:solidFill>
              <a:latin typeface="Afacad" pitchFamily="2" charset="0"/>
              <a:cs typeface="Afacad" pitchFamily="2" charset="0"/>
              <a:sym typeface="Arial"/>
            </a:endParaRPr>
          </a:p>
          <a:p>
            <a:pPr marL="0" marR="0" lvl="0" indent="0" algn="l" rtl="0">
              <a:lnSpc>
                <a:spcPct val="90000"/>
              </a:lnSpc>
              <a:spcBef>
                <a:spcPts val="1000"/>
              </a:spcBef>
              <a:spcAft>
                <a:spcPts val="0"/>
              </a:spcAft>
              <a:buClr>
                <a:srgbClr val="000000"/>
              </a:buClr>
              <a:buSzPts val="1400"/>
              <a:buFont typeface="Arial"/>
              <a:buNone/>
            </a:pPr>
            <a:endParaRPr sz="1400" b="0" i="0" u="none" strike="noStrike" cap="none" dirty="0">
              <a:solidFill>
                <a:srgbClr val="000000"/>
              </a:solidFill>
              <a:latin typeface="Afacad" pitchFamily="2" charset="0"/>
              <a:cs typeface="Afacad" pitchFamily="2" charset="0"/>
              <a:sym typeface="Arial"/>
            </a:endParaRPr>
          </a:p>
          <a:p>
            <a:pPr marL="0" marR="0" lvl="0" indent="0" algn="l" rtl="0">
              <a:lnSpc>
                <a:spcPct val="90000"/>
              </a:lnSpc>
              <a:spcBef>
                <a:spcPts val="1000"/>
              </a:spcBef>
              <a:spcAft>
                <a:spcPts val="0"/>
              </a:spcAft>
              <a:buClr>
                <a:schemeClr val="dk1"/>
              </a:buClr>
              <a:buSzPts val="2400"/>
              <a:buFont typeface="Arial"/>
              <a:buNone/>
            </a:pPr>
            <a:endParaRPr sz="2400" b="0" i="0" u="none" strike="noStrike" cap="none" dirty="0">
              <a:solidFill>
                <a:schemeClr val="dk1"/>
              </a:solidFill>
              <a:latin typeface="Afacad" pitchFamily="2" charset="0"/>
              <a:cs typeface="Afacad" pitchFamily="2" charset="0"/>
              <a:sym typeface="Arial"/>
            </a:endParaRPr>
          </a:p>
        </p:txBody>
      </p:sp>
      <p:pic>
        <p:nvPicPr>
          <p:cNvPr id="101" name="Google Shape;101;g3707f902fe4_0_0"/>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02" name="Google Shape;102;g3707f902fe4_0_0"/>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03" name="Google Shape;103;g3707f902fe4_0_0"/>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g3708268c0a4_0_0"/>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facad" pitchFamily="2" charset="0"/>
                <a:ea typeface="Arial Narrow"/>
                <a:cs typeface="Afacad" pitchFamily="2" charset="0"/>
                <a:sym typeface="Arial Narrow"/>
              </a:rPr>
              <a:t>Feature Extraction</a:t>
            </a:r>
            <a:endParaRPr sz="4400" b="1" i="0" u="none" strike="noStrike" cap="none">
              <a:solidFill>
                <a:schemeClr val="dk1"/>
              </a:solidFill>
              <a:latin typeface="Afacad" pitchFamily="2" charset="0"/>
              <a:ea typeface="Arial Narrow"/>
              <a:cs typeface="Afacad" pitchFamily="2" charset="0"/>
              <a:sym typeface="Arial Narrow"/>
            </a:endParaRPr>
          </a:p>
        </p:txBody>
      </p:sp>
      <p:sp>
        <p:nvSpPr>
          <p:cNvPr id="109" name="Google Shape;109;g3708268c0a4_0_0"/>
          <p:cNvSpPr txBox="1"/>
          <p:nvPr/>
        </p:nvSpPr>
        <p:spPr>
          <a:xfrm>
            <a:off x="533400" y="1825625"/>
            <a:ext cx="11323200" cy="43512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200"/>
              </a:spcBef>
              <a:spcAft>
                <a:spcPts val="200"/>
              </a:spcAft>
              <a:buClr>
                <a:srgbClr val="000000"/>
              </a:buClr>
              <a:buSzPts val="2400"/>
              <a:buFont typeface="Arial"/>
              <a:buNone/>
            </a:pPr>
            <a:r>
              <a:rPr lang="en-US" sz="1800" dirty="0">
                <a:solidFill>
                  <a:schemeClr val="dk1"/>
                </a:solidFill>
                <a:latin typeface="Afacad" pitchFamily="2" charset="0"/>
                <a:cs typeface="Afacad" pitchFamily="2" charset="0"/>
              </a:rPr>
              <a:t>Feature extraction is the process of t</a:t>
            </a:r>
            <a:r>
              <a:rPr lang="en-US" sz="1800" b="0" i="0" u="none" strike="noStrike" cap="none" dirty="0">
                <a:solidFill>
                  <a:schemeClr val="dk1"/>
                </a:solidFill>
                <a:latin typeface="Afacad" pitchFamily="2" charset="0"/>
                <a:cs typeface="Afacad" pitchFamily="2" charset="0"/>
                <a:sym typeface="Arial"/>
              </a:rPr>
              <a:t>ransforming high-dimensional or unstructured data into structured numerical representations.</a:t>
            </a:r>
            <a:endParaRPr sz="1800" b="0" i="0" u="none" strike="noStrike" cap="none" dirty="0">
              <a:solidFill>
                <a:schemeClr val="dk1"/>
              </a:solidFill>
              <a:latin typeface="Afacad" pitchFamily="2" charset="0"/>
              <a:cs typeface="Afacad" pitchFamily="2" charset="0"/>
              <a:sym typeface="Arial"/>
            </a:endParaRPr>
          </a:p>
          <a:p>
            <a:pPr marL="0" marR="0" lvl="0" indent="0" algn="l" rtl="0">
              <a:lnSpc>
                <a:spcPct val="90000"/>
              </a:lnSpc>
              <a:spcBef>
                <a:spcPts val="200"/>
              </a:spcBef>
              <a:spcAft>
                <a:spcPts val="200"/>
              </a:spcAft>
              <a:buClr>
                <a:srgbClr val="000000"/>
              </a:buClr>
              <a:buSzPts val="2400"/>
              <a:buFont typeface="Arial"/>
              <a:buNone/>
            </a:pPr>
            <a:endParaRPr sz="1800" b="0" i="0" u="none" strike="noStrike" cap="none" dirty="0">
              <a:solidFill>
                <a:schemeClr val="dk1"/>
              </a:solidFill>
              <a:latin typeface="Afacad" pitchFamily="2" charset="0"/>
              <a:cs typeface="Afacad" pitchFamily="2" charset="0"/>
              <a:sym typeface="Arial"/>
            </a:endParaRPr>
          </a:p>
          <a:p>
            <a:pPr marL="0" marR="0" lvl="0" indent="0" algn="l" rtl="0">
              <a:lnSpc>
                <a:spcPct val="90000"/>
              </a:lnSpc>
              <a:spcBef>
                <a:spcPts val="200"/>
              </a:spcBef>
              <a:spcAft>
                <a:spcPts val="200"/>
              </a:spcAft>
              <a:buClr>
                <a:srgbClr val="000000"/>
              </a:buClr>
              <a:buSzPts val="2400"/>
              <a:buFont typeface="Arial"/>
              <a:buNone/>
            </a:pPr>
            <a:r>
              <a:rPr lang="en-US" sz="1800" b="0" i="0" u="none" strike="noStrike" cap="none" dirty="0">
                <a:solidFill>
                  <a:schemeClr val="dk1"/>
                </a:solidFill>
                <a:latin typeface="Afacad" pitchFamily="2" charset="0"/>
                <a:cs typeface="Afacad" pitchFamily="2" charset="0"/>
                <a:sym typeface="Arial"/>
              </a:rPr>
              <a:t>Applicable to text, images, audio, or complex temporal sequences.</a:t>
            </a:r>
            <a:endParaRPr sz="1800" b="0" i="0" u="none" strike="noStrike" cap="none" dirty="0">
              <a:solidFill>
                <a:schemeClr val="dk1"/>
              </a:solidFill>
              <a:latin typeface="Afacad" pitchFamily="2" charset="0"/>
              <a:cs typeface="Afacad" pitchFamily="2" charset="0"/>
              <a:sym typeface="Arial"/>
            </a:endParaRPr>
          </a:p>
        </p:txBody>
      </p:sp>
      <p:pic>
        <p:nvPicPr>
          <p:cNvPr id="110" name="Google Shape;110;g3708268c0a4_0_0"/>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11" name="Google Shape;111;g3708268c0a4_0_0"/>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12" name="Google Shape;112;g3708268c0a4_0_0"/>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37084f751b1_0_0"/>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facad" pitchFamily="2" charset="0"/>
                <a:ea typeface="Arial Narrow"/>
                <a:cs typeface="Afacad" pitchFamily="2" charset="0"/>
                <a:sym typeface="Arial Narrow"/>
              </a:rPr>
              <a:t>Feature Extraction</a:t>
            </a:r>
            <a:endParaRPr sz="4400" b="1" i="0" u="none" strike="noStrike" cap="none">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facad" pitchFamily="2" charset="0"/>
              <a:ea typeface="Arial Narrow"/>
              <a:cs typeface="Afacad" pitchFamily="2" charset="0"/>
              <a:sym typeface="Arial Narrow"/>
            </a:endParaRPr>
          </a:p>
        </p:txBody>
      </p:sp>
      <p:sp>
        <p:nvSpPr>
          <p:cNvPr id="118" name="Google Shape;118;g37084f751b1_0_0"/>
          <p:cNvSpPr txBox="1"/>
          <p:nvPr/>
        </p:nvSpPr>
        <p:spPr>
          <a:xfrm>
            <a:off x="488889" y="1825625"/>
            <a:ext cx="11331499" cy="4351200"/>
          </a:xfrm>
          <a:prstGeom prst="rect">
            <a:avLst/>
          </a:prstGeom>
          <a:noFill/>
          <a:ln>
            <a:noFill/>
          </a:ln>
        </p:spPr>
        <p:txBody>
          <a:bodyPr spcFirstLastPara="1" wrap="square" lIns="91425" tIns="45700" rIns="91425" bIns="45700" anchor="t" anchorCtr="0">
            <a:normAutofit/>
          </a:bodyPr>
          <a:lstStyle/>
          <a:p>
            <a:pPr marL="457200" marR="0" lvl="0" indent="-381000" algn="l" rtl="0">
              <a:lnSpc>
                <a:spcPct val="90000"/>
              </a:lnSpc>
              <a:spcBef>
                <a:spcPts val="300"/>
              </a:spcBef>
              <a:spcAft>
                <a:spcPts val="300"/>
              </a:spcAft>
              <a:buClr>
                <a:schemeClr val="dk1"/>
              </a:buClr>
              <a:buSzPct val="100000"/>
              <a:buFont typeface="Arial"/>
              <a:buChar char="●"/>
            </a:pPr>
            <a:r>
              <a:rPr lang="en-US" sz="2000" b="0" i="0" u="none" strike="noStrike" cap="none" dirty="0">
                <a:solidFill>
                  <a:schemeClr val="dk1"/>
                </a:solidFill>
                <a:latin typeface="Afacad" pitchFamily="2" charset="0"/>
                <a:cs typeface="Afacad" pitchFamily="2" charset="0"/>
                <a:sym typeface="Arial"/>
              </a:rPr>
              <a:t>Involves dimensionality reduction or encoding schemes.</a:t>
            </a:r>
            <a:endParaRPr sz="2000" b="0" i="0" u="none" strike="noStrike" cap="none" dirty="0">
              <a:solidFill>
                <a:schemeClr val="dk1"/>
              </a:solidFill>
              <a:latin typeface="Afacad" pitchFamily="2" charset="0"/>
              <a:cs typeface="Afacad" pitchFamily="2" charset="0"/>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2000" b="0" i="0" u="none" strike="noStrike" cap="none" dirty="0">
                <a:solidFill>
                  <a:schemeClr val="dk1"/>
                </a:solidFill>
                <a:latin typeface="Afacad" pitchFamily="2" charset="0"/>
                <a:cs typeface="Afacad" pitchFamily="2" charset="0"/>
                <a:sym typeface="Arial"/>
              </a:rPr>
              <a:t>Preserves underlying structure or signal.</a:t>
            </a:r>
            <a:endParaRPr sz="2000" b="0" i="0" u="none" strike="noStrike" cap="none" dirty="0">
              <a:solidFill>
                <a:schemeClr val="dk1"/>
              </a:solidFill>
              <a:latin typeface="Afacad" pitchFamily="2" charset="0"/>
              <a:cs typeface="Afacad" pitchFamily="2" charset="0"/>
              <a:sym typeface="Arial"/>
            </a:endParaRPr>
          </a:p>
          <a:p>
            <a:pPr marL="457200" marR="0" lvl="0" indent="-381000" algn="l" rtl="0">
              <a:lnSpc>
                <a:spcPct val="90000"/>
              </a:lnSpc>
              <a:spcBef>
                <a:spcPts val="300"/>
              </a:spcBef>
              <a:spcAft>
                <a:spcPts val="300"/>
              </a:spcAft>
              <a:buClr>
                <a:schemeClr val="dk1"/>
              </a:buClr>
              <a:buSzPct val="100000"/>
              <a:buFont typeface="Arial"/>
              <a:buChar char="●"/>
            </a:pPr>
            <a:r>
              <a:rPr lang="en-US" sz="2000" b="0" i="0" u="none" strike="noStrike" cap="none" dirty="0">
                <a:solidFill>
                  <a:schemeClr val="dk1"/>
                </a:solidFill>
                <a:latin typeface="Afacad" pitchFamily="2" charset="0"/>
                <a:cs typeface="Afacad" pitchFamily="2" charset="0"/>
                <a:sym typeface="Arial"/>
              </a:rPr>
              <a:t>Applicable to non-tabular data or structured data requiring transformation into a feature vector.</a:t>
            </a:r>
          </a:p>
          <a:p>
            <a:pPr marL="0" marR="0" lvl="0" indent="0" algn="l" rtl="0">
              <a:lnSpc>
                <a:spcPct val="90000"/>
              </a:lnSpc>
              <a:spcBef>
                <a:spcPts val="1000"/>
              </a:spcBef>
              <a:spcAft>
                <a:spcPts val="0"/>
              </a:spcAft>
              <a:buClr>
                <a:schemeClr val="dk1"/>
              </a:buClr>
              <a:buSzPts val="2400"/>
              <a:buFont typeface="Arial"/>
              <a:buNone/>
            </a:pPr>
            <a:endParaRPr sz="2400" b="0" i="0" u="none" strike="noStrike" cap="none" dirty="0">
              <a:solidFill>
                <a:schemeClr val="dk1"/>
              </a:solidFill>
              <a:latin typeface="Afacad" pitchFamily="2" charset="0"/>
              <a:cs typeface="Afacad" pitchFamily="2" charset="0"/>
              <a:sym typeface="Arial"/>
            </a:endParaRPr>
          </a:p>
          <a:p>
            <a:pPr marL="0" marR="0" lvl="0" indent="0" algn="l" rtl="0">
              <a:lnSpc>
                <a:spcPct val="90000"/>
              </a:lnSpc>
              <a:spcBef>
                <a:spcPts val="1000"/>
              </a:spcBef>
              <a:spcAft>
                <a:spcPts val="0"/>
              </a:spcAft>
              <a:buClr>
                <a:schemeClr val="dk1"/>
              </a:buClr>
              <a:buSzPts val="2400"/>
              <a:buFont typeface="Arial"/>
              <a:buNone/>
            </a:pPr>
            <a:endParaRPr sz="2400" b="0" i="0" u="none" strike="noStrike" cap="none" dirty="0">
              <a:solidFill>
                <a:schemeClr val="dk1"/>
              </a:solidFill>
              <a:latin typeface="Afacad" pitchFamily="2" charset="0"/>
              <a:cs typeface="Afacad" pitchFamily="2" charset="0"/>
              <a:sym typeface="Arial"/>
            </a:endParaRPr>
          </a:p>
        </p:txBody>
      </p:sp>
      <p:pic>
        <p:nvPicPr>
          <p:cNvPr id="119" name="Google Shape;119;g37084f751b1_0_0"/>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20" name="Google Shape;120;g37084f751b1_0_0"/>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21" name="Google Shape;121;g37084f751b1_0_0"/>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37084f751b1_0_0"/>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facad" pitchFamily="2" charset="0"/>
                <a:ea typeface="Arial Narrow"/>
                <a:cs typeface="Afacad" pitchFamily="2" charset="0"/>
                <a:sym typeface="Arial Narrow"/>
              </a:rPr>
              <a:t>Feature Extraction</a:t>
            </a:r>
            <a:endParaRPr sz="4400" b="1" i="0" u="none" strike="noStrike" cap="none">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facad" pitchFamily="2" charset="0"/>
              <a:ea typeface="Arial Narrow"/>
              <a:cs typeface="Afacad" pitchFamily="2" charset="0"/>
              <a:sym typeface="Arial Narrow"/>
            </a:endParaRPr>
          </a:p>
        </p:txBody>
      </p:sp>
      <p:sp>
        <p:nvSpPr>
          <p:cNvPr id="118" name="Google Shape;118;g37084f751b1_0_0"/>
          <p:cNvSpPr txBox="1"/>
          <p:nvPr/>
        </p:nvSpPr>
        <p:spPr>
          <a:xfrm>
            <a:off x="488889" y="1825625"/>
            <a:ext cx="11331499" cy="4351200"/>
          </a:xfrm>
          <a:prstGeom prst="rect">
            <a:avLst/>
          </a:prstGeom>
          <a:noFill/>
          <a:ln>
            <a:noFill/>
          </a:ln>
        </p:spPr>
        <p:txBody>
          <a:bodyPr spcFirstLastPara="1" wrap="square" lIns="91425" tIns="45700" rIns="91425" bIns="45700" anchor="t" anchorCtr="0">
            <a:normAutofit/>
          </a:bodyPr>
          <a:lstStyle/>
          <a:p>
            <a:pPr lvl="0">
              <a:spcBef>
                <a:spcPts val="400"/>
              </a:spcBef>
              <a:spcAft>
                <a:spcPts val="400"/>
              </a:spcAft>
              <a:buSzPts val="2400"/>
            </a:pPr>
            <a:r>
              <a:rPr lang="en-US" sz="1800" b="1" dirty="0">
                <a:latin typeface="Afacad" pitchFamily="2" charset="0"/>
                <a:cs typeface="Afacad" pitchFamily="2" charset="0"/>
              </a:rPr>
              <a:t>Examples</a:t>
            </a:r>
            <a:r>
              <a:rPr lang="en-US" sz="1800" dirty="0">
                <a:latin typeface="Afacad" pitchFamily="2" charset="0"/>
                <a:cs typeface="Afacad" pitchFamily="2" charset="0"/>
              </a:rPr>
              <a:t> - Text and Image Data</a:t>
            </a:r>
          </a:p>
          <a:p>
            <a:pPr lvl="0">
              <a:spcBef>
                <a:spcPts val="400"/>
              </a:spcBef>
              <a:spcAft>
                <a:spcPts val="400"/>
              </a:spcAft>
              <a:buSzPts val="2400"/>
            </a:pPr>
            <a:r>
              <a:rPr lang="en-US" sz="1800" b="1" dirty="0">
                <a:latin typeface="Afacad" pitchFamily="2" charset="0"/>
                <a:cs typeface="Afacad" pitchFamily="2" charset="0"/>
              </a:rPr>
              <a:t>Text Data:</a:t>
            </a:r>
          </a:p>
          <a:p>
            <a:pPr marL="457200" lvl="0" indent="-381000">
              <a:spcBef>
                <a:spcPts val="400"/>
              </a:spcBef>
              <a:spcAft>
                <a:spcPts val="400"/>
              </a:spcAft>
              <a:buSzPct val="100000"/>
              <a:buFont typeface="Arial"/>
              <a:buChar char="●"/>
            </a:pPr>
            <a:r>
              <a:rPr lang="en-US" sz="1800" dirty="0">
                <a:latin typeface="Afacad" pitchFamily="2" charset="0"/>
                <a:cs typeface="Afacad" pitchFamily="2" charset="0"/>
              </a:rPr>
              <a:t>Converting documents to TF-IDF scores.</a:t>
            </a:r>
          </a:p>
          <a:p>
            <a:pPr marL="457200" lvl="0" indent="-381000">
              <a:spcBef>
                <a:spcPts val="400"/>
              </a:spcBef>
              <a:spcAft>
                <a:spcPts val="400"/>
              </a:spcAft>
              <a:buSzPct val="100000"/>
              <a:buFont typeface="Arial"/>
              <a:buChar char="●"/>
            </a:pPr>
            <a:r>
              <a:rPr lang="en-US" sz="1800" dirty="0">
                <a:latin typeface="Afacad" pitchFamily="2" charset="0"/>
                <a:cs typeface="Afacad" pitchFamily="2" charset="0"/>
              </a:rPr>
              <a:t>Bag-of-words vectors.</a:t>
            </a:r>
          </a:p>
          <a:p>
            <a:pPr marL="457200" lvl="0" indent="-381000">
              <a:spcBef>
                <a:spcPts val="400"/>
              </a:spcBef>
              <a:spcAft>
                <a:spcPts val="400"/>
              </a:spcAft>
              <a:buSzPct val="100000"/>
              <a:buFont typeface="Arial"/>
              <a:buChar char="●"/>
            </a:pPr>
            <a:r>
              <a:rPr lang="en-US" sz="1800" dirty="0" err="1">
                <a:latin typeface="Afacad" pitchFamily="2" charset="0"/>
                <a:cs typeface="Afacad" pitchFamily="2" charset="0"/>
              </a:rPr>
              <a:t>Embeddings</a:t>
            </a:r>
            <a:r>
              <a:rPr lang="en-US" sz="1800" dirty="0">
                <a:latin typeface="Afacad" pitchFamily="2" charset="0"/>
                <a:cs typeface="Afacad" pitchFamily="2" charset="0"/>
              </a:rPr>
              <a:t> (Word2Vec, BERT).</a:t>
            </a:r>
          </a:p>
          <a:p>
            <a:pPr lvl="0">
              <a:spcBef>
                <a:spcPts val="400"/>
              </a:spcBef>
              <a:spcAft>
                <a:spcPts val="400"/>
              </a:spcAft>
              <a:buSzPts val="2400"/>
            </a:pPr>
            <a:r>
              <a:rPr lang="en-US" sz="1800" b="1" dirty="0">
                <a:latin typeface="Afacad" pitchFamily="2" charset="0"/>
                <a:cs typeface="Afacad" pitchFamily="2" charset="0"/>
              </a:rPr>
              <a:t>Image Data:</a:t>
            </a:r>
          </a:p>
          <a:p>
            <a:pPr marL="457200" lvl="0" indent="-381000">
              <a:spcBef>
                <a:spcPts val="400"/>
              </a:spcBef>
              <a:spcAft>
                <a:spcPts val="400"/>
              </a:spcAft>
              <a:buSzPct val="100000"/>
              <a:buFont typeface="Arial"/>
              <a:buChar char="●"/>
            </a:pPr>
            <a:r>
              <a:rPr lang="en-US" sz="1800" dirty="0">
                <a:latin typeface="Afacad" pitchFamily="2" charset="0"/>
                <a:cs typeface="Afacad" pitchFamily="2" charset="0"/>
              </a:rPr>
              <a:t>Extracting edge, shape, or color histograms.</a:t>
            </a:r>
          </a:p>
          <a:p>
            <a:pPr marL="457200" lvl="0" indent="-381000">
              <a:spcBef>
                <a:spcPts val="400"/>
              </a:spcBef>
              <a:spcAft>
                <a:spcPts val="400"/>
              </a:spcAft>
              <a:buSzPct val="100000"/>
              <a:buFont typeface="Arial"/>
              <a:buChar char="●"/>
            </a:pPr>
            <a:r>
              <a:rPr lang="en-US" sz="1800" dirty="0">
                <a:latin typeface="Afacad" pitchFamily="2" charset="0"/>
                <a:cs typeface="Afacad" pitchFamily="2" charset="0"/>
              </a:rPr>
              <a:t>Using pre-trained convolutional layers.</a:t>
            </a:r>
          </a:p>
          <a:p>
            <a:pPr marL="0" marR="0" lvl="0" indent="0" algn="l" rtl="0">
              <a:lnSpc>
                <a:spcPct val="90000"/>
              </a:lnSpc>
              <a:spcBef>
                <a:spcPts val="1000"/>
              </a:spcBef>
              <a:spcAft>
                <a:spcPts val="0"/>
              </a:spcAft>
              <a:buClr>
                <a:schemeClr val="dk1"/>
              </a:buClr>
              <a:buSzPts val="2400"/>
              <a:buFont typeface="Arial"/>
              <a:buNone/>
            </a:pPr>
            <a:endParaRPr sz="2400" b="0" i="0" u="none" strike="noStrike" cap="none" dirty="0">
              <a:solidFill>
                <a:schemeClr val="dk1"/>
              </a:solidFill>
              <a:latin typeface="Afacad" pitchFamily="2" charset="0"/>
              <a:cs typeface="Afacad" pitchFamily="2" charset="0"/>
              <a:sym typeface="Arial"/>
            </a:endParaRPr>
          </a:p>
        </p:txBody>
      </p:sp>
      <p:pic>
        <p:nvPicPr>
          <p:cNvPr id="119" name="Google Shape;119;g37084f751b1_0_0"/>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20" name="Google Shape;120;g37084f751b1_0_0"/>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21" name="Google Shape;121;g37084f751b1_0_0"/>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1824911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37084f751b1_0_0"/>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facad" pitchFamily="2" charset="0"/>
                <a:ea typeface="Arial Narrow"/>
                <a:cs typeface="Afacad" pitchFamily="2" charset="0"/>
                <a:sym typeface="Arial Narrow"/>
              </a:rPr>
              <a:t>Feature Extraction</a:t>
            </a:r>
            <a:endParaRPr sz="4400" b="1" i="0" u="none" strike="noStrike" cap="none">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facad" pitchFamily="2" charset="0"/>
              <a:ea typeface="Arial Narrow"/>
              <a:cs typeface="Afacad" pitchFamily="2" charset="0"/>
              <a:sym typeface="Arial Narrow"/>
            </a:endParaRPr>
          </a:p>
        </p:txBody>
      </p:sp>
      <p:sp>
        <p:nvSpPr>
          <p:cNvPr id="118" name="Google Shape;118;g37084f751b1_0_0"/>
          <p:cNvSpPr txBox="1"/>
          <p:nvPr/>
        </p:nvSpPr>
        <p:spPr>
          <a:xfrm>
            <a:off x="488889" y="1825625"/>
            <a:ext cx="11331499" cy="4351200"/>
          </a:xfrm>
          <a:prstGeom prst="rect">
            <a:avLst/>
          </a:prstGeom>
          <a:noFill/>
          <a:ln>
            <a:noFill/>
          </a:ln>
        </p:spPr>
        <p:txBody>
          <a:bodyPr spcFirstLastPara="1" wrap="square" lIns="91425" tIns="45700" rIns="91425" bIns="45700" anchor="t" anchorCtr="0">
            <a:normAutofit/>
          </a:bodyPr>
          <a:lstStyle/>
          <a:p>
            <a:pPr lvl="0">
              <a:spcBef>
                <a:spcPts val="400"/>
              </a:spcBef>
              <a:spcAft>
                <a:spcPts val="400"/>
              </a:spcAft>
              <a:buSzPts val="2400"/>
            </a:pPr>
            <a:r>
              <a:rPr lang="en-US" sz="1800" b="1" dirty="0">
                <a:latin typeface="Afacad" pitchFamily="2" charset="0"/>
                <a:cs typeface="Afacad" pitchFamily="2" charset="0"/>
              </a:rPr>
              <a:t>Examples</a:t>
            </a:r>
            <a:r>
              <a:rPr lang="en-US" sz="1800" dirty="0">
                <a:latin typeface="Afacad" pitchFamily="2" charset="0"/>
                <a:cs typeface="Afacad" pitchFamily="2" charset="0"/>
              </a:rPr>
              <a:t> - Audio and Time-Series Data</a:t>
            </a:r>
          </a:p>
          <a:p>
            <a:pPr lvl="0">
              <a:spcBef>
                <a:spcPts val="400"/>
              </a:spcBef>
              <a:spcAft>
                <a:spcPts val="400"/>
              </a:spcAft>
              <a:buSzPts val="2400"/>
            </a:pPr>
            <a:r>
              <a:rPr lang="en-US" sz="1800" b="1" dirty="0">
                <a:latin typeface="Afacad" pitchFamily="2" charset="0"/>
                <a:cs typeface="Afacad" pitchFamily="2" charset="0"/>
              </a:rPr>
              <a:t>Audio Data:</a:t>
            </a:r>
          </a:p>
          <a:p>
            <a:pPr marL="457200" lvl="0" indent="-381000">
              <a:spcBef>
                <a:spcPts val="400"/>
              </a:spcBef>
              <a:spcAft>
                <a:spcPts val="400"/>
              </a:spcAft>
              <a:buSzPct val="100000"/>
              <a:buFont typeface="Arial"/>
              <a:buChar char="●"/>
            </a:pPr>
            <a:r>
              <a:rPr lang="en-US" sz="1800" dirty="0">
                <a:latin typeface="Afacad" pitchFamily="2" charset="0"/>
                <a:cs typeface="Afacad" pitchFamily="2" charset="0"/>
              </a:rPr>
              <a:t>Transforming waveform signals into frequency-based representations (e.g., Mel-frequency </a:t>
            </a:r>
            <a:r>
              <a:rPr lang="en-US" sz="1800" dirty="0" err="1">
                <a:latin typeface="Afacad" pitchFamily="2" charset="0"/>
                <a:cs typeface="Afacad" pitchFamily="2" charset="0"/>
              </a:rPr>
              <a:t>cepstral</a:t>
            </a:r>
            <a:r>
              <a:rPr lang="en-US" sz="1800" dirty="0">
                <a:latin typeface="Afacad" pitchFamily="2" charset="0"/>
                <a:cs typeface="Afacad" pitchFamily="2" charset="0"/>
              </a:rPr>
              <a:t> coefficients).</a:t>
            </a:r>
          </a:p>
          <a:p>
            <a:pPr lvl="0">
              <a:spcBef>
                <a:spcPts val="400"/>
              </a:spcBef>
              <a:spcAft>
                <a:spcPts val="400"/>
              </a:spcAft>
              <a:buSzPts val="2400"/>
            </a:pPr>
            <a:r>
              <a:rPr lang="en-US" sz="1800" b="1" dirty="0">
                <a:latin typeface="Afacad" pitchFamily="2" charset="0"/>
                <a:cs typeface="Afacad" pitchFamily="2" charset="0"/>
              </a:rPr>
              <a:t>Time-Series Data:</a:t>
            </a:r>
          </a:p>
          <a:p>
            <a:pPr marL="457200" lvl="0" indent="-381000">
              <a:spcBef>
                <a:spcPts val="400"/>
              </a:spcBef>
              <a:spcAft>
                <a:spcPts val="400"/>
              </a:spcAft>
              <a:buSzPct val="100000"/>
              <a:buFont typeface="Arial"/>
              <a:buChar char="●"/>
            </a:pPr>
            <a:r>
              <a:rPr lang="en-US" sz="1800" dirty="0">
                <a:latin typeface="Afacad" pitchFamily="2" charset="0"/>
                <a:cs typeface="Afacad" pitchFamily="2" charset="0"/>
              </a:rPr>
              <a:t>Extracting trend, seasonality, lag, rolling statistics. </a:t>
            </a:r>
          </a:p>
          <a:p>
            <a:pPr marL="457200" lvl="0" indent="-381000">
              <a:spcBef>
                <a:spcPts val="400"/>
              </a:spcBef>
              <a:spcAft>
                <a:spcPts val="400"/>
              </a:spcAft>
              <a:buSzPct val="100000"/>
              <a:buFont typeface="Arial"/>
              <a:buChar char="●"/>
            </a:pPr>
            <a:r>
              <a:rPr lang="en-US" sz="1800" dirty="0">
                <a:latin typeface="Afacad" pitchFamily="2" charset="0"/>
                <a:cs typeface="Afacad" pitchFamily="2" charset="0"/>
              </a:rPr>
              <a:t>Frequency-domain features using Fourier transforms</a:t>
            </a:r>
          </a:p>
        </p:txBody>
      </p:sp>
      <p:pic>
        <p:nvPicPr>
          <p:cNvPr id="119" name="Google Shape;119;g37084f751b1_0_0"/>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20" name="Google Shape;120;g37084f751b1_0_0"/>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21" name="Google Shape;121;g37084f751b1_0_0"/>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3280436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37084f751b1_0_0"/>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facad" pitchFamily="2" charset="0"/>
                <a:ea typeface="Arial Narrow"/>
                <a:cs typeface="Afacad" pitchFamily="2" charset="0"/>
                <a:sym typeface="Arial Narrow"/>
              </a:rPr>
              <a:t>Feature Extraction</a:t>
            </a:r>
            <a:endParaRPr sz="4400" b="1" i="0" u="none" strike="noStrike" cap="none">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facad" pitchFamily="2" charset="0"/>
              <a:ea typeface="Arial Narrow"/>
              <a:cs typeface="Afacad" pitchFamily="2" charset="0"/>
              <a:sym typeface="Arial Narrow"/>
            </a:endParaRPr>
          </a:p>
        </p:txBody>
      </p:sp>
      <p:sp>
        <p:nvSpPr>
          <p:cNvPr id="118" name="Google Shape;118;g37084f751b1_0_0"/>
          <p:cNvSpPr txBox="1"/>
          <p:nvPr/>
        </p:nvSpPr>
        <p:spPr>
          <a:xfrm>
            <a:off x="488889" y="1861837"/>
            <a:ext cx="11331499" cy="4339785"/>
          </a:xfrm>
          <a:prstGeom prst="rect">
            <a:avLst/>
          </a:prstGeom>
          <a:noFill/>
          <a:ln>
            <a:noFill/>
          </a:ln>
        </p:spPr>
        <p:txBody>
          <a:bodyPr spcFirstLastPara="1" wrap="square" lIns="91425" tIns="45700" rIns="91425" bIns="45700" anchor="t" anchorCtr="0">
            <a:normAutofit/>
          </a:bodyPr>
          <a:lstStyle/>
          <a:p>
            <a:pPr lvl="0">
              <a:lnSpc>
                <a:spcPct val="90000"/>
              </a:lnSpc>
              <a:spcBef>
                <a:spcPts val="400"/>
              </a:spcBef>
              <a:spcAft>
                <a:spcPts val="400"/>
              </a:spcAft>
              <a:buSzPts val="2400"/>
            </a:pPr>
            <a:r>
              <a:rPr lang="en-US" sz="1800" dirty="0">
                <a:latin typeface="Afacad" pitchFamily="2" charset="0"/>
                <a:cs typeface="Afacad" pitchFamily="2" charset="0"/>
              </a:rPr>
              <a:t>When to Use</a:t>
            </a:r>
          </a:p>
          <a:p>
            <a:pPr marL="457200" lvl="0" indent="-381000">
              <a:lnSpc>
                <a:spcPct val="90000"/>
              </a:lnSpc>
              <a:spcBef>
                <a:spcPts val="400"/>
              </a:spcBef>
              <a:spcAft>
                <a:spcPts val="400"/>
              </a:spcAft>
              <a:buSzPct val="100000"/>
              <a:buFont typeface="Arial"/>
              <a:buChar char="●"/>
            </a:pPr>
            <a:r>
              <a:rPr lang="en-US" sz="1800" dirty="0">
                <a:latin typeface="Afacad" pitchFamily="2" charset="0"/>
                <a:cs typeface="Afacad" pitchFamily="2" charset="0"/>
              </a:rPr>
              <a:t>When raw format is not inherently numerical or interpretable by ML models.</a:t>
            </a:r>
          </a:p>
          <a:p>
            <a:pPr marL="457200" lvl="0" indent="-381000">
              <a:lnSpc>
                <a:spcPct val="90000"/>
              </a:lnSpc>
              <a:spcBef>
                <a:spcPts val="400"/>
              </a:spcBef>
              <a:spcAft>
                <a:spcPts val="400"/>
              </a:spcAft>
              <a:buSzPct val="100000"/>
              <a:buFont typeface="Arial"/>
              <a:buChar char="●"/>
            </a:pPr>
            <a:r>
              <a:rPr lang="en-US" sz="1800" dirty="0">
                <a:latin typeface="Afacad" pitchFamily="2" charset="0"/>
                <a:cs typeface="Afacad" pitchFamily="2" charset="0"/>
              </a:rPr>
              <a:t>When reducing input dimensionality while retaining predictive power is crucial.</a:t>
            </a:r>
          </a:p>
          <a:p>
            <a:pPr marL="457200" lvl="0">
              <a:lnSpc>
                <a:spcPct val="90000"/>
              </a:lnSpc>
              <a:spcBef>
                <a:spcPts val="400"/>
              </a:spcBef>
              <a:spcAft>
                <a:spcPts val="400"/>
              </a:spcAft>
              <a:buSzPts val="2400"/>
            </a:pPr>
            <a:endParaRPr lang="en-US" sz="1800" dirty="0">
              <a:latin typeface="Afacad" pitchFamily="2" charset="0"/>
              <a:cs typeface="Afacad" pitchFamily="2" charset="0"/>
            </a:endParaRPr>
          </a:p>
          <a:p>
            <a:pPr marL="457200" lvl="0">
              <a:lnSpc>
                <a:spcPct val="90000"/>
              </a:lnSpc>
              <a:spcBef>
                <a:spcPts val="400"/>
              </a:spcBef>
              <a:spcAft>
                <a:spcPts val="400"/>
              </a:spcAft>
              <a:buSzPts val="2400"/>
            </a:pPr>
            <a:endParaRPr lang="en-US" sz="1800" dirty="0">
              <a:latin typeface="Afacad" pitchFamily="2" charset="0"/>
              <a:cs typeface="Afacad" pitchFamily="2" charset="0"/>
            </a:endParaRPr>
          </a:p>
          <a:p>
            <a:pPr marL="457200" lvl="0">
              <a:lnSpc>
                <a:spcPct val="90000"/>
              </a:lnSpc>
              <a:spcBef>
                <a:spcPts val="400"/>
              </a:spcBef>
              <a:spcAft>
                <a:spcPts val="400"/>
              </a:spcAft>
              <a:buSzPts val="1100"/>
            </a:pPr>
            <a:endParaRPr lang="en-US" sz="1800" dirty="0">
              <a:latin typeface="Afacad" pitchFamily="2" charset="0"/>
              <a:cs typeface="Afacad" pitchFamily="2" charset="0"/>
            </a:endParaRPr>
          </a:p>
          <a:p>
            <a:pPr lvl="0">
              <a:lnSpc>
                <a:spcPct val="90000"/>
              </a:lnSpc>
              <a:spcBef>
                <a:spcPts val="400"/>
              </a:spcBef>
              <a:spcAft>
                <a:spcPts val="400"/>
              </a:spcAft>
              <a:buSzPts val="2400"/>
            </a:pPr>
            <a:endParaRPr lang="en-US" sz="1800" dirty="0">
              <a:latin typeface="Afacad" pitchFamily="2" charset="0"/>
              <a:cs typeface="Afacad" pitchFamily="2" charset="0"/>
            </a:endParaRPr>
          </a:p>
        </p:txBody>
      </p:sp>
      <p:pic>
        <p:nvPicPr>
          <p:cNvPr id="119" name="Google Shape;119;g37084f751b1_0_0"/>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20" name="Google Shape;120;g37084f751b1_0_0"/>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21" name="Google Shape;121;g37084f751b1_0_0"/>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991371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facad" pitchFamily="2" charset="0"/>
                <a:ea typeface="Arial Narrow"/>
                <a:cs typeface="Afacad" pitchFamily="2" charset="0"/>
                <a:sym typeface="Arial Narrow"/>
              </a:rPr>
              <a:t>Feature Construction</a:t>
            </a:r>
            <a:endParaRPr sz="4400" b="1" i="0" u="none" strike="noStrike" cap="none">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400" y="1888996"/>
            <a:ext cx="11323200" cy="4339785"/>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None/>
            </a:pPr>
            <a:r>
              <a:rPr lang="en-US" sz="1800" dirty="0">
                <a:solidFill>
                  <a:schemeClr val="dk1"/>
                </a:solidFill>
                <a:latin typeface="Afacad" pitchFamily="2" charset="0"/>
                <a:cs typeface="Afacad" pitchFamily="2" charset="0"/>
              </a:rPr>
              <a:t>Feature construction is the process of g</a:t>
            </a:r>
            <a:r>
              <a:rPr lang="en-US" sz="1800" b="0" i="0" u="none" strike="noStrike" cap="none" dirty="0">
                <a:solidFill>
                  <a:schemeClr val="dk1"/>
                </a:solidFill>
                <a:latin typeface="Afacad" pitchFamily="2" charset="0"/>
                <a:cs typeface="Afacad" pitchFamily="2" charset="0"/>
                <a:sym typeface="Arial"/>
              </a:rPr>
              <a:t>enerating new variables by combining, transforming, or deriving existing features in a dataset.</a:t>
            </a:r>
            <a:endParaRPr sz="1800" b="0" i="0" u="none" strike="noStrike" cap="none" dirty="0">
              <a:solidFill>
                <a:schemeClr val="dk1"/>
              </a:solidFill>
              <a:latin typeface="Afacad" pitchFamily="2" charset="0"/>
              <a:cs typeface="Afacad" pitchFamily="2" charset="0"/>
              <a:sym typeface="Arial"/>
            </a:endParaRPr>
          </a:p>
          <a:p>
            <a:pPr marL="0" marR="0" lvl="0" indent="0" algn="l" rtl="0">
              <a:lnSpc>
                <a:spcPct val="90000"/>
              </a:lnSpc>
              <a:spcBef>
                <a:spcPts val="1000"/>
              </a:spcBef>
              <a:spcAft>
                <a:spcPts val="0"/>
              </a:spcAft>
              <a:buClr>
                <a:schemeClr val="dk1"/>
              </a:buClr>
              <a:buSzPts val="2400"/>
              <a:buFont typeface="Arial"/>
              <a:buNone/>
            </a:pPr>
            <a:endParaRPr sz="1800" b="0" i="0" u="none" strike="noStrike" cap="none" dirty="0">
              <a:solidFill>
                <a:schemeClr val="dk1"/>
              </a:solidFill>
              <a:latin typeface="Afacad" pitchFamily="2" charset="0"/>
              <a:cs typeface="Afacad" pitchFamily="2" charset="0"/>
              <a:sym typeface="Arial"/>
            </a:endParaRP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facad" pitchFamily="2" charset="0"/>
                <a:ea typeface="Arial Narrow"/>
                <a:cs typeface="Afacad" pitchFamily="2" charset="0"/>
                <a:sym typeface="Arial Narrow"/>
              </a:rPr>
              <a:t>Feature Construction</a:t>
            </a:r>
            <a:endParaRPr sz="4400" b="1" i="0" u="none" strike="noStrike" cap="none">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400" y="1888996"/>
            <a:ext cx="11323200" cy="4339785"/>
          </a:xfrm>
          <a:prstGeom prst="rect">
            <a:avLst/>
          </a:prstGeom>
          <a:noFill/>
          <a:ln>
            <a:noFill/>
          </a:ln>
        </p:spPr>
        <p:txBody>
          <a:bodyPr spcFirstLastPara="1" wrap="square" lIns="91425" tIns="45700" rIns="91425" bIns="45700" anchor="t" anchorCtr="0">
            <a:normAutofit/>
          </a:bodyPr>
          <a:lstStyle/>
          <a:p>
            <a:pPr lvl="0">
              <a:lnSpc>
                <a:spcPct val="90000"/>
              </a:lnSpc>
              <a:spcBef>
                <a:spcPts val="300"/>
              </a:spcBef>
              <a:spcAft>
                <a:spcPts val="300"/>
              </a:spcAft>
              <a:buClr>
                <a:schemeClr val="dk1"/>
              </a:buClr>
              <a:buSzPts val="2400"/>
            </a:pPr>
            <a:r>
              <a:rPr lang="en-US" sz="2000" b="1" dirty="0">
                <a:solidFill>
                  <a:schemeClr val="dk1"/>
                </a:solidFill>
                <a:latin typeface="Afacad" pitchFamily="2" charset="0"/>
                <a:cs typeface="Afacad" pitchFamily="2" charset="0"/>
              </a:rPr>
              <a:t>Technical Concepts</a:t>
            </a:r>
          </a:p>
          <a:p>
            <a:pPr marL="457200" lvl="0" indent="-381000">
              <a:lnSpc>
                <a:spcPct val="90000"/>
              </a:lnSpc>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Based on domain expertise, statistical theory, or functional transformations (log, square root, etc.).</a:t>
            </a:r>
          </a:p>
          <a:p>
            <a:pPr marL="457200" lvl="0" indent="-381000">
              <a:lnSpc>
                <a:spcPct val="90000"/>
              </a:lnSpc>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Enhances expressiveness and predictive capacity by revealing hidden patterns.</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30882585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facad" pitchFamily="2" charset="0"/>
                <a:ea typeface="Arial Narrow"/>
                <a:cs typeface="Afacad" pitchFamily="2" charset="0"/>
                <a:sym typeface="Arial Narrow"/>
              </a:rPr>
              <a:t>Feature Construction</a:t>
            </a:r>
            <a:endParaRPr sz="4400" b="1" i="0" u="none" strike="noStrike" cap="none">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520" y="1888996"/>
            <a:ext cx="11323200" cy="4339785"/>
          </a:xfrm>
          <a:prstGeom prst="rect">
            <a:avLst/>
          </a:prstGeom>
          <a:noFill/>
          <a:ln>
            <a:noFill/>
          </a:ln>
        </p:spPr>
        <p:txBody>
          <a:bodyPr spcFirstLastPara="1" wrap="square" lIns="91425" tIns="45700" rIns="91425" bIns="45700" anchor="t" anchorCtr="0">
            <a:normAutofit/>
          </a:bodyPr>
          <a:lstStyle/>
          <a:p>
            <a:pPr lvl="0">
              <a:spcBef>
                <a:spcPts val="300"/>
              </a:spcBef>
              <a:spcAft>
                <a:spcPts val="300"/>
              </a:spcAft>
              <a:buSzPts val="2400"/>
            </a:pPr>
            <a:r>
              <a:rPr lang="en-US" sz="1800" b="1" dirty="0">
                <a:latin typeface="Afacad" pitchFamily="2" charset="0"/>
                <a:cs typeface="Afacad" pitchFamily="2" charset="0"/>
              </a:rPr>
              <a:t>Examples</a:t>
            </a:r>
            <a:r>
              <a:rPr lang="en-US" sz="1800" dirty="0">
                <a:latin typeface="Afacad" pitchFamily="2" charset="0"/>
                <a:cs typeface="Afacad" pitchFamily="2" charset="0"/>
              </a:rPr>
              <a:t> - Interaction and Polynomial Features</a:t>
            </a:r>
          </a:p>
          <a:p>
            <a:pPr lvl="0">
              <a:spcBef>
                <a:spcPts val="300"/>
              </a:spcBef>
              <a:spcAft>
                <a:spcPts val="300"/>
              </a:spcAft>
              <a:buSzPts val="2400"/>
            </a:pPr>
            <a:r>
              <a:rPr lang="en-US" sz="1800" b="1" dirty="0">
                <a:latin typeface="Afacad" pitchFamily="2" charset="0"/>
                <a:cs typeface="Afacad" pitchFamily="2" charset="0"/>
              </a:rPr>
              <a:t>Interaction Features:</a:t>
            </a:r>
          </a:p>
          <a:p>
            <a:pPr marL="457200" lvl="0" indent="-381000">
              <a:spcBef>
                <a:spcPts val="300"/>
              </a:spcBef>
              <a:spcAft>
                <a:spcPts val="300"/>
              </a:spcAft>
              <a:buSzPct val="100000"/>
              <a:buFont typeface="Arial"/>
              <a:buChar char="●"/>
            </a:pPr>
            <a:r>
              <a:rPr lang="en-US" sz="1800" dirty="0">
                <a:latin typeface="Afacad" pitchFamily="2" charset="0"/>
                <a:cs typeface="Afacad" pitchFamily="2" charset="0"/>
              </a:rPr>
              <a:t>Combining multiple variables (e.g., income * age) to capture interaction effects.</a:t>
            </a:r>
          </a:p>
          <a:p>
            <a:pPr lvl="0">
              <a:spcBef>
                <a:spcPts val="300"/>
              </a:spcBef>
              <a:spcAft>
                <a:spcPts val="300"/>
              </a:spcAft>
              <a:buSzPts val="2400"/>
            </a:pPr>
            <a:r>
              <a:rPr lang="en-US" sz="1800" b="1" dirty="0">
                <a:latin typeface="Afacad" pitchFamily="2" charset="0"/>
                <a:cs typeface="Afacad" pitchFamily="2" charset="0"/>
              </a:rPr>
              <a:t>Polynomial Features</a:t>
            </a:r>
          </a:p>
          <a:p>
            <a:pPr marL="457200" lvl="0" indent="-381000">
              <a:spcBef>
                <a:spcPts val="300"/>
              </a:spcBef>
              <a:spcAft>
                <a:spcPts val="300"/>
              </a:spcAft>
              <a:buSzPct val="100000"/>
              <a:buFont typeface="Arial"/>
              <a:buChar char="●"/>
            </a:pPr>
            <a:r>
              <a:rPr lang="en-US" sz="1800" dirty="0">
                <a:latin typeface="Afacad" pitchFamily="2" charset="0"/>
                <a:cs typeface="Afacad" pitchFamily="2" charset="0"/>
              </a:rPr>
              <a:t>Expanding variables to higher-order terms to model nonlinear relationships.</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3787550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facad" pitchFamily="2" charset="0"/>
                <a:ea typeface="Arial Narrow"/>
                <a:cs typeface="Afacad" pitchFamily="2" charset="0"/>
                <a:sym typeface="Arial Narrow"/>
              </a:rPr>
              <a:t>Feature Construction</a:t>
            </a:r>
            <a:endParaRPr sz="4400" b="1" i="0" u="none" strike="noStrike" cap="none">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520" y="1888996"/>
            <a:ext cx="11323200" cy="4339785"/>
          </a:xfrm>
          <a:prstGeom prst="rect">
            <a:avLst/>
          </a:prstGeom>
          <a:noFill/>
          <a:ln>
            <a:noFill/>
          </a:ln>
        </p:spPr>
        <p:txBody>
          <a:bodyPr spcFirstLastPara="1" wrap="square" lIns="91425" tIns="45700" rIns="91425" bIns="45700" anchor="t" anchorCtr="0">
            <a:normAutofit/>
          </a:bodyPr>
          <a:lstStyle/>
          <a:p>
            <a:pPr lvl="0">
              <a:lnSpc>
                <a:spcPct val="90000"/>
              </a:lnSpc>
              <a:spcBef>
                <a:spcPts val="1000"/>
              </a:spcBef>
              <a:buClr>
                <a:schemeClr val="dk1"/>
              </a:buClr>
              <a:buSzPts val="2400"/>
            </a:pPr>
            <a:r>
              <a:rPr lang="en-US" sz="1800" b="1" dirty="0">
                <a:solidFill>
                  <a:schemeClr val="dk1"/>
                </a:solidFill>
                <a:latin typeface="Afacad" pitchFamily="2" charset="0"/>
                <a:cs typeface="Afacad" pitchFamily="2" charset="0"/>
              </a:rPr>
              <a:t>Examples</a:t>
            </a:r>
            <a:r>
              <a:rPr lang="en-US" sz="1800" dirty="0">
                <a:solidFill>
                  <a:schemeClr val="dk1"/>
                </a:solidFill>
                <a:latin typeface="Afacad" pitchFamily="2" charset="0"/>
                <a:cs typeface="Afacad" pitchFamily="2" charset="0"/>
              </a:rPr>
              <a:t> - Ratio-Based and </a:t>
            </a:r>
            <a:r>
              <a:rPr lang="en-US" sz="1800" dirty="0" err="1">
                <a:solidFill>
                  <a:schemeClr val="dk1"/>
                </a:solidFill>
                <a:latin typeface="Afacad" pitchFamily="2" charset="0"/>
                <a:cs typeface="Afacad" pitchFamily="2" charset="0"/>
              </a:rPr>
              <a:t>Datetime</a:t>
            </a:r>
            <a:r>
              <a:rPr lang="en-US" sz="1800" dirty="0">
                <a:solidFill>
                  <a:schemeClr val="dk1"/>
                </a:solidFill>
                <a:latin typeface="Afacad" pitchFamily="2" charset="0"/>
                <a:cs typeface="Afacad" pitchFamily="2" charset="0"/>
              </a:rPr>
              <a:t> Features</a:t>
            </a:r>
          </a:p>
          <a:p>
            <a:pPr lvl="0">
              <a:lnSpc>
                <a:spcPct val="90000"/>
              </a:lnSpc>
              <a:spcBef>
                <a:spcPts val="1000"/>
              </a:spcBef>
              <a:buClr>
                <a:schemeClr val="dk1"/>
              </a:buClr>
              <a:buSzPts val="2400"/>
            </a:pPr>
            <a:r>
              <a:rPr lang="en-US" sz="1800" b="1" dirty="0">
                <a:solidFill>
                  <a:schemeClr val="dk1"/>
                </a:solidFill>
                <a:latin typeface="Afacad" pitchFamily="2" charset="0"/>
                <a:cs typeface="Afacad" pitchFamily="2" charset="0"/>
              </a:rPr>
              <a:t>Ratio-Based Features:</a:t>
            </a:r>
          </a:p>
          <a:p>
            <a:pPr marL="457200" lvl="0" indent="-381000">
              <a:lnSpc>
                <a:spcPct val="90000"/>
              </a:lnSpc>
              <a:buClr>
                <a:schemeClr val="dk1"/>
              </a:buClr>
              <a:buSzPct val="100000"/>
              <a:buFont typeface="Arial"/>
              <a:buChar char="●"/>
            </a:pPr>
            <a:r>
              <a:rPr lang="en-US" sz="1800" dirty="0" err="1">
                <a:solidFill>
                  <a:schemeClr val="dk1"/>
                </a:solidFill>
                <a:latin typeface="Afacad" pitchFamily="2" charset="0"/>
                <a:cs typeface="Afacad" pitchFamily="2" charset="0"/>
              </a:rPr>
              <a:t>price_per_unit</a:t>
            </a:r>
            <a:r>
              <a:rPr lang="en-US" sz="1800" dirty="0">
                <a:solidFill>
                  <a:schemeClr val="dk1"/>
                </a:solidFill>
                <a:latin typeface="Afacad" pitchFamily="2" charset="0"/>
                <a:cs typeface="Afacad" pitchFamily="2" charset="0"/>
              </a:rPr>
              <a:t> = </a:t>
            </a:r>
            <a:r>
              <a:rPr lang="en-US" sz="1800" dirty="0" err="1">
                <a:solidFill>
                  <a:schemeClr val="dk1"/>
                </a:solidFill>
                <a:latin typeface="Afacad" pitchFamily="2" charset="0"/>
                <a:cs typeface="Afacad" pitchFamily="2" charset="0"/>
              </a:rPr>
              <a:t>total_price</a:t>
            </a:r>
            <a:r>
              <a:rPr lang="en-US" sz="1800" dirty="0">
                <a:solidFill>
                  <a:schemeClr val="dk1"/>
                </a:solidFill>
                <a:latin typeface="Afacad" pitchFamily="2" charset="0"/>
                <a:cs typeface="Afacad" pitchFamily="2" charset="0"/>
              </a:rPr>
              <a:t> / quantity</a:t>
            </a:r>
          </a:p>
          <a:p>
            <a:pPr lvl="0">
              <a:lnSpc>
                <a:spcPct val="90000"/>
              </a:lnSpc>
              <a:buSzPts val="2400"/>
            </a:pPr>
            <a:endParaRPr lang="en-US" sz="1800" dirty="0">
              <a:solidFill>
                <a:schemeClr val="dk1"/>
              </a:solidFill>
              <a:latin typeface="Afacad" pitchFamily="2" charset="0"/>
              <a:cs typeface="Afacad" pitchFamily="2" charset="0"/>
            </a:endParaRPr>
          </a:p>
          <a:p>
            <a:pPr lvl="0">
              <a:lnSpc>
                <a:spcPct val="90000"/>
              </a:lnSpc>
              <a:buSzPts val="2400"/>
            </a:pPr>
            <a:r>
              <a:rPr lang="en-US" sz="1800" b="1" dirty="0" err="1">
                <a:solidFill>
                  <a:schemeClr val="dk1"/>
                </a:solidFill>
                <a:latin typeface="Afacad" pitchFamily="2" charset="0"/>
                <a:cs typeface="Afacad" pitchFamily="2" charset="0"/>
              </a:rPr>
              <a:t>Datetime</a:t>
            </a:r>
            <a:r>
              <a:rPr lang="en-US" sz="1800" b="1" dirty="0">
                <a:solidFill>
                  <a:schemeClr val="dk1"/>
                </a:solidFill>
                <a:latin typeface="Afacad" pitchFamily="2" charset="0"/>
                <a:cs typeface="Afacad" pitchFamily="2" charset="0"/>
              </a:rPr>
              <a:t> Features:</a:t>
            </a:r>
          </a:p>
          <a:p>
            <a:pPr marL="457200" lvl="0" indent="-381000">
              <a:lnSpc>
                <a:spcPct val="90000"/>
              </a:lnSpc>
              <a:buClr>
                <a:schemeClr val="dk1"/>
              </a:buClr>
              <a:buSzPct val="100000"/>
              <a:buFont typeface="Arial"/>
              <a:buChar char="●"/>
            </a:pPr>
            <a:r>
              <a:rPr lang="en-US" sz="1800" dirty="0">
                <a:solidFill>
                  <a:schemeClr val="dk1"/>
                </a:solidFill>
                <a:latin typeface="Afacad" pitchFamily="2" charset="0"/>
                <a:cs typeface="Afacad" pitchFamily="2" charset="0"/>
              </a:rPr>
              <a:t>Deriving</a:t>
            </a:r>
          </a:p>
          <a:p>
            <a:pPr marL="457200" lvl="0" indent="-381000">
              <a:lnSpc>
                <a:spcPct val="90000"/>
              </a:lnSpc>
              <a:buClr>
                <a:schemeClr val="dk1"/>
              </a:buClr>
              <a:buSzPct val="100000"/>
              <a:buFont typeface="Arial"/>
              <a:buChar char="●"/>
            </a:pPr>
            <a:r>
              <a:rPr lang="en-US" sz="1800" dirty="0" err="1">
                <a:solidFill>
                  <a:schemeClr val="dk1"/>
                </a:solidFill>
                <a:latin typeface="Afacad" pitchFamily="2" charset="0"/>
                <a:cs typeface="Afacad" pitchFamily="2" charset="0"/>
              </a:rPr>
              <a:t>day_of_week</a:t>
            </a:r>
            <a:r>
              <a:rPr lang="en-US" sz="1800" dirty="0">
                <a:solidFill>
                  <a:schemeClr val="dk1"/>
                </a:solidFill>
                <a:latin typeface="Afacad" pitchFamily="2" charset="0"/>
                <a:cs typeface="Afacad" pitchFamily="2" charset="0"/>
              </a:rPr>
              <a:t>, </a:t>
            </a:r>
            <a:r>
              <a:rPr lang="en-US" sz="1800" dirty="0" err="1">
                <a:solidFill>
                  <a:schemeClr val="dk1"/>
                </a:solidFill>
                <a:latin typeface="Afacad" pitchFamily="2" charset="0"/>
                <a:cs typeface="Afacad" pitchFamily="2" charset="0"/>
              </a:rPr>
              <a:t>is_weekend</a:t>
            </a:r>
            <a:r>
              <a:rPr lang="en-US" sz="1800" dirty="0">
                <a:solidFill>
                  <a:schemeClr val="dk1"/>
                </a:solidFill>
                <a:latin typeface="Afacad" pitchFamily="2" charset="0"/>
                <a:cs typeface="Afacad" pitchFamily="2" charset="0"/>
              </a:rPr>
              <a:t>, month, or </a:t>
            </a:r>
            <a:r>
              <a:rPr lang="en-US" sz="1800" dirty="0" err="1">
                <a:solidFill>
                  <a:schemeClr val="dk1"/>
                </a:solidFill>
                <a:latin typeface="Afacad" pitchFamily="2" charset="0"/>
                <a:cs typeface="Afacad" pitchFamily="2" charset="0"/>
              </a:rPr>
              <a:t>holiday_flag</a:t>
            </a:r>
            <a:r>
              <a:rPr lang="en-US" sz="1800" dirty="0">
                <a:solidFill>
                  <a:schemeClr val="dk1"/>
                </a:solidFill>
                <a:latin typeface="Afacad" pitchFamily="2" charset="0"/>
                <a:cs typeface="Afacad" pitchFamily="2" charset="0"/>
              </a:rPr>
              <a:t> from timestamps</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2074918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facad" pitchFamily="2" charset="0"/>
                <a:ea typeface="Arial Narrow"/>
                <a:cs typeface="Afacad" pitchFamily="2" charset="0"/>
                <a:sym typeface="Arial Narrow"/>
              </a:rPr>
              <a:t>Feature Construction</a:t>
            </a:r>
            <a:endParaRPr sz="4400" b="1" i="0" u="none" strike="noStrike" cap="none">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520" y="1888996"/>
            <a:ext cx="11323200" cy="4339785"/>
          </a:xfrm>
          <a:prstGeom prst="rect">
            <a:avLst/>
          </a:prstGeom>
          <a:noFill/>
          <a:ln>
            <a:noFill/>
          </a:ln>
        </p:spPr>
        <p:txBody>
          <a:bodyPr spcFirstLastPara="1" wrap="square" lIns="91425" tIns="45700" rIns="91425" bIns="45700" anchor="t" anchorCtr="0">
            <a:normAutofit/>
          </a:bodyPr>
          <a:lstStyle/>
          <a:p>
            <a:pPr lvl="0">
              <a:spcBef>
                <a:spcPts val="300"/>
              </a:spcBef>
              <a:spcAft>
                <a:spcPts val="300"/>
              </a:spcAft>
              <a:buSzPts val="2400"/>
            </a:pPr>
            <a:r>
              <a:rPr lang="en-US" sz="1800" b="1" dirty="0">
                <a:latin typeface="Afacad" pitchFamily="2" charset="0"/>
                <a:cs typeface="Afacad" pitchFamily="2" charset="0"/>
              </a:rPr>
              <a:t>Examples</a:t>
            </a:r>
            <a:r>
              <a:rPr lang="en-US" sz="1800" dirty="0">
                <a:latin typeface="Afacad" pitchFamily="2" charset="0"/>
                <a:cs typeface="Afacad" pitchFamily="2" charset="0"/>
              </a:rPr>
              <a:t> - Aggregated Features</a:t>
            </a:r>
          </a:p>
          <a:p>
            <a:pPr lvl="0">
              <a:spcBef>
                <a:spcPts val="300"/>
              </a:spcBef>
              <a:spcAft>
                <a:spcPts val="300"/>
              </a:spcAft>
              <a:buSzPts val="2400"/>
            </a:pPr>
            <a:r>
              <a:rPr lang="en-US" sz="1800" b="1" dirty="0">
                <a:latin typeface="Afacad" pitchFamily="2" charset="0"/>
                <a:cs typeface="Afacad" pitchFamily="2" charset="0"/>
              </a:rPr>
              <a:t>Aggregated Features:</a:t>
            </a:r>
          </a:p>
          <a:p>
            <a:pPr marL="457200" lvl="0" indent="-381000">
              <a:spcBef>
                <a:spcPts val="300"/>
              </a:spcBef>
              <a:spcAft>
                <a:spcPts val="300"/>
              </a:spcAft>
              <a:buSzPct val="100000"/>
              <a:buFont typeface="Arial"/>
              <a:buChar char="●"/>
            </a:pPr>
            <a:r>
              <a:rPr lang="en-US" sz="1800" dirty="0">
                <a:latin typeface="Afacad" pitchFamily="2" charset="0"/>
                <a:cs typeface="Afacad" pitchFamily="2" charset="0"/>
              </a:rPr>
              <a:t>For user-level behavior: mean purchase frequency per user, session duration, or </a:t>
            </a:r>
            <a:r>
              <a:rPr lang="en-US" sz="1800" dirty="0" err="1">
                <a:latin typeface="Afacad" pitchFamily="2" charset="0"/>
                <a:cs typeface="Afacad" pitchFamily="2" charset="0"/>
              </a:rPr>
              <a:t>recency</a:t>
            </a:r>
            <a:r>
              <a:rPr lang="en-US" sz="1800" dirty="0">
                <a:latin typeface="Afacad" pitchFamily="2" charset="0"/>
                <a:cs typeface="Afacad" pitchFamily="2" charset="0"/>
              </a:rPr>
              <a:t> metrics in churn analysis.</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1560210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facad" pitchFamily="2" charset="0"/>
                <a:ea typeface="Arial Narrow"/>
                <a:cs typeface="Afacad" pitchFamily="2" charset="0"/>
                <a:sym typeface="Arial Narrow"/>
              </a:rPr>
              <a:t>Feature Construction</a:t>
            </a:r>
            <a:endParaRPr sz="4400" b="1" i="0" u="none" strike="noStrike" cap="none">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520" y="1888996"/>
            <a:ext cx="11323200" cy="4339785"/>
          </a:xfrm>
          <a:prstGeom prst="rect">
            <a:avLst/>
          </a:prstGeom>
          <a:noFill/>
          <a:ln>
            <a:noFill/>
          </a:ln>
        </p:spPr>
        <p:txBody>
          <a:bodyPr spcFirstLastPara="1" wrap="square" lIns="91425" tIns="45700" rIns="91425" bIns="45700" anchor="t" anchorCtr="0">
            <a:normAutofit/>
          </a:bodyPr>
          <a:lstStyle/>
          <a:p>
            <a:pPr lvl="0">
              <a:spcBef>
                <a:spcPts val="300"/>
              </a:spcBef>
              <a:spcAft>
                <a:spcPts val="300"/>
              </a:spcAft>
              <a:buClr>
                <a:schemeClr val="dk1"/>
              </a:buClr>
              <a:buSzPts val="1860"/>
            </a:pPr>
            <a:r>
              <a:rPr lang="en-US" sz="1800" b="1" dirty="0">
                <a:solidFill>
                  <a:schemeClr val="dk1"/>
                </a:solidFill>
                <a:latin typeface="Afacad" pitchFamily="2" charset="0"/>
                <a:cs typeface="Afacad" pitchFamily="2" charset="0"/>
              </a:rPr>
              <a:t>When to Use</a:t>
            </a:r>
          </a:p>
          <a:p>
            <a:pPr marL="457200" lvl="0" indent="-381000">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When existing feature space is insufficient to capture complex patterns.</a:t>
            </a:r>
          </a:p>
          <a:p>
            <a:pPr marL="457200" lvl="0" indent="-381000">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Especially effective in tabular datasets where algorithms may not automatically learn interactions.</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1449246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facad" pitchFamily="2" charset="0"/>
                <a:ea typeface="Arial Narrow"/>
                <a:cs typeface="Afacad" pitchFamily="2" charset="0"/>
                <a:sym typeface="Arial Narrow"/>
              </a:rPr>
              <a:t>Feature Construction</a:t>
            </a:r>
            <a:endParaRPr sz="4400" b="1" i="0" u="none" strike="noStrike" cap="none">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520" y="1888996"/>
            <a:ext cx="11323200" cy="4339785"/>
          </a:xfrm>
          <a:prstGeom prst="rect">
            <a:avLst/>
          </a:prstGeom>
          <a:noFill/>
          <a:ln>
            <a:noFill/>
          </a:ln>
        </p:spPr>
        <p:txBody>
          <a:bodyPr spcFirstLastPara="1" wrap="square" lIns="91425" tIns="45700" rIns="91425" bIns="45700" anchor="t" anchorCtr="0">
            <a:normAutofit/>
          </a:bodyPr>
          <a:lstStyle/>
          <a:p>
            <a:pPr lvl="0">
              <a:spcBef>
                <a:spcPts val="300"/>
              </a:spcBef>
              <a:spcAft>
                <a:spcPts val="300"/>
              </a:spcAft>
              <a:buClr>
                <a:schemeClr val="dk1"/>
              </a:buClr>
              <a:buSzPts val="1860"/>
            </a:pPr>
            <a:r>
              <a:rPr lang="en-US" sz="1800" dirty="0">
                <a:solidFill>
                  <a:schemeClr val="dk1"/>
                </a:solidFill>
                <a:latin typeface="Afacad" pitchFamily="2" charset="0"/>
                <a:cs typeface="Afacad" pitchFamily="2" charset="0"/>
              </a:rPr>
              <a:t>Feature selection is the process of identifying and retaining the most informative, relevant, and non-redundant features, while eliminating irrelevant or noisy variables.</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41425004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facad" pitchFamily="2" charset="0"/>
                <a:ea typeface="Arial Narrow"/>
                <a:cs typeface="Afacad" pitchFamily="2" charset="0"/>
                <a:sym typeface="Arial Narrow"/>
              </a:rPr>
              <a:t>Feature Construction</a:t>
            </a:r>
            <a:endParaRPr sz="4400" b="1" i="0" u="none" strike="noStrike" cap="none">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520" y="1888996"/>
            <a:ext cx="11323200" cy="4339785"/>
          </a:xfrm>
          <a:prstGeom prst="rect">
            <a:avLst/>
          </a:prstGeom>
          <a:noFill/>
          <a:ln>
            <a:noFill/>
          </a:ln>
        </p:spPr>
        <p:txBody>
          <a:bodyPr spcFirstLastPara="1" wrap="square" lIns="91425" tIns="45700" rIns="91425" bIns="45700" anchor="t" anchorCtr="0">
            <a:normAutofit/>
          </a:bodyPr>
          <a:lstStyle/>
          <a:p>
            <a:pPr marL="457200" lvl="0" indent="-381000">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Aims to improve </a:t>
            </a:r>
            <a:r>
              <a:rPr lang="en-US" sz="1800" dirty="0" err="1">
                <a:solidFill>
                  <a:schemeClr val="dk1"/>
                </a:solidFill>
                <a:latin typeface="Afacad" pitchFamily="2" charset="0"/>
                <a:cs typeface="Afacad" pitchFamily="2" charset="0"/>
              </a:rPr>
              <a:t>generalisation</a:t>
            </a:r>
            <a:r>
              <a:rPr lang="en-US" sz="1800" dirty="0">
                <a:solidFill>
                  <a:schemeClr val="dk1"/>
                </a:solidFill>
                <a:latin typeface="Afacad" pitchFamily="2" charset="0"/>
                <a:cs typeface="Afacad" pitchFamily="2" charset="0"/>
              </a:rPr>
              <a:t>, reduce </a:t>
            </a:r>
            <a:r>
              <a:rPr lang="en-US" sz="1800" dirty="0" err="1">
                <a:solidFill>
                  <a:schemeClr val="dk1"/>
                </a:solidFill>
                <a:latin typeface="Afacad" pitchFamily="2" charset="0"/>
                <a:cs typeface="Afacad" pitchFamily="2" charset="0"/>
              </a:rPr>
              <a:t>overfitting</a:t>
            </a:r>
            <a:r>
              <a:rPr lang="en-US" sz="1800" dirty="0">
                <a:solidFill>
                  <a:schemeClr val="dk1"/>
                </a:solidFill>
                <a:latin typeface="Afacad" pitchFamily="2" charset="0"/>
                <a:cs typeface="Afacad" pitchFamily="2" charset="0"/>
              </a:rPr>
              <a:t>, and enhance model interpretability.</a:t>
            </a:r>
          </a:p>
          <a:p>
            <a:pPr marL="457200" lvl="0" indent="-381000">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Can be model-agnostic (filter) or model-dependent (wrapper/embedded).</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2285151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facad" pitchFamily="2" charset="0"/>
                <a:ea typeface="Arial Narrow"/>
                <a:cs typeface="Afacad" pitchFamily="2" charset="0"/>
                <a:sym typeface="Arial Narrow"/>
              </a:rPr>
              <a:t>Feature Construction</a:t>
            </a:r>
            <a:endParaRPr sz="4400" b="1" i="0" u="none" strike="noStrike" cap="none">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520" y="1888996"/>
            <a:ext cx="11323200" cy="4339785"/>
          </a:xfrm>
          <a:prstGeom prst="rect">
            <a:avLst/>
          </a:prstGeom>
          <a:noFill/>
          <a:ln>
            <a:noFill/>
          </a:ln>
        </p:spPr>
        <p:txBody>
          <a:bodyPr spcFirstLastPara="1" wrap="square" lIns="91425" tIns="45700" rIns="91425" bIns="45700" anchor="t" anchorCtr="0">
            <a:normAutofit/>
          </a:bodyPr>
          <a:lstStyle/>
          <a:p>
            <a:pPr marL="76200" lvl="0">
              <a:spcBef>
                <a:spcPts val="300"/>
              </a:spcBef>
              <a:spcAft>
                <a:spcPts val="300"/>
              </a:spcAft>
              <a:buClr>
                <a:schemeClr val="dk1"/>
              </a:buClr>
              <a:buSzPct val="100000"/>
            </a:pPr>
            <a:r>
              <a:rPr lang="en-US" sz="1800" dirty="0">
                <a:solidFill>
                  <a:schemeClr val="dk1"/>
                </a:solidFill>
                <a:latin typeface="Afacad" pitchFamily="2" charset="0"/>
                <a:cs typeface="Afacad" pitchFamily="2" charset="0"/>
              </a:rPr>
              <a:t>Types of Feature Selection Methods - Filter Methods</a:t>
            </a:r>
          </a:p>
          <a:p>
            <a:pPr marL="569913" lvl="0" indent="-225425">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Assess feature relevance using statistical scores.</a:t>
            </a:r>
          </a:p>
          <a:p>
            <a:pPr marL="569913" lvl="0" indent="-225425">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Independent of any learning algorithm.</a:t>
            </a:r>
          </a:p>
          <a:p>
            <a:pPr marL="569913" lvl="0" indent="-225425">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Computationally efficient.</a:t>
            </a:r>
          </a:p>
          <a:p>
            <a:pPr marL="569913" lvl="0" indent="-225425">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Suitable for high-dimensional datasets.</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25219810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a:solidFill>
                  <a:schemeClr val="dk1"/>
                </a:solidFill>
                <a:latin typeface="Afacad" pitchFamily="2" charset="0"/>
                <a:ea typeface="Arial Narrow"/>
                <a:cs typeface="Afacad" pitchFamily="2" charset="0"/>
                <a:sym typeface="Arial Narrow"/>
              </a:rPr>
              <a:t>Feature Construction</a:t>
            </a:r>
            <a:endParaRPr sz="4400" b="1" i="0" u="none" strike="noStrike" cap="none">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520" y="181241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latin typeface="Afacad" pitchFamily="2" charset="0"/>
                <a:cs typeface="Afacad" pitchFamily="2" charset="0"/>
              </a:rPr>
              <a:t>Filter Methods - Pearson’s Correlation Coefficient</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Measures linear dependence between two continuous variables.</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Values close to +1/-1 imply strong positive/negative correlation; 0 implies no linear correlation.</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Limitation: Only captures linear relationships; affected by outliers and assumes normality.</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Example: Feature "height" and target "weight" often have high positive correlation.</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7458252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facad" pitchFamily="2" charset="0"/>
                <a:ea typeface="Arial Narrow"/>
                <a:cs typeface="Afacad" pitchFamily="2" charset="0"/>
                <a:sym typeface="Arial Narrow"/>
              </a:rPr>
              <a:t>Feature </a:t>
            </a:r>
            <a:r>
              <a:rPr lang="en-US" sz="4400" b="1" dirty="0">
                <a:solidFill>
                  <a:schemeClr val="dk1"/>
                </a:solidFill>
                <a:latin typeface="Afacad" pitchFamily="2" charset="0"/>
                <a:ea typeface="Arial Narrow"/>
                <a:cs typeface="Afacad" pitchFamily="2" charset="0"/>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520" y="181241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latin typeface="Afacad" pitchFamily="2" charset="0"/>
                <a:cs typeface="Afacad" pitchFamily="2" charset="0"/>
              </a:rPr>
              <a:t>Filter Methods - Spearman’s Rank Correlation</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Non-parametric measure of monotonic relationships based on rank.</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Robust to outliers and nonlinear relationships (e.g., logarithmic or exponential).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Useful when variables are ordinal or not normally distributed.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Example: Customer satisfaction score (ordinal) and purchase frequency.</a:t>
            </a:r>
          </a:p>
          <a:p>
            <a:pPr marL="742950" lvl="0" indent="-227013">
              <a:spcBef>
                <a:spcPts val="300"/>
              </a:spcBef>
              <a:spcAft>
                <a:spcPts val="300"/>
              </a:spcAft>
              <a:buClr>
                <a:schemeClr val="dk1"/>
              </a:buClr>
              <a:buSzPct val="100000"/>
              <a:buFont typeface="Arial"/>
              <a:buChar char="●"/>
            </a:pPr>
            <a:endParaRPr lang="en-US" sz="1800" dirty="0">
              <a:solidFill>
                <a:schemeClr val="dk1"/>
              </a:solidFill>
              <a:latin typeface="Afacad" pitchFamily="2" charset="0"/>
              <a:cs typeface="Afacad" pitchFamily="2" charset="0"/>
            </a:endParaRP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1849811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facad" pitchFamily="2" charset="0"/>
                <a:ea typeface="Arial Narrow"/>
                <a:cs typeface="Afacad" pitchFamily="2" charset="0"/>
                <a:sym typeface="Arial Narrow"/>
              </a:rPr>
              <a:t>Feature </a:t>
            </a:r>
            <a:r>
              <a:rPr lang="en-US" sz="4400" b="1" dirty="0">
                <a:solidFill>
                  <a:schemeClr val="dk1"/>
                </a:solidFill>
                <a:latin typeface="Afacad" pitchFamily="2" charset="0"/>
                <a:ea typeface="Arial Narrow"/>
                <a:cs typeface="Afacad" pitchFamily="2" charset="0"/>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520" y="181241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latin typeface="Afacad" pitchFamily="2" charset="0"/>
                <a:cs typeface="Afacad" pitchFamily="2" charset="0"/>
              </a:rPr>
              <a:t>Filter Methods - Chi-Square Test of Independence</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Applied to categorical variables.</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Tests whether distributions of categorical values differ significantly from expected frequencies.</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High chi-square statistic suggests feature and target are not independent (thus predictive)</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Example: Testing whether gender is associated with likelihood of loan approval.</a:t>
            </a:r>
          </a:p>
          <a:p>
            <a:pPr marL="742950" lvl="0" indent="-227013">
              <a:spcBef>
                <a:spcPts val="300"/>
              </a:spcBef>
              <a:spcAft>
                <a:spcPts val="300"/>
              </a:spcAft>
              <a:buClr>
                <a:schemeClr val="dk1"/>
              </a:buClr>
              <a:buSzPct val="100000"/>
              <a:buFont typeface="Arial"/>
              <a:buChar char="●"/>
            </a:pPr>
            <a:endParaRPr lang="en-US" sz="1800" dirty="0">
              <a:solidFill>
                <a:schemeClr val="dk1"/>
              </a:solidFill>
              <a:latin typeface="Afacad" pitchFamily="2" charset="0"/>
              <a:cs typeface="Afacad" pitchFamily="2" charset="0"/>
            </a:endParaRP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28356000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facad" pitchFamily="2" charset="0"/>
                <a:ea typeface="Arial Narrow"/>
                <a:cs typeface="Afacad" pitchFamily="2" charset="0"/>
                <a:sym typeface="Arial Narrow"/>
              </a:rPr>
              <a:t>Feature </a:t>
            </a:r>
            <a:r>
              <a:rPr lang="en-US" sz="4400" b="1" dirty="0">
                <a:solidFill>
                  <a:schemeClr val="dk1"/>
                </a:solidFill>
                <a:latin typeface="Afacad" pitchFamily="2" charset="0"/>
                <a:ea typeface="Arial Narrow"/>
                <a:cs typeface="Afacad" pitchFamily="2" charset="0"/>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520" y="181241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latin typeface="Afacad" pitchFamily="2" charset="0"/>
                <a:cs typeface="Afacad" pitchFamily="2" charset="0"/>
              </a:rPr>
              <a:t>Filter Methods - Information Theoretic Measures (Mutual Information):</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Mutual Information (MI): Measures reduction in uncertainty about target given a feature.</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Works for both categorical and continuous variables using entropy-based criteria.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Captures non-linear dependencies.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Example: MI between "transaction type" and "fraud label" in fraud detection. </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3760504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facad" pitchFamily="2" charset="0"/>
                <a:ea typeface="Arial Narrow"/>
                <a:cs typeface="Afacad" pitchFamily="2" charset="0"/>
                <a:sym typeface="Arial Narrow"/>
              </a:rPr>
              <a:t>Feature </a:t>
            </a:r>
            <a:r>
              <a:rPr lang="en-US" sz="4400" b="1" dirty="0">
                <a:solidFill>
                  <a:schemeClr val="dk1"/>
                </a:solidFill>
                <a:latin typeface="Afacad" pitchFamily="2" charset="0"/>
                <a:ea typeface="Arial Narrow"/>
                <a:cs typeface="Afacad" pitchFamily="2" charset="0"/>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520" y="181241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latin typeface="Afacad" pitchFamily="2" charset="0"/>
                <a:cs typeface="Afacad" pitchFamily="2" charset="0"/>
              </a:rPr>
              <a:t>Filter Methods - Fisher Score:</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Supervised filter method.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Measures class </a:t>
            </a:r>
            <a:r>
              <a:rPr lang="en-US" sz="1800" dirty="0" err="1">
                <a:solidFill>
                  <a:schemeClr val="dk1"/>
                </a:solidFill>
                <a:latin typeface="Afacad" pitchFamily="2" charset="0"/>
                <a:cs typeface="Afacad" pitchFamily="2" charset="0"/>
              </a:rPr>
              <a:t>separability</a:t>
            </a:r>
            <a:r>
              <a:rPr lang="en-US" sz="1800" dirty="0">
                <a:solidFill>
                  <a:schemeClr val="dk1"/>
                </a:solidFill>
                <a:latin typeface="Afacad" pitchFamily="2" charset="0"/>
                <a:cs typeface="Afacad" pitchFamily="2" charset="0"/>
              </a:rPr>
              <a:t> by computing ratio of inter-class variance to intra-class variance.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Features with high Fisher scores are better at distinguishing between classes.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Example: Feature “</a:t>
            </a:r>
            <a:r>
              <a:rPr lang="en-US" sz="1800" dirty="0" err="1">
                <a:solidFill>
                  <a:schemeClr val="dk1"/>
                </a:solidFill>
                <a:latin typeface="Afacad" pitchFamily="2" charset="0"/>
                <a:cs typeface="Afacad" pitchFamily="2" charset="0"/>
              </a:rPr>
              <a:t>exam_score</a:t>
            </a:r>
            <a:r>
              <a:rPr lang="en-US" sz="1800" dirty="0">
                <a:solidFill>
                  <a:schemeClr val="dk1"/>
                </a:solidFill>
                <a:latin typeface="Afacad" pitchFamily="2" charset="0"/>
                <a:cs typeface="Afacad" pitchFamily="2" charset="0"/>
              </a:rPr>
              <a:t>” distinguishing between pass and fail. </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21740774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facad" pitchFamily="2" charset="0"/>
                <a:ea typeface="Arial Narrow"/>
                <a:cs typeface="Afacad" pitchFamily="2" charset="0"/>
                <a:sym typeface="Arial Narrow"/>
              </a:rPr>
              <a:t>Feature </a:t>
            </a:r>
            <a:r>
              <a:rPr lang="en-US" sz="4400" b="1" dirty="0">
                <a:solidFill>
                  <a:schemeClr val="dk1"/>
                </a:solidFill>
                <a:latin typeface="Afacad" pitchFamily="2" charset="0"/>
                <a:ea typeface="Arial Narrow"/>
                <a:cs typeface="Afacad" pitchFamily="2" charset="0"/>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520" y="181241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latin typeface="Afacad" pitchFamily="2" charset="0"/>
                <a:cs typeface="Afacad" pitchFamily="2" charset="0"/>
              </a:rPr>
              <a:t>How to Choose the Right Filter Method?</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Continuous ↔ Continuous: Pearson, Spearman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Ordinal ↔ Ordinal: Spearman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Categorical ↔ Categorical: Chi-Square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Categorical ↔ Continuous: ANOVA, Mutual Information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Mixed types: Mutual Information </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32093992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facad" pitchFamily="2" charset="0"/>
                <a:ea typeface="Arial Narrow"/>
                <a:cs typeface="Afacad" pitchFamily="2" charset="0"/>
                <a:sym typeface="Arial Narrow"/>
              </a:rPr>
              <a:t>Feature </a:t>
            </a:r>
            <a:r>
              <a:rPr lang="en-US" sz="4400" b="1" dirty="0">
                <a:solidFill>
                  <a:schemeClr val="dk1"/>
                </a:solidFill>
                <a:latin typeface="Afacad" pitchFamily="2" charset="0"/>
                <a:ea typeface="Arial Narrow"/>
                <a:cs typeface="Afacad" pitchFamily="2" charset="0"/>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520" y="183957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latin typeface="Afacad" pitchFamily="2" charset="0"/>
                <a:cs typeface="Afacad" pitchFamily="2" charset="0"/>
              </a:rPr>
              <a:t>Filter Methods - Additional Considerations:</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For imbalanced data: information gain or </a:t>
            </a:r>
            <a:r>
              <a:rPr lang="en-US" sz="1800" dirty="0" err="1">
                <a:solidFill>
                  <a:schemeClr val="dk1"/>
                </a:solidFill>
                <a:latin typeface="Afacad" pitchFamily="2" charset="0"/>
                <a:cs typeface="Afacad" pitchFamily="2" charset="0"/>
              </a:rPr>
              <a:t>Gini</a:t>
            </a:r>
            <a:r>
              <a:rPr lang="en-US" sz="1800" dirty="0">
                <a:solidFill>
                  <a:schemeClr val="dk1"/>
                </a:solidFill>
                <a:latin typeface="Afacad" pitchFamily="2" charset="0"/>
                <a:cs typeface="Afacad" pitchFamily="2" charset="0"/>
              </a:rPr>
              <a:t> index may perform better than Chi-square.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For high-dimensional gene expression data: Fisher Score or </a:t>
            </a:r>
            <a:r>
              <a:rPr lang="en-US" sz="1800" dirty="0" err="1">
                <a:solidFill>
                  <a:schemeClr val="dk1"/>
                </a:solidFill>
                <a:latin typeface="Afacad" pitchFamily="2" charset="0"/>
                <a:cs typeface="Afacad" pitchFamily="2" charset="0"/>
              </a:rPr>
              <a:t>ReliefF</a:t>
            </a:r>
            <a:r>
              <a:rPr lang="en-US" sz="1800" dirty="0">
                <a:solidFill>
                  <a:schemeClr val="dk1"/>
                </a:solidFill>
                <a:latin typeface="Afacad" pitchFamily="2" charset="0"/>
                <a:cs typeface="Afacad" pitchFamily="2" charset="0"/>
              </a:rPr>
              <a:t> are widely used. </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29329871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facad" pitchFamily="2" charset="0"/>
                <a:ea typeface="Arial Narrow"/>
                <a:cs typeface="Afacad" pitchFamily="2" charset="0"/>
                <a:sym typeface="Arial Narrow"/>
              </a:rPr>
              <a:t>Feature </a:t>
            </a:r>
            <a:r>
              <a:rPr lang="en-US" sz="4400" b="1" dirty="0">
                <a:solidFill>
                  <a:schemeClr val="dk1"/>
                </a:solidFill>
                <a:latin typeface="Afacad" pitchFamily="2" charset="0"/>
                <a:ea typeface="Arial Narrow"/>
                <a:cs typeface="Afacad" pitchFamily="2" charset="0"/>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520" y="183957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latin typeface="Afacad" pitchFamily="2" charset="0"/>
                <a:cs typeface="Afacad" pitchFamily="2" charset="0"/>
              </a:rPr>
              <a:t>Wrapper Methods:</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Evaluate feature subsets based on model performance.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More computationally expensive.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Often yield better-performing feature sets</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29805190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facad" pitchFamily="2" charset="0"/>
                <a:ea typeface="Arial Narrow"/>
                <a:cs typeface="Afacad" pitchFamily="2" charset="0"/>
                <a:sym typeface="Arial Narrow"/>
              </a:rPr>
              <a:t>Feature </a:t>
            </a:r>
            <a:r>
              <a:rPr lang="en-US" sz="4400" b="1" dirty="0">
                <a:solidFill>
                  <a:schemeClr val="dk1"/>
                </a:solidFill>
                <a:latin typeface="Afacad" pitchFamily="2" charset="0"/>
                <a:ea typeface="Arial Narrow"/>
                <a:cs typeface="Afacad" pitchFamily="2" charset="0"/>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520" y="183957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latin typeface="Afacad" pitchFamily="2" charset="0"/>
                <a:cs typeface="Afacad" pitchFamily="2" charset="0"/>
              </a:rPr>
              <a:t>Wrapper Methods - Sequential Forward Selection (SFS):</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Starts with an empty feature set.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Adds one feature at a time that improves model performance the most.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Stops when performance no longer improves.</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Example: In churn prediction, adding “</a:t>
            </a:r>
            <a:r>
              <a:rPr lang="en-US" sz="1800" dirty="0" err="1">
                <a:solidFill>
                  <a:schemeClr val="dk1"/>
                </a:solidFill>
                <a:latin typeface="Afacad" pitchFamily="2" charset="0"/>
                <a:cs typeface="Afacad" pitchFamily="2" charset="0"/>
              </a:rPr>
              <a:t>recency</a:t>
            </a:r>
            <a:r>
              <a:rPr lang="en-US" sz="1800" dirty="0">
                <a:solidFill>
                  <a:schemeClr val="dk1"/>
                </a:solidFill>
                <a:latin typeface="Afacad" pitchFamily="2" charset="0"/>
                <a:cs typeface="Afacad" pitchFamily="2" charset="0"/>
              </a:rPr>
              <a:t>” to “frequency” may improve AUC score. </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25519098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facad" pitchFamily="2" charset="0"/>
                <a:ea typeface="Arial Narrow"/>
                <a:cs typeface="Afacad" pitchFamily="2" charset="0"/>
                <a:sym typeface="Arial Narrow"/>
              </a:rPr>
              <a:t>Feature </a:t>
            </a:r>
            <a:r>
              <a:rPr lang="en-US" sz="4400" b="1" dirty="0">
                <a:solidFill>
                  <a:schemeClr val="dk1"/>
                </a:solidFill>
                <a:latin typeface="Afacad" pitchFamily="2" charset="0"/>
                <a:ea typeface="Arial Narrow"/>
                <a:cs typeface="Afacad" pitchFamily="2" charset="0"/>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520" y="183957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latin typeface="Afacad" pitchFamily="2" charset="0"/>
                <a:cs typeface="Afacad" pitchFamily="2" charset="0"/>
              </a:rPr>
              <a:t>Wrapper Methods - Sequential Backward Selection (SBS):</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Starts with all features.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Removes one feature at a time that least affects performance.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Continues until optimal feature subset is reached.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Use Case: When computational cost of many features is high and model interpretation is a priority. </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19668214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facad" pitchFamily="2" charset="0"/>
                <a:ea typeface="Arial Narrow"/>
                <a:cs typeface="Afacad" pitchFamily="2" charset="0"/>
                <a:sym typeface="Arial Narrow"/>
              </a:rPr>
              <a:t>Feature </a:t>
            </a:r>
            <a:r>
              <a:rPr lang="en-US" sz="4400" b="1" dirty="0">
                <a:solidFill>
                  <a:schemeClr val="dk1"/>
                </a:solidFill>
                <a:latin typeface="Afacad" pitchFamily="2" charset="0"/>
                <a:ea typeface="Arial Narrow"/>
                <a:cs typeface="Afacad" pitchFamily="2" charset="0"/>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520" y="183957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latin typeface="Afacad" pitchFamily="2" charset="0"/>
                <a:cs typeface="Afacad" pitchFamily="2" charset="0"/>
              </a:rPr>
              <a:t>Embedded Methods:</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Perform feature selection during the model training process.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Combine advantages of both filter and wrapper methods. </a:t>
            </a:r>
          </a:p>
          <a:p>
            <a:pPr marL="515937" lvl="0">
              <a:spcBef>
                <a:spcPts val="300"/>
              </a:spcBef>
              <a:spcAft>
                <a:spcPts val="300"/>
              </a:spcAft>
              <a:buClr>
                <a:schemeClr val="dk1"/>
              </a:buClr>
              <a:buSzPct val="100000"/>
            </a:pPr>
            <a:endParaRPr lang="en-US" sz="1800" dirty="0">
              <a:solidFill>
                <a:schemeClr val="dk1"/>
              </a:solidFill>
              <a:latin typeface="Afacad" pitchFamily="2" charset="0"/>
              <a:cs typeface="Afacad" pitchFamily="2" charset="0"/>
            </a:endParaRP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6767253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facad" pitchFamily="2" charset="0"/>
                <a:ea typeface="Arial Narrow"/>
                <a:cs typeface="Afacad" pitchFamily="2" charset="0"/>
                <a:sym typeface="Arial Narrow"/>
              </a:rPr>
              <a:t>Feature </a:t>
            </a:r>
            <a:r>
              <a:rPr lang="en-US" sz="4400" b="1" dirty="0">
                <a:solidFill>
                  <a:schemeClr val="dk1"/>
                </a:solidFill>
                <a:latin typeface="Afacad" pitchFamily="2" charset="0"/>
                <a:ea typeface="Arial Narrow"/>
                <a:cs typeface="Afacad" pitchFamily="2" charset="0"/>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520" y="183957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latin typeface="Afacad" pitchFamily="2" charset="0"/>
                <a:cs typeface="Afacad" pitchFamily="2" charset="0"/>
              </a:rPr>
              <a:t>Embedded Methods - LASSO (L1 Regularization):</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Applies L1 regularization that </a:t>
            </a:r>
            <a:r>
              <a:rPr lang="en-US" sz="1800" dirty="0" err="1">
                <a:solidFill>
                  <a:schemeClr val="dk1"/>
                </a:solidFill>
                <a:latin typeface="Afacad" pitchFamily="2" charset="0"/>
                <a:cs typeface="Afacad" pitchFamily="2" charset="0"/>
              </a:rPr>
              <a:t>penalises</a:t>
            </a:r>
            <a:r>
              <a:rPr lang="en-US" sz="1800" dirty="0">
                <a:solidFill>
                  <a:schemeClr val="dk1"/>
                </a:solidFill>
                <a:latin typeface="Afacad" pitchFamily="2" charset="0"/>
                <a:cs typeface="Afacad" pitchFamily="2" charset="0"/>
              </a:rPr>
              <a:t> absolute size of coefficients.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Shrinks less relevant coefficients to zero, effectively removing features.</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Highly interpretable; often used in linear regression tasks.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Example: LASSO can identify which marketing channels contribute most to conversions. </a:t>
            </a:r>
          </a:p>
          <a:p>
            <a:pPr marL="515937" lvl="0">
              <a:spcBef>
                <a:spcPts val="300"/>
              </a:spcBef>
              <a:spcAft>
                <a:spcPts val="300"/>
              </a:spcAft>
              <a:buClr>
                <a:schemeClr val="dk1"/>
              </a:buClr>
              <a:buSzPct val="100000"/>
            </a:pPr>
            <a:endParaRPr lang="en-US" sz="1800" dirty="0">
              <a:solidFill>
                <a:schemeClr val="dk1"/>
              </a:solidFill>
              <a:latin typeface="Afacad" pitchFamily="2" charset="0"/>
              <a:cs typeface="Afacad" pitchFamily="2" charset="0"/>
            </a:endParaRP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2669246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facad" pitchFamily="2" charset="0"/>
                <a:ea typeface="Arial Narrow"/>
                <a:cs typeface="Afacad" pitchFamily="2" charset="0"/>
                <a:sym typeface="Arial Narrow"/>
              </a:rPr>
              <a:t>Feature </a:t>
            </a:r>
            <a:r>
              <a:rPr lang="en-US" sz="4400" b="1" dirty="0">
                <a:solidFill>
                  <a:schemeClr val="dk1"/>
                </a:solidFill>
                <a:latin typeface="Afacad" pitchFamily="2" charset="0"/>
                <a:ea typeface="Arial Narrow"/>
                <a:cs typeface="Afacad" pitchFamily="2" charset="0"/>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520" y="183957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latin typeface="Afacad" pitchFamily="2" charset="0"/>
                <a:cs typeface="Afacad" pitchFamily="2" charset="0"/>
              </a:rPr>
              <a:t>Embedded Methods - Decision Tree-Based Feature Importance:</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Tree models (Random Forest, </a:t>
            </a:r>
            <a:r>
              <a:rPr lang="en-US" sz="1800" dirty="0" err="1">
                <a:solidFill>
                  <a:schemeClr val="dk1"/>
                </a:solidFill>
                <a:latin typeface="Afacad" pitchFamily="2" charset="0"/>
                <a:cs typeface="Afacad" pitchFamily="2" charset="0"/>
              </a:rPr>
              <a:t>XGBoost</a:t>
            </a:r>
            <a:r>
              <a:rPr lang="en-US" sz="1800" dirty="0">
                <a:solidFill>
                  <a:schemeClr val="dk1"/>
                </a:solidFill>
                <a:latin typeface="Afacad" pitchFamily="2" charset="0"/>
                <a:cs typeface="Afacad" pitchFamily="2" charset="0"/>
              </a:rPr>
              <a:t>) inherently calculate feature importance.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Based on </a:t>
            </a:r>
            <a:r>
              <a:rPr lang="en-US" sz="1800" dirty="0" err="1">
                <a:solidFill>
                  <a:schemeClr val="dk1"/>
                </a:solidFill>
                <a:latin typeface="Afacad" pitchFamily="2" charset="0"/>
                <a:cs typeface="Afacad" pitchFamily="2" charset="0"/>
              </a:rPr>
              <a:t>Gini</a:t>
            </a:r>
            <a:r>
              <a:rPr lang="en-US" sz="1800" dirty="0">
                <a:solidFill>
                  <a:schemeClr val="dk1"/>
                </a:solidFill>
                <a:latin typeface="Afacad" pitchFamily="2" charset="0"/>
                <a:cs typeface="Afacad" pitchFamily="2" charset="0"/>
              </a:rPr>
              <a:t> gain, entropy reduction, or information gain.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Useful in tabular data with mixed feature types.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Example: Random Forest may reveal “credit </a:t>
            </a:r>
            <a:r>
              <a:rPr lang="en-US" sz="1800" dirty="0" err="1">
                <a:solidFill>
                  <a:schemeClr val="dk1"/>
                </a:solidFill>
                <a:latin typeface="Afacad" pitchFamily="2" charset="0"/>
                <a:cs typeface="Afacad" pitchFamily="2" charset="0"/>
              </a:rPr>
              <a:t>utilisation</a:t>
            </a:r>
            <a:r>
              <a:rPr lang="en-US" sz="1800" dirty="0">
                <a:solidFill>
                  <a:schemeClr val="dk1"/>
                </a:solidFill>
                <a:latin typeface="Afacad" pitchFamily="2" charset="0"/>
                <a:cs typeface="Afacad" pitchFamily="2" charset="0"/>
              </a:rPr>
              <a:t>” is most important in predicting credit default. </a:t>
            </a:r>
          </a:p>
          <a:p>
            <a:pPr marL="515937" lvl="0">
              <a:spcBef>
                <a:spcPts val="300"/>
              </a:spcBef>
              <a:spcAft>
                <a:spcPts val="300"/>
              </a:spcAft>
              <a:buClr>
                <a:schemeClr val="dk1"/>
              </a:buClr>
              <a:buSzPct val="100000"/>
            </a:pPr>
            <a:endParaRPr lang="en-US" sz="1800" dirty="0">
              <a:solidFill>
                <a:schemeClr val="dk1"/>
              </a:solidFill>
              <a:latin typeface="Afacad" pitchFamily="2" charset="0"/>
              <a:cs typeface="Afacad" pitchFamily="2" charset="0"/>
            </a:endParaRP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31566339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i="0" u="none" strike="noStrike" cap="none" dirty="0">
                <a:solidFill>
                  <a:schemeClr val="dk1"/>
                </a:solidFill>
                <a:latin typeface="Afacad" pitchFamily="2" charset="0"/>
                <a:ea typeface="Arial Narrow"/>
                <a:cs typeface="Afacad" pitchFamily="2" charset="0"/>
                <a:sym typeface="Arial Narrow"/>
              </a:rPr>
              <a:t>Feature </a:t>
            </a:r>
            <a:r>
              <a:rPr lang="en-US" sz="4400" b="1" dirty="0">
                <a:solidFill>
                  <a:schemeClr val="dk1"/>
                </a:solidFill>
                <a:latin typeface="Afacad" pitchFamily="2" charset="0"/>
                <a:ea typeface="Arial Narrow"/>
                <a:cs typeface="Afacad" pitchFamily="2" charset="0"/>
                <a:sym typeface="Arial Narrow"/>
              </a:rPr>
              <a:t>Selection</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520" y="183957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latin typeface="Afacad" pitchFamily="2" charset="0"/>
                <a:cs typeface="Afacad" pitchFamily="2" charset="0"/>
              </a:rPr>
              <a:t>Note on Ridge (L2 Regularization):</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Unlike LASSO, Ridge doesn’t shrink coefficients to zero.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Not used for actual feature selection. </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Can help </a:t>
            </a:r>
            <a:r>
              <a:rPr lang="en-US" sz="1800" dirty="0" err="1">
                <a:solidFill>
                  <a:schemeClr val="dk1"/>
                </a:solidFill>
                <a:latin typeface="Afacad" pitchFamily="2" charset="0"/>
                <a:cs typeface="Afacad" pitchFamily="2" charset="0"/>
              </a:rPr>
              <a:t>stabilise</a:t>
            </a:r>
            <a:r>
              <a:rPr lang="en-US" sz="1800" dirty="0">
                <a:solidFill>
                  <a:schemeClr val="dk1"/>
                </a:solidFill>
                <a:latin typeface="Afacad" pitchFamily="2" charset="0"/>
                <a:cs typeface="Afacad" pitchFamily="2" charset="0"/>
              </a:rPr>
              <a:t> </a:t>
            </a:r>
            <a:r>
              <a:rPr lang="en-US" sz="1800" dirty="0" err="1">
                <a:solidFill>
                  <a:schemeClr val="dk1"/>
                </a:solidFill>
                <a:latin typeface="Afacad" pitchFamily="2" charset="0"/>
                <a:cs typeface="Afacad" pitchFamily="2" charset="0"/>
              </a:rPr>
              <a:t>multicollinearity</a:t>
            </a:r>
            <a:r>
              <a:rPr lang="en-US" sz="1800" dirty="0">
                <a:solidFill>
                  <a:schemeClr val="dk1"/>
                </a:solidFill>
                <a:latin typeface="Afacad" pitchFamily="2" charset="0"/>
                <a:cs typeface="Afacad" pitchFamily="2" charset="0"/>
              </a:rPr>
              <a:t>.</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31488011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4400"/>
            </a:pPr>
            <a:r>
              <a:rPr lang="en-US" sz="4400" b="1" dirty="0">
                <a:solidFill>
                  <a:schemeClr val="dk1"/>
                </a:solidFill>
                <a:latin typeface="Afacad" pitchFamily="2" charset="0"/>
                <a:ea typeface="Arial Narrow"/>
                <a:cs typeface="Afacad" pitchFamily="2" charset="0"/>
                <a:sym typeface="Arial Narrow"/>
              </a:rPr>
              <a:t>Evaluation of Feature Selection Methods</a:t>
            </a: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p:txBody>
      </p:sp>
      <p:sp>
        <p:nvSpPr>
          <p:cNvPr id="154" name="Google Shape;154;g37084f751b1_0_32"/>
          <p:cNvSpPr txBox="1"/>
          <p:nvPr/>
        </p:nvSpPr>
        <p:spPr>
          <a:xfrm>
            <a:off x="533520" y="1839578"/>
            <a:ext cx="11323200" cy="4339785"/>
          </a:xfrm>
          <a:prstGeom prst="rect">
            <a:avLst/>
          </a:prstGeom>
          <a:noFill/>
          <a:ln>
            <a:noFill/>
          </a:ln>
        </p:spPr>
        <p:txBody>
          <a:bodyPr spcFirstLastPara="1" wrap="square" lIns="91425" tIns="45700" rIns="91425" bIns="45700" anchor="t" anchorCtr="0">
            <a:normAutofit/>
          </a:bodyPr>
          <a:lstStyle/>
          <a:p>
            <a:pPr marL="344488" lvl="0">
              <a:spcBef>
                <a:spcPts val="300"/>
              </a:spcBef>
              <a:spcAft>
                <a:spcPts val="300"/>
              </a:spcAft>
              <a:buClr>
                <a:schemeClr val="dk1"/>
              </a:buClr>
              <a:buSzPct val="100000"/>
            </a:pPr>
            <a:r>
              <a:rPr lang="en-US" sz="1800" dirty="0">
                <a:solidFill>
                  <a:schemeClr val="dk1"/>
                </a:solidFill>
                <a:latin typeface="Afacad" pitchFamily="2" charset="0"/>
                <a:cs typeface="Afacad" pitchFamily="2" charset="0"/>
              </a:rPr>
              <a:t>Importance of Validation:</a:t>
            </a:r>
          </a:p>
          <a:p>
            <a:pPr marL="742950" lvl="0" indent="-227013">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Crucial to validate the impact on downstream models after applying feature selection. </a:t>
            </a:r>
          </a:p>
        </p:txBody>
      </p:sp>
      <p:pic>
        <p:nvPicPr>
          <p:cNvPr id="155" name="Google Shape;155;g37084f751b1_0_32"/>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a:stretch/>
        </p:blipFill>
        <p:spPr>
          <a:xfrm>
            <a:off x="-2" y="1295790"/>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a:stretch/>
        </p:blipFill>
        <p:spPr>
          <a:xfrm>
            <a:off x="10078720" y="405951"/>
            <a:ext cx="1778000" cy="679450"/>
          </a:xfrm>
          <a:prstGeom prst="rect">
            <a:avLst/>
          </a:prstGeom>
          <a:noFill/>
          <a:ln>
            <a:noFill/>
          </a:ln>
        </p:spPr>
      </p:pic>
    </p:spTree>
    <p:extLst>
      <p:ext uri="{BB962C8B-B14F-4D97-AF65-F5344CB8AC3E}">
        <p14:creationId xmlns:p14="http://schemas.microsoft.com/office/powerpoint/2010/main" val="17206793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g344d97f5810_0_104"/>
          <p:cNvSpPr txBox="1"/>
          <p:nvPr/>
        </p:nvSpPr>
        <p:spPr>
          <a:xfrm>
            <a:off x="441950" y="349875"/>
            <a:ext cx="91353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dirty="0">
                <a:solidFill>
                  <a:schemeClr val="dk1"/>
                </a:solidFill>
                <a:latin typeface="Afacad" pitchFamily="2" charset="0"/>
                <a:ea typeface="Arial Narrow"/>
                <a:cs typeface="Afacad" pitchFamily="2" charset="0"/>
                <a:sym typeface="Arial Narrow"/>
              </a:rPr>
              <a:t>Evaluation of Feature Selection Methods</a:t>
            </a:r>
            <a:endParaRPr sz="4400" b="1" i="0" u="none" strike="noStrike" cap="none" dirty="0">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p:txBody>
      </p:sp>
      <p:sp>
        <p:nvSpPr>
          <p:cNvPr id="361" name="Google Shape;361;g344d97f5810_0_104"/>
          <p:cNvSpPr txBox="1"/>
          <p:nvPr/>
        </p:nvSpPr>
        <p:spPr>
          <a:xfrm>
            <a:off x="533400" y="1825625"/>
            <a:ext cx="11323200" cy="4351200"/>
          </a:xfrm>
          <a:prstGeom prst="rect">
            <a:avLst/>
          </a:prstGeom>
          <a:noFill/>
          <a:ln>
            <a:noFill/>
          </a:ln>
        </p:spPr>
        <p:txBody>
          <a:bodyPr spcFirstLastPara="1" wrap="square" lIns="91425" tIns="45700" rIns="91425" bIns="45700" anchor="t" anchorCtr="0">
            <a:noAutofit/>
          </a:bodyPr>
          <a:lstStyle/>
          <a:p>
            <a:pPr lvl="0">
              <a:lnSpc>
                <a:spcPct val="70000"/>
              </a:lnSpc>
              <a:spcBef>
                <a:spcPts val="1000"/>
              </a:spcBef>
              <a:buClr>
                <a:schemeClr val="dk1"/>
              </a:buClr>
              <a:buSzPts val="1860"/>
            </a:pPr>
            <a:r>
              <a:rPr lang="en-US" sz="2000" dirty="0">
                <a:solidFill>
                  <a:schemeClr val="dk1"/>
                </a:solidFill>
                <a:latin typeface="Afacad" pitchFamily="2" charset="0"/>
                <a:cs typeface="Afacad" pitchFamily="2" charset="0"/>
              </a:rPr>
              <a:t>Common Evaluation Strategies</a:t>
            </a:r>
            <a:endParaRPr sz="2000" b="0" i="0" u="none" strike="noStrike" cap="none" dirty="0">
              <a:solidFill>
                <a:schemeClr val="dk1"/>
              </a:solidFill>
              <a:latin typeface="Afacad" pitchFamily="2" charset="0"/>
              <a:cs typeface="Afacad" pitchFamily="2" charset="0"/>
              <a:sym typeface="Arial"/>
            </a:endParaRPr>
          </a:p>
          <a:p>
            <a:pPr marL="457200" lvl="0" indent="-381000">
              <a:lnSpc>
                <a:spcPct val="70000"/>
              </a:lnSpc>
              <a:spcBef>
                <a:spcPts val="1000"/>
              </a:spcBef>
              <a:buClr>
                <a:schemeClr val="dk1"/>
              </a:buClr>
              <a:buSzPct val="100000"/>
              <a:buFont typeface="Arial"/>
              <a:buChar char="●"/>
            </a:pPr>
            <a:r>
              <a:rPr lang="en-US" sz="1800" dirty="0">
                <a:solidFill>
                  <a:schemeClr val="dk1"/>
                </a:solidFill>
                <a:latin typeface="Afacad" pitchFamily="2" charset="0"/>
                <a:cs typeface="Afacad" pitchFamily="2" charset="0"/>
              </a:rPr>
              <a:t>Cross-Validation Score: Measures generalization over multiple data splits (robust </a:t>
            </a:r>
          </a:p>
          <a:p>
            <a:pPr marL="457200" lvl="0" indent="-381000">
              <a:lnSpc>
                <a:spcPct val="70000"/>
              </a:lnSpc>
              <a:spcBef>
                <a:spcPts val="1000"/>
              </a:spcBef>
              <a:buClr>
                <a:schemeClr val="dk1"/>
              </a:buClr>
              <a:buSzPct val="100000"/>
              <a:buFont typeface="Arial"/>
              <a:buChar char="●"/>
            </a:pPr>
            <a:r>
              <a:rPr lang="en-US" sz="1800" dirty="0">
                <a:solidFill>
                  <a:schemeClr val="dk1"/>
                </a:solidFill>
                <a:latin typeface="Afacad" pitchFamily="2" charset="0"/>
                <a:cs typeface="Afacad" pitchFamily="2" charset="0"/>
              </a:rPr>
              <a:t>to </a:t>
            </a:r>
            <a:r>
              <a:rPr lang="en-US" sz="1800" dirty="0" err="1">
                <a:solidFill>
                  <a:schemeClr val="dk1"/>
                </a:solidFill>
                <a:latin typeface="Afacad" pitchFamily="2" charset="0"/>
                <a:cs typeface="Afacad" pitchFamily="2" charset="0"/>
              </a:rPr>
              <a:t>overfitting</a:t>
            </a:r>
            <a:r>
              <a:rPr lang="en-US" sz="1800" dirty="0">
                <a:solidFill>
                  <a:schemeClr val="dk1"/>
                </a:solidFill>
                <a:latin typeface="Afacad" pitchFamily="2" charset="0"/>
                <a:cs typeface="Afacad" pitchFamily="2" charset="0"/>
              </a:rPr>
              <a:t>). </a:t>
            </a:r>
          </a:p>
          <a:p>
            <a:pPr marL="457200" lvl="0" indent="-381000">
              <a:lnSpc>
                <a:spcPct val="70000"/>
              </a:lnSpc>
              <a:spcBef>
                <a:spcPts val="1000"/>
              </a:spcBef>
              <a:buClr>
                <a:schemeClr val="dk1"/>
              </a:buClr>
              <a:buSzPct val="100000"/>
              <a:buFont typeface="Arial"/>
              <a:buChar char="●"/>
            </a:pPr>
            <a:r>
              <a:rPr lang="en-US" sz="1800" dirty="0">
                <a:solidFill>
                  <a:schemeClr val="dk1"/>
                </a:solidFill>
                <a:latin typeface="Afacad" pitchFamily="2" charset="0"/>
                <a:cs typeface="Afacad" pitchFamily="2" charset="0"/>
              </a:rPr>
              <a:t>Model Performance: Check change in accuracy, precision, recall, F1, AUC before and after FS.</a:t>
            </a:r>
          </a:p>
          <a:p>
            <a:pPr marL="457200" lvl="0" indent="-381000">
              <a:lnSpc>
                <a:spcPct val="70000"/>
              </a:lnSpc>
              <a:spcBef>
                <a:spcPts val="1000"/>
              </a:spcBef>
              <a:buClr>
                <a:schemeClr val="dk1"/>
              </a:buClr>
              <a:buSzPct val="100000"/>
              <a:buFont typeface="Arial"/>
              <a:buChar char="●"/>
            </a:pPr>
            <a:r>
              <a:rPr lang="en-US" sz="1800" dirty="0">
                <a:solidFill>
                  <a:schemeClr val="dk1"/>
                </a:solidFill>
                <a:latin typeface="Afacad" pitchFamily="2" charset="0"/>
                <a:cs typeface="Afacad" pitchFamily="2" charset="0"/>
              </a:rPr>
              <a:t>Stability Index: Evaluate consistency of selected features across different folds/subsamples</a:t>
            </a:r>
          </a:p>
          <a:p>
            <a:pPr marL="457200" lvl="0" indent="-381000">
              <a:lnSpc>
                <a:spcPct val="70000"/>
              </a:lnSpc>
              <a:spcBef>
                <a:spcPts val="1000"/>
              </a:spcBef>
              <a:buClr>
                <a:schemeClr val="dk1"/>
              </a:buClr>
              <a:buSzPct val="100000"/>
              <a:buFont typeface="Arial"/>
              <a:buChar char="●"/>
            </a:pPr>
            <a:r>
              <a:rPr lang="en-US" sz="1800" dirty="0">
                <a:solidFill>
                  <a:schemeClr val="dk1"/>
                </a:solidFill>
                <a:latin typeface="Afacad" pitchFamily="2" charset="0"/>
                <a:cs typeface="Afacad" pitchFamily="2" charset="0"/>
              </a:rPr>
              <a:t>Domain Relevance: Ensure selected features make sense contextually, even if statistically weak.</a:t>
            </a:r>
          </a:p>
          <a:p>
            <a:pPr marL="457200" lvl="0" indent="-381000">
              <a:lnSpc>
                <a:spcPct val="70000"/>
              </a:lnSpc>
              <a:spcBef>
                <a:spcPts val="1000"/>
              </a:spcBef>
              <a:buClr>
                <a:schemeClr val="dk1"/>
              </a:buClr>
              <a:buSzPct val="100000"/>
              <a:buFont typeface="Arial"/>
              <a:buChar char="●"/>
            </a:pPr>
            <a:r>
              <a:rPr lang="en-US" sz="1800" dirty="0">
                <a:solidFill>
                  <a:schemeClr val="dk1"/>
                </a:solidFill>
                <a:latin typeface="Afacad" pitchFamily="2" charset="0"/>
                <a:cs typeface="Afacad" pitchFamily="2" charset="0"/>
              </a:rPr>
              <a:t>Execution Time: Especially important for wrapper methods and large feature spaces.</a:t>
            </a:r>
            <a:endParaRPr sz="2400" b="0" i="0" u="none" strike="noStrike" cap="none" dirty="0">
              <a:solidFill>
                <a:schemeClr val="dk1"/>
              </a:solidFill>
              <a:latin typeface="Afacad" pitchFamily="2" charset="0"/>
              <a:cs typeface="Afacad" pitchFamily="2" charset="0"/>
              <a:sym typeface="Arial"/>
            </a:endParaRPr>
          </a:p>
          <a:p>
            <a:pPr marL="0" marR="0" lvl="0" indent="0" algn="l" rtl="0">
              <a:lnSpc>
                <a:spcPct val="70000"/>
              </a:lnSpc>
              <a:spcBef>
                <a:spcPts val="1000"/>
              </a:spcBef>
              <a:spcAft>
                <a:spcPts val="0"/>
              </a:spcAft>
              <a:buClr>
                <a:schemeClr val="dk1"/>
              </a:buClr>
              <a:buSzPts val="1860"/>
              <a:buFont typeface="Arial"/>
              <a:buNone/>
            </a:pPr>
            <a:r>
              <a:rPr lang="en-US" sz="2400" b="0" i="0" u="none" strike="noStrike" cap="none" dirty="0">
                <a:solidFill>
                  <a:schemeClr val="dk1"/>
                </a:solidFill>
                <a:latin typeface="Afacad" pitchFamily="2" charset="0"/>
                <a:cs typeface="Afacad" pitchFamily="2" charset="0"/>
                <a:sym typeface="Arial"/>
              </a:rPr>
              <a:t> </a:t>
            </a:r>
            <a:endParaRPr sz="2400" b="0" i="0" u="none" strike="noStrike" cap="none" dirty="0">
              <a:solidFill>
                <a:schemeClr val="dk1"/>
              </a:solidFill>
              <a:latin typeface="Afacad" pitchFamily="2" charset="0"/>
              <a:cs typeface="Afacad" pitchFamily="2" charset="0"/>
              <a:sym typeface="Arial"/>
            </a:endParaRPr>
          </a:p>
        </p:txBody>
      </p:sp>
      <p:pic>
        <p:nvPicPr>
          <p:cNvPr id="362" name="Google Shape;362;g344d97f5810_0_104"/>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363" name="Google Shape;363;g344d97f5810_0_104"/>
          <p:cNvPicPr preferRelativeResize="0"/>
          <p:nvPr/>
        </p:nvPicPr>
        <p:blipFill rotWithShape="1">
          <a:blip r:embed="rId4">
            <a:alphaModFix/>
          </a:blip>
          <a:srcRect/>
          <a:stretch/>
        </p:blipFill>
        <p:spPr>
          <a:xfrm>
            <a:off x="10078720" y="405951"/>
            <a:ext cx="1778000" cy="679450"/>
          </a:xfrm>
          <a:prstGeom prst="rect">
            <a:avLst/>
          </a:prstGeom>
          <a:noFill/>
          <a:ln>
            <a:noFill/>
          </a:ln>
        </p:spPr>
      </p:pic>
      <p:pic>
        <p:nvPicPr>
          <p:cNvPr id="364" name="Google Shape;364;g344d97f5810_0_104"/>
          <p:cNvPicPr preferRelativeResize="0"/>
          <p:nvPr/>
        </p:nvPicPr>
        <p:blipFill rotWithShape="1">
          <a:blip r:embed="rId5">
            <a:alphaModFix/>
          </a:blip>
          <a:srcRect/>
          <a:stretch/>
        </p:blipFill>
        <p:spPr>
          <a:xfrm>
            <a:off x="-2" y="1295790"/>
            <a:ext cx="4465321" cy="103523"/>
          </a:xfrm>
          <a:prstGeom prst="rect">
            <a:avLst/>
          </a:prstGeom>
          <a:noFill/>
          <a:ln>
            <a:noFill/>
          </a:ln>
        </p:spPr>
      </p:pic>
    </p:spTree>
    <p:extLst>
      <p:ext uri="{BB962C8B-B14F-4D97-AF65-F5344CB8AC3E}">
        <p14:creationId xmlns:p14="http://schemas.microsoft.com/office/powerpoint/2010/main" val="16216418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g344d97f5810_0_104"/>
          <p:cNvSpPr txBox="1"/>
          <p:nvPr/>
        </p:nvSpPr>
        <p:spPr>
          <a:xfrm>
            <a:off x="441950" y="349875"/>
            <a:ext cx="91353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dirty="0">
                <a:solidFill>
                  <a:schemeClr val="dk1"/>
                </a:solidFill>
                <a:latin typeface="Afacad" pitchFamily="2" charset="0"/>
                <a:ea typeface="Arial Narrow"/>
                <a:cs typeface="Afacad" pitchFamily="2" charset="0"/>
                <a:sym typeface="Arial Narrow"/>
              </a:rPr>
              <a:t>Evaluation of Feature Selection Methods</a:t>
            </a:r>
            <a:endParaRPr sz="4400" b="1" i="0" u="none" strike="noStrike" cap="none" dirty="0">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p:txBody>
      </p:sp>
      <p:sp>
        <p:nvSpPr>
          <p:cNvPr id="361" name="Google Shape;361;g344d97f5810_0_104"/>
          <p:cNvSpPr txBox="1"/>
          <p:nvPr/>
        </p:nvSpPr>
        <p:spPr>
          <a:xfrm>
            <a:off x="533400" y="1825625"/>
            <a:ext cx="11323200" cy="4351200"/>
          </a:xfrm>
          <a:prstGeom prst="rect">
            <a:avLst/>
          </a:prstGeom>
          <a:noFill/>
          <a:ln>
            <a:noFill/>
          </a:ln>
        </p:spPr>
        <p:txBody>
          <a:bodyPr spcFirstLastPara="1" wrap="square" lIns="91425" tIns="45700" rIns="91425" bIns="45700" anchor="t" anchorCtr="0">
            <a:noAutofit/>
          </a:bodyPr>
          <a:lstStyle/>
          <a:p>
            <a:pPr lvl="0">
              <a:lnSpc>
                <a:spcPct val="70000"/>
              </a:lnSpc>
              <a:spcBef>
                <a:spcPts val="1000"/>
              </a:spcBef>
              <a:buClr>
                <a:schemeClr val="dk1"/>
              </a:buClr>
              <a:buSzPts val="1860"/>
            </a:pPr>
            <a:r>
              <a:rPr lang="en-US" sz="2000" dirty="0">
                <a:solidFill>
                  <a:schemeClr val="dk1"/>
                </a:solidFill>
                <a:latin typeface="Afacad" pitchFamily="2" charset="0"/>
                <a:cs typeface="Afacad" pitchFamily="2" charset="0"/>
              </a:rPr>
              <a:t>Practical Considerations - Performance Degradation</a:t>
            </a:r>
          </a:p>
          <a:p>
            <a:pPr lvl="0">
              <a:lnSpc>
                <a:spcPct val="70000"/>
              </a:lnSpc>
              <a:spcBef>
                <a:spcPts val="1000"/>
              </a:spcBef>
              <a:buClr>
                <a:schemeClr val="dk1"/>
              </a:buClr>
              <a:buSzPts val="1860"/>
            </a:pPr>
            <a:r>
              <a:rPr lang="en-US" sz="2000" dirty="0">
                <a:solidFill>
                  <a:schemeClr val="dk1"/>
                </a:solidFill>
                <a:latin typeface="Afacad" pitchFamily="2" charset="0"/>
                <a:cs typeface="Afacad" pitchFamily="2" charset="0"/>
              </a:rPr>
              <a:t>If performance degrades post-selection, it may indicate:</a:t>
            </a:r>
          </a:p>
          <a:p>
            <a:pPr marL="457200" lvl="0" indent="-381000">
              <a:lnSpc>
                <a:spcPct val="70000"/>
              </a:lnSpc>
              <a:spcBef>
                <a:spcPts val="1000"/>
              </a:spcBef>
              <a:buClr>
                <a:schemeClr val="dk1"/>
              </a:buClr>
              <a:buSzPct val="100000"/>
              <a:buFont typeface="Arial"/>
              <a:buChar char="●"/>
            </a:pPr>
            <a:r>
              <a:rPr lang="en-US" sz="1800" dirty="0" err="1">
                <a:solidFill>
                  <a:schemeClr val="dk1"/>
                </a:solidFill>
                <a:latin typeface="Afacad" pitchFamily="2" charset="0"/>
                <a:cs typeface="Afacad" pitchFamily="2" charset="0"/>
              </a:rPr>
              <a:t>Overfitting</a:t>
            </a:r>
            <a:r>
              <a:rPr lang="en-US" sz="1800" dirty="0">
                <a:solidFill>
                  <a:schemeClr val="dk1"/>
                </a:solidFill>
                <a:latin typeface="Afacad" pitchFamily="2" charset="0"/>
                <a:cs typeface="Afacad" pitchFamily="2" charset="0"/>
              </a:rPr>
              <a:t> during selection.</a:t>
            </a:r>
          </a:p>
          <a:p>
            <a:pPr marL="457200" lvl="0" indent="-381000">
              <a:lnSpc>
                <a:spcPct val="70000"/>
              </a:lnSpc>
              <a:spcBef>
                <a:spcPts val="1000"/>
              </a:spcBef>
              <a:buClr>
                <a:schemeClr val="dk1"/>
              </a:buClr>
              <a:buSzPct val="100000"/>
              <a:buFont typeface="Arial"/>
              <a:buChar char="●"/>
            </a:pPr>
            <a:r>
              <a:rPr lang="en-US" sz="1800" dirty="0">
                <a:solidFill>
                  <a:schemeClr val="dk1"/>
                </a:solidFill>
                <a:latin typeface="Afacad" pitchFamily="2" charset="0"/>
                <a:cs typeface="Afacad" pitchFamily="2" charset="0"/>
              </a:rPr>
              <a:t>Important interaction terms were removed.</a:t>
            </a:r>
          </a:p>
          <a:p>
            <a:pPr marL="457200" lvl="0" indent="-381000">
              <a:lnSpc>
                <a:spcPct val="70000"/>
              </a:lnSpc>
              <a:spcBef>
                <a:spcPts val="1000"/>
              </a:spcBef>
              <a:buClr>
                <a:schemeClr val="dk1"/>
              </a:buClr>
              <a:buSzPct val="100000"/>
              <a:buFont typeface="Arial"/>
              <a:buChar char="●"/>
            </a:pPr>
            <a:r>
              <a:rPr lang="en-US" sz="1800" dirty="0">
                <a:solidFill>
                  <a:schemeClr val="dk1"/>
                </a:solidFill>
                <a:latin typeface="Afacad" pitchFamily="2" charset="0"/>
                <a:cs typeface="Afacad" pitchFamily="2" charset="0"/>
              </a:rPr>
              <a:t>Features removed were only useful in combinations, not in isolation.</a:t>
            </a:r>
          </a:p>
        </p:txBody>
      </p:sp>
      <p:pic>
        <p:nvPicPr>
          <p:cNvPr id="362" name="Google Shape;362;g344d97f5810_0_104"/>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363" name="Google Shape;363;g344d97f5810_0_104"/>
          <p:cNvPicPr preferRelativeResize="0"/>
          <p:nvPr/>
        </p:nvPicPr>
        <p:blipFill rotWithShape="1">
          <a:blip r:embed="rId4">
            <a:alphaModFix/>
          </a:blip>
          <a:srcRect/>
          <a:stretch/>
        </p:blipFill>
        <p:spPr>
          <a:xfrm>
            <a:off x="10078720" y="405951"/>
            <a:ext cx="1778000" cy="679450"/>
          </a:xfrm>
          <a:prstGeom prst="rect">
            <a:avLst/>
          </a:prstGeom>
          <a:noFill/>
          <a:ln>
            <a:noFill/>
          </a:ln>
        </p:spPr>
      </p:pic>
      <p:pic>
        <p:nvPicPr>
          <p:cNvPr id="364" name="Google Shape;364;g344d97f5810_0_104"/>
          <p:cNvPicPr preferRelativeResize="0"/>
          <p:nvPr/>
        </p:nvPicPr>
        <p:blipFill rotWithShape="1">
          <a:blip r:embed="rId5">
            <a:alphaModFix/>
          </a:blip>
          <a:srcRect/>
          <a:stretch/>
        </p:blipFill>
        <p:spPr>
          <a:xfrm>
            <a:off x="-2" y="1295790"/>
            <a:ext cx="4465321" cy="103523"/>
          </a:xfrm>
          <a:prstGeom prst="rect">
            <a:avLst/>
          </a:prstGeom>
          <a:noFill/>
          <a:ln>
            <a:noFill/>
          </a:ln>
        </p:spPr>
      </p:pic>
    </p:spTree>
    <p:extLst>
      <p:ext uri="{BB962C8B-B14F-4D97-AF65-F5344CB8AC3E}">
        <p14:creationId xmlns:p14="http://schemas.microsoft.com/office/powerpoint/2010/main" val="41504592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g344d97f5810_0_104"/>
          <p:cNvSpPr txBox="1"/>
          <p:nvPr/>
        </p:nvSpPr>
        <p:spPr>
          <a:xfrm>
            <a:off x="441950" y="349875"/>
            <a:ext cx="9135300" cy="930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rial Narrow"/>
              <a:buNone/>
            </a:pPr>
            <a:r>
              <a:rPr lang="en-US" sz="4400" b="1" i="0" u="none" strike="noStrike" cap="none" dirty="0">
                <a:solidFill>
                  <a:schemeClr val="dk1"/>
                </a:solidFill>
                <a:latin typeface="Afacad" pitchFamily="2" charset="0"/>
                <a:ea typeface="Arial Narrow"/>
                <a:cs typeface="Afacad" pitchFamily="2" charset="0"/>
                <a:sym typeface="Arial Narrow"/>
              </a:rPr>
              <a:t>Evaluation of Feature Selection Methods</a:t>
            </a:r>
            <a:endParaRPr sz="4400" b="1" i="0" u="none" strike="noStrike" cap="none" dirty="0">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a:p>
            <a:pPr marL="0" marR="0" lvl="0" indent="0" algn="l" rtl="0">
              <a:lnSpc>
                <a:spcPct val="90000"/>
              </a:lnSpc>
              <a:spcBef>
                <a:spcPts val="0"/>
              </a:spcBef>
              <a:spcAft>
                <a:spcPts val="0"/>
              </a:spcAft>
              <a:buClr>
                <a:schemeClr val="dk1"/>
              </a:buClr>
              <a:buSzPts val="4400"/>
              <a:buFont typeface="Arial Narrow"/>
              <a:buNone/>
            </a:pPr>
            <a:endParaRPr sz="4400" b="1" i="0" u="none" strike="noStrike" cap="none" dirty="0">
              <a:solidFill>
                <a:schemeClr val="dk1"/>
              </a:solidFill>
              <a:latin typeface="Afacad" pitchFamily="2" charset="0"/>
              <a:ea typeface="Arial Narrow"/>
              <a:cs typeface="Afacad" pitchFamily="2" charset="0"/>
              <a:sym typeface="Arial Narrow"/>
            </a:endParaRPr>
          </a:p>
        </p:txBody>
      </p:sp>
      <p:sp>
        <p:nvSpPr>
          <p:cNvPr id="361" name="Google Shape;361;g344d97f5810_0_104"/>
          <p:cNvSpPr txBox="1"/>
          <p:nvPr/>
        </p:nvSpPr>
        <p:spPr>
          <a:xfrm>
            <a:off x="533400" y="1825625"/>
            <a:ext cx="11323200" cy="4351200"/>
          </a:xfrm>
          <a:prstGeom prst="rect">
            <a:avLst/>
          </a:prstGeom>
          <a:noFill/>
          <a:ln>
            <a:noFill/>
          </a:ln>
        </p:spPr>
        <p:txBody>
          <a:bodyPr spcFirstLastPara="1" wrap="square" lIns="91425" tIns="45700" rIns="91425" bIns="45700" anchor="t" anchorCtr="0">
            <a:noAutofit/>
          </a:bodyPr>
          <a:lstStyle/>
          <a:p>
            <a:pPr marL="457200" lvl="0" indent="-381000">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Feature Extraction: Convert raw/unstructured data into usable form (Text, image, audio, sensor, time-series). </a:t>
            </a:r>
          </a:p>
          <a:p>
            <a:pPr marL="457200" lvl="0" indent="-381000">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Feature Construction: Create domain-specific or derived variables (Tabular data, business problems). </a:t>
            </a:r>
          </a:p>
          <a:p>
            <a:pPr marL="457200" lvl="0" indent="-381000">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Filter Methods: Select features using </a:t>
            </a:r>
            <a:r>
              <a:rPr lang="en-US" sz="1800" dirty="0" err="1">
                <a:solidFill>
                  <a:schemeClr val="dk1"/>
                </a:solidFill>
                <a:latin typeface="Afacad" pitchFamily="2" charset="0"/>
                <a:cs typeface="Afacad" pitchFamily="2" charset="0"/>
              </a:rPr>
              <a:t>univariate</a:t>
            </a:r>
            <a:r>
              <a:rPr lang="en-US" sz="1800" dirty="0">
                <a:solidFill>
                  <a:schemeClr val="dk1"/>
                </a:solidFill>
                <a:latin typeface="Afacad" pitchFamily="2" charset="0"/>
                <a:cs typeface="Afacad" pitchFamily="2" charset="0"/>
              </a:rPr>
              <a:t> statistics (High-dimensional datasets, pre-model analysis). </a:t>
            </a:r>
          </a:p>
          <a:p>
            <a:pPr marL="457200" lvl="0" indent="-381000">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Wrapper Methods: Evaluate feature sets using model performance (Moderate dimensionality, more precision). </a:t>
            </a:r>
          </a:p>
          <a:p>
            <a:pPr marL="457200" lvl="0" indent="-381000">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Embedded Methods: Select features during model training (Tree-based models, LASSO, production pipelines). </a:t>
            </a:r>
          </a:p>
          <a:p>
            <a:pPr marL="457200" lvl="0" indent="-381000">
              <a:spcBef>
                <a:spcPts val="300"/>
              </a:spcBef>
              <a:spcAft>
                <a:spcPts val="300"/>
              </a:spcAft>
              <a:buClr>
                <a:schemeClr val="dk1"/>
              </a:buClr>
              <a:buSzPct val="100000"/>
              <a:buFont typeface="Arial"/>
              <a:buChar char="●"/>
            </a:pPr>
            <a:r>
              <a:rPr lang="en-US" sz="1800" dirty="0">
                <a:solidFill>
                  <a:schemeClr val="dk1"/>
                </a:solidFill>
                <a:latin typeface="Afacad" pitchFamily="2" charset="0"/>
                <a:cs typeface="Afacad" pitchFamily="2" charset="0"/>
              </a:rPr>
              <a:t>Evaluation: Assess impact of feature selection (Always after selection, before final model). </a:t>
            </a:r>
          </a:p>
        </p:txBody>
      </p:sp>
      <p:pic>
        <p:nvPicPr>
          <p:cNvPr id="362" name="Google Shape;362;g344d97f5810_0_104"/>
          <p:cNvPicPr preferRelativeResize="0"/>
          <p:nvPr/>
        </p:nvPicPr>
        <p:blipFill rotWithShape="1">
          <a:blip r:embed="rId3">
            <a:alphaModFix/>
          </a:blip>
          <a:srcRect/>
          <a:stretch/>
        </p:blipFill>
        <p:spPr>
          <a:xfrm>
            <a:off x="-2" y="6466115"/>
            <a:ext cx="12204000" cy="108000"/>
          </a:xfrm>
          <a:prstGeom prst="rect">
            <a:avLst/>
          </a:prstGeom>
          <a:noFill/>
          <a:ln>
            <a:noFill/>
          </a:ln>
        </p:spPr>
      </p:pic>
      <p:pic>
        <p:nvPicPr>
          <p:cNvPr id="363" name="Google Shape;363;g344d97f5810_0_104"/>
          <p:cNvPicPr preferRelativeResize="0"/>
          <p:nvPr/>
        </p:nvPicPr>
        <p:blipFill rotWithShape="1">
          <a:blip r:embed="rId4">
            <a:alphaModFix/>
          </a:blip>
          <a:srcRect/>
          <a:stretch/>
        </p:blipFill>
        <p:spPr>
          <a:xfrm>
            <a:off x="10078720" y="405951"/>
            <a:ext cx="1778000" cy="679450"/>
          </a:xfrm>
          <a:prstGeom prst="rect">
            <a:avLst/>
          </a:prstGeom>
          <a:noFill/>
          <a:ln>
            <a:noFill/>
          </a:ln>
        </p:spPr>
      </p:pic>
      <p:pic>
        <p:nvPicPr>
          <p:cNvPr id="364" name="Google Shape;364;g344d97f5810_0_104"/>
          <p:cNvPicPr preferRelativeResize="0"/>
          <p:nvPr/>
        </p:nvPicPr>
        <p:blipFill rotWithShape="1">
          <a:blip r:embed="rId5">
            <a:alphaModFix/>
          </a:blip>
          <a:srcRect/>
          <a:stretch/>
        </p:blipFill>
        <p:spPr>
          <a:xfrm>
            <a:off x="-2" y="1295790"/>
            <a:ext cx="4465321" cy="103523"/>
          </a:xfrm>
          <a:prstGeom prst="rect">
            <a:avLst/>
          </a:prstGeom>
          <a:noFill/>
          <a:ln>
            <a:noFill/>
          </a:ln>
        </p:spPr>
      </p:pic>
    </p:spTree>
    <p:extLst>
      <p:ext uri="{BB962C8B-B14F-4D97-AF65-F5344CB8AC3E}">
        <p14:creationId xmlns:p14="http://schemas.microsoft.com/office/powerpoint/2010/main" val="22195487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5"/>
          <p:cNvSpPr/>
          <p:nvPr/>
        </p:nvSpPr>
        <p:spPr>
          <a:xfrm>
            <a:off x="11998" y="3894332"/>
            <a:ext cx="12192000" cy="2855668"/>
          </a:xfrm>
          <a:prstGeom prst="roundRect">
            <a:avLst>
              <a:gd name="adj" fmla="val 16667"/>
            </a:avLst>
          </a:prstGeom>
          <a:solidFill>
            <a:srgbClr val="7E00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Arial"/>
                <a:ea typeface="Arial"/>
                <a:cs typeface="Arial"/>
                <a:sym typeface="Arial"/>
              </a:rPr>
              <a:t>The content provided in this digital training programme has been developed by professors / external vendors. All intellectual property rights in the content, including but not limited to video, text, slides, graphics, and audio materials, are owned exclusively by BITS Pilani (“BITS”), unless otherwise expressly stated. This programme may also include licensed or contributed works from third-party experts, faculty, and collaborating institutions, all of whom are duly acknowledged where appropriate.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Arial"/>
                <a:ea typeface="Arial"/>
                <a:cs typeface="Arial"/>
                <a:sym typeface="Arial"/>
              </a:rPr>
              <a:t>All product names, logos, brands, and entity names referenced within this content are the property of their respective trademark owners. The inclusion of such names, logos, or brands does not imply any affiliation with, or endorsement by, these entities.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Arial"/>
                <a:ea typeface="Arial"/>
                <a:cs typeface="Arial"/>
                <a:sym typeface="Arial"/>
              </a:rPr>
              <a:t>This material is intended solely for personal learning and academic purposes. Except for content that is explicitly confirmed to be in the public domain, no part of this content may be reproduced, copied, modified, distributed, republished, uploaded, posted, publicly displayed, or transmitted in any form or by any means – electronic, mechanical, photocopying, recording, or otherwise – without the prior express written consent of BITS Pilani or the applicable rights holder.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Arial"/>
                <a:ea typeface="Arial"/>
                <a:cs typeface="Arial"/>
                <a:sym typeface="Arial"/>
              </a:rPr>
              <a:t>Any unauthorized use, commercial exploitation, resale, or public sharing of this content in any manner constitutes a violation of applicable intellectual property laws. BITS Pilani reserves the right to pursue all appropriate legal remedies, including but not limited to civil action and criminal prosecution under the Copyright Act, 1957, and other relevant statutes in force in India.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Arial"/>
                <a:ea typeface="Arial"/>
                <a:cs typeface="Arial"/>
                <a:sym typeface="Arial"/>
              </a:rPr>
              <a:t>By accessing or using this digital training programme, you agree to comply with the terms set forth in this disclaimer.</a:t>
            </a:r>
            <a:endParaRPr sz="1400" b="0" i="0" u="none" strike="noStrike" cap="none">
              <a:solidFill>
                <a:srgbClr val="000000"/>
              </a:solidFill>
              <a:latin typeface="Arial"/>
              <a:ea typeface="Arial"/>
              <a:cs typeface="Arial"/>
              <a:sym typeface="Arial"/>
            </a:endParaRPr>
          </a:p>
        </p:txBody>
      </p:sp>
      <p:pic>
        <p:nvPicPr>
          <p:cNvPr id="397" name="Google Shape;397;p5"/>
          <p:cNvPicPr preferRelativeResize="0"/>
          <p:nvPr/>
        </p:nvPicPr>
        <p:blipFill rotWithShape="1">
          <a:blip r:embed="rId3">
            <a:alphaModFix/>
          </a:blip>
          <a:srcRect/>
          <a:stretch/>
        </p:blipFill>
        <p:spPr>
          <a:xfrm>
            <a:off x="10078720" y="405951"/>
            <a:ext cx="1778000" cy="679450"/>
          </a:xfrm>
          <a:prstGeom prst="rect">
            <a:avLst/>
          </a:prstGeom>
          <a:noFill/>
          <a:ln>
            <a:noFill/>
          </a:ln>
        </p:spPr>
      </p:pic>
      <p:sp>
        <p:nvSpPr>
          <p:cNvPr id="398" name="Google Shape;398;p5"/>
          <p:cNvSpPr txBox="1"/>
          <p:nvPr/>
        </p:nvSpPr>
        <p:spPr>
          <a:xfrm>
            <a:off x="3268980" y="2963668"/>
            <a:ext cx="5654040" cy="930665"/>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7200"/>
              <a:buFont typeface="Play"/>
              <a:buNone/>
            </a:pPr>
            <a:r>
              <a:rPr lang="en-US" sz="7200" b="1" i="0" u="none" strike="noStrike" cap="none">
                <a:solidFill>
                  <a:schemeClr val="dk1"/>
                </a:solidFill>
                <a:latin typeface="Play"/>
                <a:ea typeface="Play"/>
                <a:cs typeface="Play"/>
                <a:sym typeface="Play"/>
              </a:rPr>
              <a:t>Thank You</a:t>
            </a:r>
            <a:endParaRPr sz="7200" b="1" i="0" u="none" strike="noStrike" cap="none">
              <a:solidFill>
                <a:schemeClr val="dk1"/>
              </a:solidFill>
              <a:latin typeface="Play"/>
              <a:ea typeface="Play"/>
              <a:cs typeface="Play"/>
              <a:sym typeface="Play"/>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TotalTime>
  <Words>3978</Words>
  <Application>Microsoft Office PowerPoint</Application>
  <PresentationFormat>Widescreen</PresentationFormat>
  <Paragraphs>243</Paragraphs>
  <Slides>36</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Afacad</vt:lpstr>
      <vt:lpstr>Arial</vt:lpstr>
      <vt:lpstr>Arial Narrow</vt:lpstr>
      <vt:lpstr>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Singh, Manjeet (GRG-MRM)</dc:creator>
  <cp:lastModifiedBy>Balasubramanian PG</cp:lastModifiedBy>
  <cp:revision>9</cp:revision>
  <dcterms:created xsi:type="dcterms:W3CDTF">2025-05-30T08:20:10Z</dcterms:created>
  <dcterms:modified xsi:type="dcterms:W3CDTF">2026-05-23T11:59:53Z</dcterms:modified>
</cp:coreProperties>
</file>