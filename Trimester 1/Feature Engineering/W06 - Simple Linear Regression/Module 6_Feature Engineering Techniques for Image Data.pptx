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Play"/>
      <p:regular r:id="rId32"/>
      <p:bold r:id="rId33"/>
    </p:embeddedFont>
    <p:embeddedFont>
      <p:font typeface="Arial Narrow"/>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ju/5CV4HoHMd9ndoejrgv4zKrp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Play-bold.fntdata"/><Relationship Id="rId10" Type="http://schemas.openxmlformats.org/officeDocument/2006/relationships/slide" Target="slides/slide6.xml"/><Relationship Id="rId32" Type="http://schemas.openxmlformats.org/officeDocument/2006/relationships/font" Target="fonts/Play-regular.fntdata"/><Relationship Id="rId13" Type="http://schemas.openxmlformats.org/officeDocument/2006/relationships/slide" Target="slides/slide9.xml"/><Relationship Id="rId35" Type="http://schemas.openxmlformats.org/officeDocument/2006/relationships/font" Target="fonts/ArialNarrow-bold.fntdata"/><Relationship Id="rId12" Type="http://schemas.openxmlformats.org/officeDocument/2006/relationships/slide" Target="slides/slide8.xml"/><Relationship Id="rId34" Type="http://schemas.openxmlformats.org/officeDocument/2006/relationships/font" Target="fonts/ArialNarrow-regular.fntdata"/><Relationship Id="rId15" Type="http://schemas.openxmlformats.org/officeDocument/2006/relationships/slide" Target="slides/slide11.xml"/><Relationship Id="rId37" Type="http://schemas.openxmlformats.org/officeDocument/2006/relationships/font" Target="fonts/ArialNarrow-boldItalic.fntdata"/><Relationship Id="rId14" Type="http://schemas.openxmlformats.org/officeDocument/2006/relationships/slide" Target="slides/slide10.xml"/><Relationship Id="rId36" Type="http://schemas.openxmlformats.org/officeDocument/2006/relationships/font" Target="fonts/ArialNarrow-italic.fntdata"/><Relationship Id="rId17" Type="http://schemas.openxmlformats.org/officeDocument/2006/relationships/slide" Target="slides/slide13.xml"/><Relationship Id="rId16" Type="http://schemas.openxmlformats.org/officeDocument/2006/relationships/slide" Target="slides/slide12.xml"/><Relationship Id="rId38" Type="http://customschemas.google.com/relationships/presentationmetadata" Target="meta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Welcome to Module 6 of our course on Feature Engineering. In this module, we will delve into various techniques specifically designed for image data. Image data presents unique challenges due to its high dimensionality and the richness of information it contains. Feature engineering helps us extract meaningful and robust representations from these images, which are crucial for various computer vision tasks. This module will cover classical techniques that form the foundation of many modern image processing and computer vision applications.</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08268c0a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Our first key technique is Edge Detection. At its core, edge detection is about finding significant changes in pixel intensity within an image. Think of it as identifying lines or curves where one region transitions into another. These points are incredibly important because they often correspond to the boundaries of objects, the outlines of shapes, or simply the transitions between different regions within an image. For instance, in a picture of a cat, edge detection would highlight the outline of the cat's body against the background.</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97" name="Google Shape;97;g3708268c0a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084f751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Now, let's understand the conceptual foundation behind how edges are detected. Mathematically, edges are identified as points where the "gradient magnitude" of pixel intensity is at its local maximum. Imagine a landscape: the steepest parts of the hills are where the elevation changes most rapidly. Similarly, in an image, areas where the brightness changes most rapidly indicate an edge. The "gradient" itself is a vector that points in the direction of the greatest intensity change, and its magnitude tells us how strong that change is. We compute this gradient by looking at how pixel intensities change both horizontally and vertically across the image.</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106" name="Google Shape;106;g37084f751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084f751b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There are several algorithms used for edge detection. Two of the foundational ones are the Sobel and Prewitt operators. These operators work by applying small matrices, called convolution filters or kernels, to the image. These filters are specifically designed to highlight changes in intensity in either the horizontal or vertical direction. By convolving these filters across the image, we can approximate the gradient at each pixel, effectively highlighting the edges. They are relatively simple but powerful tools for initial edge detection.</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15" name="Google Shape;115;g37084f751b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084f751b1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The Canny Edge Detection algorithm is a more sophisticated and widely used method. It's a multi-stage process that aims to find optimal edges. The very first step in Canny is to reduce noise in the image. Noise can lead to spurious edges, so a Gaussian filter is applied to smooth out the image while preserving important details. After noise reduction, the algorithm proceeds to calculate the gradient magnitude and orientation for every pixel, similar to what we discussed conceptually. This step identifies potential edge points and the direction of the intensity change.</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124" name="Google Shape;124;g37084f751b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084f751b1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Continuing with the Canny algorithm, after calculating gradients, the next crucial step is Non-Maximum Suppression. This process thins out the edges by keeping only the local maxima of the gradient magnitude. Essentially, if a pixel's gradient magnitude is not the highest along the gradient direction, it's suppressed. This ensures that the detected edges are fine lines rather than thick, blurry regions. Finally, Hysteresis Thresholding is applied. This is a clever technique that uses two thresholds – a high one and a low one. Strong edges, above the high threshold, are immediately accepted. Weak edges, between the high and low thresholds, are only accepted if they are connected to a strong edge. This helps to connect broken edge segments and eliminate noise, leading to more robust and continuous edge contours.</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133" name="Google Shape;133;g37084f751b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084f751b1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Why is edge detection so important? Firstly, it significantly reduces the amount of data we need to process from an image. Instead of analysing every single pixel, we focus on the structural outlines, which contain highly informative content. This simplification makes subsequent processing steps more efficient. Secondly, edge detection is fundamental to a wide range of computer vision applications. In object recognition, edges help define the shape of objects. In medical imaging, they can highlight boundaries of tumors or organs. In robotics, edge information is crucial for navigation and obstacle avoidance.</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42" name="Google Shape;142;g37084f751b1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084f751b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Moving on from edges, let's explore Corner Detection. While edges represent lines of intensity change, corners are points where the direction of intensity change is significant in multiple directions. Think of the corner of a table or the intersection of two lines. These points are particularly valuable as features because they are generally stable. This means that even if you move or rotate an object in an image, its corners will typically remain recognisable and in a consistent relative position, making them excellent anchor points for various computer vision tasks.</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51" name="Google Shape;151;g37084f751b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084f751b1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One of the most well-known corner detection techniques is the Harris Corner Detector. This method works by examining a small window of pixels around each point in the image. It uses something called a "structure tensor" which essentially summarises the intensity variations within that window in different directions. Based on the "eigenvalues" of this structure tensor, a score function is computed. This score helps to differentiate between flat regions (where intensity changes little in any direction), edges (where intensity changes strongly in one direction but not another), and corners (where intensity changes significantly in multiple directions). A high score indicates a corner.</a:t>
            </a:r>
            <a:endParaRPr>
              <a:solidFill>
                <a:srgbClr val="1B1C1D"/>
              </a:solidFill>
            </a:endParaRPr>
          </a:p>
          <a:p>
            <a:pPr indent="0" lvl="0" marL="0" rtl="0" algn="l">
              <a:lnSpc>
                <a:spcPct val="115000"/>
              </a:lnSpc>
              <a:spcBef>
                <a:spcPts val="3000"/>
              </a:spcBef>
              <a:spcAft>
                <a:spcPts val="1200"/>
              </a:spcAft>
              <a:buSzPts val="1100"/>
              <a:buNone/>
            </a:pPr>
            <a:r>
              <a:t/>
            </a:r>
            <a:endParaRPr>
              <a:solidFill>
                <a:srgbClr val="1B1C1D"/>
              </a:solidFill>
            </a:endParaRPr>
          </a:p>
        </p:txBody>
      </p:sp>
      <p:sp>
        <p:nvSpPr>
          <p:cNvPr id="160" name="Google Shape;160;g37084f751b1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084f751b1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Another important technique related to corners is the Lucas-Kanade method. While it was initially designed for tracking motion, it's highly effective in identifying and tracking corner points across a sequence of images. The core idea is that within a small region, the motion of pixels is assumed to be constant. By solving a system of linear equations, it calculates "optical flow," which represents the apparent motion of pixels between frames. Corner points are particularly well-suited for tracking with Lucas-Kanade because they provide strong, distinctive features that are easier to match from one frame to the next.</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69" name="Google Shape;169;g37084f751b1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084f751b1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The relevance of corner detection extends to many advanced computer vision applications. For example, in image stitching, corners are used to align and blend multiple overlapping images into a single panoramic view. In stereo vision, they help in determining the depth of objects by finding corresponding points in images taken from different viewpoints. Camera calibration relies on corner points to understand the intrinsic and extrinsic parameters of a camera. And as we discussed with Lucas-Kanade, motion estimation heavily utilises corners to track movement within video sequences.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78" name="Google Shape;178;g37084f751b1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084f751b1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Next, we have Thresholding. This is a fundamental image processing technique primarily used for image segmentation. Its purpose is to simplify an image by converting its grayscale pixel values into binary values, meaning each pixel becomes either black or white. The way it does this is by setting an "intensity cutoff." Any pixel whose intensity is above this threshold might be turned white, representing an object, while pixels below the threshold are turned black, representing the background. This effectively separates objects of interest from their surroundings.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87" name="Google Shape;187;g37084f751b1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084f751b1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While basic thresholding uses a single cutoff, Hysteresis Thresholding is a more advanced variant, notably used within the Canny edge detection algorithm. What makes it advanced is its use of two threshold values: a high threshold and a low threshold. Pixels with intensity values above the high threshold are immediately classified as strong edges. Pixels with intensity values between the high and low thresholds are considered "weak" edges. The crucial part is that these weak edges are only preserved if they are spatially connected to a strong edge. This dual-threshold approach provides a much more robust and intelligent way of determining what constitutes a true edge, preventing noise from being interpreted as edges while ensuring continuity of real edge contours</a:t>
            </a:r>
            <a:endParaRPr>
              <a:solidFill>
                <a:srgbClr val="1B1C1D"/>
              </a:solidFill>
            </a:endParaRPr>
          </a:p>
        </p:txBody>
      </p:sp>
      <p:sp>
        <p:nvSpPr>
          <p:cNvPr id="196" name="Google Shape;196;g37084f751b1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08bf00c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The primary benefit of using hysteresis thresholding is that it greatly improves the robustness and continuity of detected edges. By requiring weak edges to be connected to strong ones, it effectively filters out isolated weak responses that might be due to noise or minor intensity fluctuations. This reduces the problem of "edge fragmentation," where a single, continuous edge might appear broken into several smaller pieces. The result is a much cleaner and more reliable set of edge contours.</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205" name="Google Shape;205;g3708bf00c7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08bf00c7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Image Enhancement is a broad category of techniques aimed at improving the visual quality of an image. The goal can be twofold: either to make the image more aesthetically pleasing for human viewing, or, more importantly for computer vision, to highlight specific features that are crucial for subsequent analysis, such as feature extraction or classification. It's about making the important information in an image stand out.</a:t>
            </a:r>
            <a:endParaRPr>
              <a:solidFill>
                <a:srgbClr val="1B1C1D"/>
              </a:solidFill>
            </a:endParaRPr>
          </a:p>
        </p:txBody>
      </p:sp>
      <p:sp>
        <p:nvSpPr>
          <p:cNvPr id="214" name="Google Shape;214;g3708bf00c7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08bf00c7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1" marL="914400" rtl="0" algn="l">
              <a:lnSpc>
                <a:spcPct val="115000"/>
              </a:lnSpc>
              <a:spcBef>
                <a:spcPts val="0"/>
              </a:spcBef>
              <a:spcAft>
                <a:spcPts val="0"/>
              </a:spcAft>
              <a:buClr>
                <a:srgbClr val="1B1C1D"/>
              </a:buClr>
              <a:buSzPts val="1100"/>
              <a:buChar char="○"/>
            </a:pPr>
            <a:r>
              <a:rPr lang="en-US">
                <a:solidFill>
                  <a:srgbClr val="1B1C1D"/>
                </a:solidFill>
              </a:rPr>
              <a:t>Let's look at some key techniques for image enhancement. First, we have Histogram Equalization. This technique works by analysing the distribution of pixel intensities in an image and then redistributing them so that they are more uniformly spread across the entire possible intensity range. The practical effect is a significant improvement in contrast, especially in images that are too dark or too bright. For instance, a low-light image can be made much clearer. Next, Sharpening Filters are used to enhance edges and fine details. They achieve this by amplifying the "high-frequency components" of an image, which correspond to rapid changes in intensity, typical of edges and fine textures.</a:t>
            </a:r>
            <a:endParaRPr>
              <a:solidFill>
                <a:srgbClr val="1B1C1D"/>
              </a:solidFill>
            </a:endParaRPr>
          </a:p>
          <a:p>
            <a:pPr indent="-298450" lvl="1" marL="914400" rtl="0" algn="l">
              <a:lnSpc>
                <a:spcPct val="115000"/>
              </a:lnSpc>
              <a:spcBef>
                <a:spcPts val="0"/>
              </a:spcBef>
              <a:spcAft>
                <a:spcPts val="0"/>
              </a:spcAft>
              <a:buClr>
                <a:srgbClr val="1B1C1D"/>
              </a:buClr>
              <a:buSzPts val="1100"/>
              <a:buChar char="○"/>
            </a:pPr>
            <a:r>
              <a:t/>
            </a:r>
            <a:endParaRPr>
              <a:solidFill>
                <a:srgbClr val="1B1C1D"/>
              </a:solidFill>
            </a:endParaRPr>
          </a:p>
        </p:txBody>
      </p:sp>
      <p:sp>
        <p:nvSpPr>
          <p:cNvPr id="223" name="Google Shape;223;g3708bf00c7c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08bf00c7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1" marL="914400" rtl="0" algn="l">
              <a:lnSpc>
                <a:spcPct val="115000"/>
              </a:lnSpc>
              <a:spcBef>
                <a:spcPts val="0"/>
              </a:spcBef>
              <a:spcAft>
                <a:spcPts val="0"/>
              </a:spcAft>
              <a:buClr>
                <a:srgbClr val="1B1C1D"/>
              </a:buClr>
              <a:buSzPts val="1100"/>
              <a:buChar char="○"/>
            </a:pPr>
            <a:r>
              <a:rPr lang="en-US">
                <a:solidFill>
                  <a:srgbClr val="1B1C1D"/>
                </a:solidFill>
              </a:rPr>
              <a:t>Continuing with image enhancement, Smoothing Filters are used to reduce noise in an image. Common methods include Gaussian blurring and median filtering. Gaussian blurring replaces each pixel's value with a weighted average of its neighbors, effectively blurring out sharp intensity changes caused by noise. Median filtering replaces each pixel's value with the median of its neighbors, which is particularly effective at removing salt-and-pepper noise while preserving edges better than blurring. The overall importance of image enhancement techniques is profound: they act as a crucial preprocessing step. By emphasising informative content and improving clarity, they make images much more suitable for subsequent feature extraction, machine learning classification, and even for easier human interpretation.</a:t>
            </a:r>
            <a:endParaRPr>
              <a:solidFill>
                <a:srgbClr val="1B1C1D"/>
              </a:solidFill>
            </a:endParaRPr>
          </a:p>
          <a:p>
            <a:pPr indent="-298450" lvl="1" marL="914400" rtl="0" algn="l">
              <a:lnSpc>
                <a:spcPct val="115000"/>
              </a:lnSpc>
              <a:spcBef>
                <a:spcPts val="0"/>
              </a:spcBef>
              <a:spcAft>
                <a:spcPts val="0"/>
              </a:spcAft>
              <a:buClr>
                <a:srgbClr val="1B1C1D"/>
              </a:buClr>
              <a:buSzPts val="1100"/>
              <a:buChar char="○"/>
            </a:pPr>
            <a:r>
              <a:t/>
            </a:r>
            <a:endParaRPr>
              <a:solidFill>
                <a:srgbClr val="1B1C1D"/>
              </a:solidFill>
            </a:endParaRPr>
          </a:p>
        </p:txBody>
      </p:sp>
      <p:sp>
        <p:nvSpPr>
          <p:cNvPr id="232" name="Google Shape;232;g3708bf00c7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08bf00c7c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Now we move to a powerful feature descriptor called Histogram of Oriented Gradients, or HoG. Unlike simple edge detection which just finds edges, HoG is a "hand-engineered feature descriptor." This means it's a carefully designed algorithm that extracts a descriptive numerical representation from an image. Specifically, HoG aims to capture the distribution of edge orientations within small, localised regions of an image. It's not just about where edges are, but what direction they are pointing in, and how frequently different orientations appear in a local area. This provides a very rich and distinctive description of an object's shape and appearance.</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41" name="Google Shape;241;g3708bf00c7c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08bf00c7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break down the steps involved in HoG feature extraction. The first step, similar to edge detection, is Gradient Computation. For every pixel in the image, we calculate its horizontal and vertical gradients. These gradients tell us the intensity change in those directions. From these, we can determine both the magnitude and the orientation of the gradient at each pixel. Next comes Orientation Binning. The image is divided into small, non-overlapping regions called "cells." Within each cell, a histogram is created. This histogram counts how many gradient orientations fall into specific angle "bins." For example, one bin might count gradients oriented between 0-20 degrees, another from 20-40 degrees, and so on. This summarises the dominant edge orientations in that small local area.</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50" name="Google Shape;250;g3708bf00c7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708bf00c7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The third step in HoG extraction is Block Normalization. Adjacent cells are grouped together into larger, overlapping "blocks." The histograms within each block are then normalized. This normalization step is crucial because it helps to reduce the impact of varying illumination conditions across the image. For instance, if one part of an object is brighter than another, normalization helps ensure that the features are still comparable. Finally, for Descriptor Formation, all the normalized histograms from all the blocks across the entire image or region of interest are concatenated together. This forms a single, long feature vector that robustly describes the object's appearance based on its edge orientations.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59" name="Google Shape;259;g3708bf00c7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08bf00c7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HoG features possess several desirable properties that make them effective. They excel at capturing both the shape and texture characteristics of objects. Furthermore, they are notably invariant to small geometric transformations, meaning minor rotations or translations won't drastically change the feature vector. Critically, they are also invariant to photometric transformations, such as changes in illumination, thanks to the normalization step. These properties make HoG features highly suitable for use with linear classifiers, such as Support Vector Machines (SVMs), which are commonly used in traditional machine learning. As for applications, HoG has been widely and successfully applied in various object detection tasks. It's particularly well-known for its strong performance in pedestrian detection, traffic sign recognition, and even earlier forms of face detection.</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68" name="Google Shape;268;g3708bf00c7c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708bf00c7c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To truly appreciate the value of engineered features, let's compare them to using raw pixel data directly. When we use raw pixel values, each image is simply treated as a very long vector of numbers, where each number is the intensity of a pixel. This approach has significant limitations. Firstly, raw pixels are extremely sensitive to variations in lighting conditions and noise. A slight change in illumination can drastically alter the pixel values, even if the underlying object hasn't changed. Secondly, they often lead to poor generalisation for traditional machine learning algorithms. Models trained on raw pixels might struggle to identify objects in new, unseen images due to these variations. Finally, it's very difficult to interpret what specific pixel values mean in terms of object characteristics; there's no inherent semantic meaning.</a:t>
            </a:r>
            <a:endParaRPr>
              <a:solidFill>
                <a:srgbClr val="1B1C1D"/>
              </a:solidFill>
            </a:endParaRPr>
          </a:p>
        </p:txBody>
      </p:sp>
      <p:sp>
        <p:nvSpPr>
          <p:cNvPr id="277" name="Google Shape;277;g3708bf00c7c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08bf00c7c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In stark contrast to raw pixel data, engineered features like edges, corners, and HoG descriptors offer significant advantages. Firstly, they effectively reduce the dimensionality of the input data. Instead of thousands or millions of raw pixel values, we get a much more compact feature vector, while critically retaining the most discriminative information about the image content. This reduced dimensionality leads to faster training and inference for machine learning models. Secondly, these features improve both model interpretability and performance. Since they represent higher-level concepts like shapes and orientations, it's easier to understand why a model makes a certain decision. Lastly, and perhaps most importantly, they provide inherent robustness to common visual variations such as changes in lighting, rotation, or scaling. This means models trained on engineered features are more likely to perform well on new, varied images.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86" name="Google Shape;286;g3708bf00c7c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f2e4f022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It's important to understand the historical context and the enduring significance of feature engineering, especially in classical computer vision. Before the rise of deep learning, which can automatically learn features, almost all computer vision systems were built upon meticulously hand-crafted features. The success of traditional machine learning models, such as logistic regression or Support Vector Machines (SVMs), was almost entirely dictated by the quality and relevance of the features that were fed into them. A well-engineered set of features could make a simple classifier perform exceptionally well, while poor features would lead to failure, regardless of the model complexity.</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95" name="Google Shape;295;g36f2e4f022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6f2e4f0226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Feature engineering offers several key benefits that remain relevant. It allows us to create compact, yet information-rich representations of complex visual data, condensing vast amounts of pixel information into meaningful descriptors. This compactness, in turn, leads to faster training and inference times for machine learning models, as they operate on lower-dimensional inputs. Moreover, when training data is limited, well-designed features can significantly improve a model's ability to generalise to unseen examples, as they capture fundamental characteristics rather than relying on massive datasets to learn them. Even in today's deep learning era, these classical techniques are far from obsolete. They are valuable for model interpretability, allowing us to understand what aspects of an image a model is focusing on. They are also highly useful in low-computation environments where deep learning might be too resource-intensive, and they frequently serve as crucial preprocessing steps within more complex vision pipelines.</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rPr lang="en-US">
                <a:solidFill>
                  <a:srgbClr val="1B1C1D"/>
                </a:solidFill>
              </a:rPr>
              <a:t>Feature engineering offers several key benefits that remain relevant. It allows us to create compact, yet information-rich representations of complex visual data, condensing vast amounts of pixel information into meaningful descriptors. This compactness, in turn, leads to faster training and inference times for machine learning models, as they operate on lower-dimensional inputs. Moreover, when training data is limited, well-designed features can significantly improve a model's ability to generalise to unseen examples, as they capture fundamental characteristics rather than relying on massive datasets to learn them. Even in today's deep learning era, these classical techniques are far from obsolete. They are valuable for model interpretability, allowing us to understand what aspects of an image a model is focusing on. They are also highly useful in low-computation environments where deep learning might be too resource-intensive, and they frequently serve as crucial preprocessing steps within more complex vision pipelines.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304" name="Google Shape;304;g36f2e4f0226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3"/>
          <p:cNvSpPr txBox="1"/>
          <p:nvPr>
            <p:ph type="title"/>
          </p:nvPr>
        </p:nvSpPr>
        <p:spPr>
          <a:xfrm>
            <a:off x="441960" y="349885"/>
            <a:ext cx="9326880" cy="93066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533400" y="1825625"/>
            <a:ext cx="1132332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0" name="Google Shape;30;p13"/>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b="0" l="0" r="0" t="0"/>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p:nvPr>
            <p:ph idx="2" type="pic"/>
          </p:nvPr>
        </p:nvSpPr>
        <p:spPr>
          <a:xfrm>
            <a:off x="5183188" y="987425"/>
            <a:ext cx="6172200" cy="4873625"/>
          </a:xfrm>
          <a:prstGeom prst="rect">
            <a:avLst/>
          </a:prstGeom>
          <a:noFill/>
          <a:ln>
            <a:noFill/>
          </a:ln>
        </p:spPr>
      </p:sp>
      <p:sp>
        <p:nvSpPr>
          <p:cNvPr id="65" name="Google Shape;65;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b="0" l="0" r="0" t="0"/>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b="0" l="0" r="0" t="0"/>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 name="Google Shape;92;p2"/>
          <p:cNvSpPr txBox="1"/>
          <p:nvPr/>
        </p:nvSpPr>
        <p:spPr>
          <a:xfrm>
            <a:off x="6816256" y="2513226"/>
            <a:ext cx="3971014" cy="61752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700FF"/>
              </a:buClr>
              <a:buSzPts val="2800"/>
              <a:buFont typeface="Arial Narrow"/>
              <a:buNone/>
            </a:pPr>
            <a:r>
              <a:rPr b="1" i="0" lang="en-US" sz="2800" u="none" cap="none" strike="noStrike">
                <a:solidFill>
                  <a:srgbClr val="9700FF"/>
                </a:solidFill>
                <a:latin typeface="Arial Narrow"/>
                <a:ea typeface="Arial Narrow"/>
                <a:cs typeface="Arial Narrow"/>
                <a:sym typeface="Arial Narrow"/>
              </a:rPr>
              <a:t>Feature Engineering</a:t>
            </a:r>
            <a:endParaRPr b="1" i="0" sz="2800" u="none" cap="none" strike="noStrike">
              <a:solidFill>
                <a:srgbClr val="9700FF"/>
              </a:solidFill>
              <a:latin typeface="Arial Narrow"/>
              <a:ea typeface="Arial Narrow"/>
              <a:cs typeface="Arial Narrow"/>
              <a:sym typeface="Arial Narrow"/>
            </a:endParaRPr>
          </a:p>
        </p:txBody>
      </p:sp>
      <p:sp>
        <p:nvSpPr>
          <p:cNvPr id="93" name="Google Shape;93;p2"/>
          <p:cNvSpPr txBox="1"/>
          <p:nvPr/>
        </p:nvSpPr>
        <p:spPr>
          <a:xfrm>
            <a:off x="6910584" y="3193775"/>
            <a:ext cx="3876686" cy="874643"/>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90000"/>
              </a:lnSpc>
              <a:spcBef>
                <a:spcPts val="0"/>
              </a:spcBef>
              <a:spcAft>
                <a:spcPts val="0"/>
              </a:spcAft>
              <a:buClr>
                <a:schemeClr val="dk1"/>
              </a:buClr>
              <a:buSzPct val="100000"/>
              <a:buFont typeface="Arial"/>
              <a:buNone/>
            </a:pPr>
            <a:r>
              <a:rPr b="1" i="0" lang="en-US" sz="2400" u="none" cap="none" strike="noStrike">
                <a:solidFill>
                  <a:schemeClr val="dk1"/>
                </a:solidFill>
                <a:latin typeface="Arial"/>
                <a:ea typeface="Arial"/>
                <a:cs typeface="Arial"/>
                <a:sym typeface="Arial"/>
              </a:rPr>
              <a:t>Feature Engineering Techniques for Image Data</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ct val="100000"/>
              <a:buFont typeface="Arial"/>
              <a:buNone/>
            </a:pPr>
            <a:r>
              <a:t/>
            </a:r>
            <a:endParaRPr b="1" i="0" sz="2400" u="none" cap="none" strike="noStrike">
              <a:solidFill>
                <a:schemeClr val="dk1"/>
              </a:solidFill>
              <a:latin typeface="Arial"/>
              <a:ea typeface="Arial"/>
              <a:cs typeface="Arial"/>
              <a:sym typeface="Arial"/>
            </a:endParaRPr>
          </a:p>
        </p:txBody>
      </p:sp>
      <p:sp>
        <p:nvSpPr>
          <p:cNvPr id="94" name="Google Shape;94;p2"/>
          <p:cNvSpPr txBox="1"/>
          <p:nvPr/>
        </p:nvSpPr>
        <p:spPr>
          <a:xfrm>
            <a:off x="6910584" y="4119559"/>
            <a:ext cx="3876686" cy="42593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Prof. Anita Ramachandran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708268c0a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Edge Detection: Definition</a:t>
            </a:r>
            <a:endParaRPr b="1" i="0" sz="4400" u="none" cap="none" strike="noStrike">
              <a:solidFill>
                <a:schemeClr val="dk1"/>
              </a:solidFill>
              <a:latin typeface="Arial Narrow"/>
              <a:ea typeface="Arial Narrow"/>
              <a:cs typeface="Arial Narrow"/>
              <a:sym typeface="Arial Narrow"/>
            </a:endParaRPr>
          </a:p>
        </p:txBody>
      </p:sp>
      <p:sp>
        <p:nvSpPr>
          <p:cNvPr id="100" name="Google Shape;100;g3708268c0a4_0_0"/>
          <p:cNvSpPr txBox="1"/>
          <p:nvPr/>
        </p:nvSpPr>
        <p:spPr>
          <a:xfrm>
            <a:off x="441950" y="1849075"/>
            <a:ext cx="11323200" cy="43512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Edge Detection</a:t>
            </a: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Definition: A classical technique in image processing and computer vision that aims to identify points in an image where the brightness intensity changes sharply.</a:t>
            </a: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These points typically represent object boundaries, shape outlines, and region transitions.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01" name="Google Shape;101;g3708268c0a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02" name="Google Shape;102;g3708268c0a4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03" name="Google Shape;103;g3708268c0a4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084f751b1_0_0"/>
          <p:cNvSpPr txBox="1"/>
          <p:nvPr/>
        </p:nvSpPr>
        <p:spPr>
          <a:xfrm>
            <a:off x="441960" y="4260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Edge Detection: Conceptual Foundation</a:t>
            </a:r>
            <a:endParaRPr b="1" i="0" sz="4400" u="none" cap="none" strike="noStrike">
              <a:solidFill>
                <a:schemeClr val="dk1"/>
              </a:solidFill>
              <a:latin typeface="Arial Narrow"/>
              <a:ea typeface="Arial Narrow"/>
              <a:cs typeface="Arial Narrow"/>
              <a:sym typeface="Arial Narrow"/>
            </a:endParaRPr>
          </a:p>
        </p:txBody>
      </p:sp>
      <p:sp>
        <p:nvSpPr>
          <p:cNvPr id="109" name="Google Shape;109;g37084f751b1_0_0"/>
          <p:cNvSpPr txBox="1"/>
          <p:nvPr/>
        </p:nvSpPr>
        <p:spPr>
          <a:xfrm>
            <a:off x="434400" y="1862750"/>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Conceptual Foundation:</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Edges in an image correspond to local maxima of the gradient magnitude of pixel intensity.</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gradient is computed by evaluating the rate of intensity change in the horizontal and vertical directions.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0" name="Google Shape;110;g37084f751b1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11" name="Google Shape;111;g37084f751b1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12" name="Google Shape;112;g37084f751b1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7084f751b1_0_8"/>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Edge Detection: Common Algorithms - Sobel and Prewitt Operators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18" name="Google Shape;118;g37084f751b1_0_8"/>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Common Algorithms: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Sobel and Prewitt Operators: These use small convolution filters to approximate the horizontal and vertical gradients of the image.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9" name="Google Shape;119;g37084f751b1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0" name="Google Shape;120;g37084f751b1_0_8"/>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21" name="Google Shape;121;g37084f751b1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7084f751b1_0_16"/>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Edge Detection: Common Algorithms - Canny Edge Detection (Part 1)</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27" name="Google Shape;127;g37084f751b1_0_16"/>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Common Algorithms: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Canny Edge Detection: A multi-stage algorithm involving the following steps: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Smoothing the image using a Gaussian filter to reduce noise.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Calculating the gradient magnitude and orientation.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28" name="Google Shape;128;g37084f751b1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9" name="Google Shape;129;g37084f751b1_0_16"/>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30" name="Google Shape;130;g37084f751b1_0_1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7084f751b1_0_24"/>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Edge Detection: Common Algorithms - Canny Edge Detection (Part 2)</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36" name="Google Shape;136;g37084f751b1_0_24"/>
          <p:cNvSpPr txBox="1"/>
          <p:nvPr/>
        </p:nvSpPr>
        <p:spPr>
          <a:xfrm>
            <a:off x="533525" y="1876900"/>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Common Algorithms: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Canny Edge Detection (continued):</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Performing non-maximum suppression to locali</a:t>
            </a:r>
            <a:r>
              <a:rPr lang="en-US" sz="2400">
                <a:solidFill>
                  <a:schemeClr val="dk1"/>
                </a:solidFill>
              </a:rPr>
              <a:t>s</a:t>
            </a:r>
            <a:r>
              <a:rPr b="0" i="0" lang="en-US" sz="2400" u="none" cap="none" strike="noStrike">
                <a:solidFill>
                  <a:schemeClr val="dk1"/>
                </a:solidFill>
                <a:latin typeface="Arial"/>
                <a:ea typeface="Arial"/>
                <a:cs typeface="Arial"/>
                <a:sym typeface="Arial"/>
              </a:rPr>
              <a:t>e edges.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Applying hysteresis thresholding to preserve continuous edge contours while discarding isolated weak responses.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37" name="Google Shape;137;g37084f751b1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38" name="Google Shape;138;g37084f751b1_0_24"/>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39" name="Google Shape;139;g37084f751b1_0_2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084f751b1_0_32"/>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Edge Detection: Importance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45" name="Google Shape;145;g37084f751b1_0_32"/>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Importance:</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Reduces the complexity of the image by capturing meaningful structural information.</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Plays a critical role in applications such as object recognition, medical imaging, and robotics.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46" name="Google Shape;146;g37084f751b1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47" name="Google Shape;147;g37084f751b1_0_3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48" name="Google Shape;148;g37084f751b1_0_3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084f751b1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Corner Detection: Definition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54" name="Google Shape;154;g37084f751b1_0_40"/>
          <p:cNvSpPr txBox="1"/>
          <p:nvPr/>
        </p:nvSpPr>
        <p:spPr>
          <a:xfrm>
            <a:off x="533525" y="1825625"/>
            <a:ext cx="11323200" cy="4351200"/>
          </a:xfrm>
          <a:prstGeom prst="rect">
            <a:avLst/>
          </a:prstGeom>
          <a:noFill/>
          <a:ln>
            <a:noFill/>
          </a:ln>
        </p:spPr>
        <p:txBody>
          <a:bodyPr anchorCtr="0" anchor="t" bIns="45700" lIns="91425" spcFirstLastPara="1" rIns="91425" wrap="square" tIns="45700">
            <a:normAutofit/>
          </a:bodyPr>
          <a:lstStyle/>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Involves identifying points in an image where the direction of intensity changes significantly in multiple directions.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Corners are considered highly descriptive features as they are stable under transformations such as translation and rotation.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55" name="Google Shape;155;g37084f751b1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56" name="Google Shape;156;g37084f751b1_0_4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57" name="Google Shape;157;g37084f751b1_0_4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7084f751b1_0_4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Corner Detection: Key Techniques - Harris Corner Detector</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63" name="Google Shape;163;g37084f751b1_0_48"/>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rPr b="0" i="0" lang="en-US" sz="2400" u="none" cap="none" strike="noStrike">
                <a:solidFill>
                  <a:schemeClr val="dk1"/>
                </a:solidFill>
                <a:latin typeface="Arial"/>
                <a:ea typeface="Arial"/>
                <a:cs typeface="Arial"/>
                <a:sym typeface="Arial"/>
              </a:rPr>
              <a:t>Key Techniques: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Harris Corner Detector: This method analy</a:t>
            </a:r>
            <a:r>
              <a:rPr lang="en-US" sz="2400">
                <a:solidFill>
                  <a:schemeClr val="dk1"/>
                </a:solidFill>
              </a:rPr>
              <a:t>s</a:t>
            </a:r>
            <a:r>
              <a:rPr b="0" i="0" lang="en-US" sz="2400" u="none" cap="none" strike="noStrike">
                <a:solidFill>
                  <a:schemeClr val="dk1"/>
                </a:solidFill>
                <a:latin typeface="Arial"/>
                <a:ea typeface="Arial"/>
                <a:cs typeface="Arial"/>
                <a:sym typeface="Arial"/>
              </a:rPr>
              <a:t>es intensity variations in a windowed region of the image using a structure tensor.</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score function is calculated based on the eigenvalues of the tensor to distinguish between corners, edges, and flat regions.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77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77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p:txBody>
      </p:sp>
      <p:pic>
        <p:nvPicPr>
          <p:cNvPr id="164" name="Google Shape;164;g37084f751b1_0_4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65" name="Google Shape;165;g37084f751b1_0_48"/>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166" name="Google Shape;166;g37084f751b1_0_4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7084f751b1_0_5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Corner Detection: Key Techniques - Lucas-Kanade Method</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72" name="Google Shape;172;g37084f751b1_0_56"/>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Key Techniques: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Lucas-Kanade Method: Originally developed for tracking motion between image frames, this method assumes that local image motion is constant and calculates optical flow by solving a system of linear equations.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It is used to track corner points over time.</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73" name="Google Shape;173;g37084f751b1_0_5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74" name="Google Shape;174;g37084f751b1_0_56"/>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175" name="Google Shape;175;g37084f751b1_0_5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7084f751b1_0_6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Corner Detection: Relevance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81" name="Google Shape;181;g37084f751b1_0_64"/>
          <p:cNvSpPr txBox="1"/>
          <p:nvPr/>
        </p:nvSpPr>
        <p:spPr>
          <a:xfrm>
            <a:off x="533525" y="183757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Relevance: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Corner detection is fundamental to applications like image stitching, stereo vision, camera calibration, and motion estimation.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82" name="Google Shape;182;g37084f751b1_0_6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83" name="Google Shape;183;g37084f751b1_0_64"/>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84" name="Google Shape;184;g37084f751b1_0_64"/>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7084f751b1_0_7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Thresholding: Definition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0" name="Google Shape;190;g37084f751b1_0_72"/>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70000"/>
              </a:lnSpc>
              <a:spcBef>
                <a:spcPts val="1000"/>
              </a:spcBef>
              <a:spcAft>
                <a:spcPts val="0"/>
              </a:spcAft>
              <a:buClr>
                <a:schemeClr val="dk1"/>
              </a:buClr>
              <a:buSzPts val="2400"/>
              <a:buChar char="●"/>
            </a:pPr>
            <a:r>
              <a:rPr lang="en-US" sz="2400">
                <a:solidFill>
                  <a:schemeClr val="dk1"/>
                </a:solidFill>
              </a:rPr>
              <a:t>Thresholding is a</a:t>
            </a:r>
            <a:r>
              <a:rPr b="0" i="0" lang="en-US" sz="2400" u="none" cap="none" strike="noStrike">
                <a:solidFill>
                  <a:schemeClr val="dk1"/>
                </a:solidFill>
                <a:latin typeface="Arial"/>
                <a:ea typeface="Arial"/>
                <a:cs typeface="Arial"/>
                <a:sym typeface="Arial"/>
              </a:rPr>
              <a:t> technique used to segment an image by converting grayscale values into binary values.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It helps to isolate objects of interest from the background by setting an intensity cutoff.</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191" name="Google Shape;191;g37084f751b1_0_7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92" name="Google Shape;192;g37084f751b1_0_7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93" name="Google Shape;193;g37084f751b1_0_7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7084f751b1_0_8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Thresholding: Hysteresis Thresholding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9" name="Google Shape;199;g37084f751b1_0_80"/>
          <p:cNvSpPr txBox="1"/>
          <p:nvPr/>
        </p:nvSpPr>
        <p:spPr>
          <a:xfrm>
            <a:off x="533525"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Hysteresis Thresholding:</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An advanced form of thresholding used in edge detection algorithms like Canny.</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It uses two threshold values: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high threshold that marks strong edges.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low threshold that marks weak edges, which are preserved only if they are connected to strong edges.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0" name="Google Shape;200;g37084f751b1_0_8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01" name="Google Shape;201;g37084f751b1_0_8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02" name="Google Shape;202;g37084f751b1_0_8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708bf00c7c_0_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Thresholding: Benefit of Hysteresis Thresholding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08" name="Google Shape;208;g3708bf00c7c_0_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Benefit:</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Hysteresis thresholding allows for robust edge connectivity and reduces the likelihood of edge fragmentation caused by noise.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9" name="Google Shape;209;g3708bf00c7c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0" name="Google Shape;210;g3708bf00c7c_0_0"/>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211" name="Google Shape;211;g3708bf00c7c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708bf00c7c_0_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Image Enhancement: Definition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17" name="Google Shape;217;g3708bf00c7c_0_8"/>
          <p:cNvSpPr txBox="1"/>
          <p:nvPr/>
        </p:nvSpPr>
        <p:spPr>
          <a:xfrm>
            <a:off x="440400" y="18520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Image Enhancement</a:t>
            </a:r>
            <a:r>
              <a:rPr lang="en-US" sz="2400">
                <a:solidFill>
                  <a:schemeClr val="dk1"/>
                </a:solidFill>
              </a:rPr>
              <a:t> r</a:t>
            </a:r>
            <a:r>
              <a:rPr b="0" i="0" lang="en-US" sz="2400" u="none" cap="none" strike="noStrike">
                <a:solidFill>
                  <a:schemeClr val="dk1"/>
                </a:solidFill>
                <a:latin typeface="Arial"/>
                <a:ea typeface="Arial"/>
                <a:cs typeface="Arial"/>
                <a:sym typeface="Arial"/>
              </a:rPr>
              <a:t>efers to techniques that improve the visual quality of an image or highlight important features to facilitate analysis.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18" name="Google Shape;218;g3708bf00c7c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9" name="Google Shape;219;g3708bf00c7c_0_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20" name="Google Shape;220;g3708bf00c7c_0_8"/>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708bf00c7c_0_1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Image Enhancement: Key Techniques - Histogram Equalization and Sharpening Filters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26" name="Google Shape;226;g3708bf00c7c_0_16"/>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Key Techniques: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Histogram Equalization: Adjusts contrast by redistributing pixel intensity values to occupy the full intensity range uniformly.</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Sharpening Filters: Enhance edges and details by amplifying high-frequency components.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27" name="Google Shape;227;g3708bf00c7c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28" name="Google Shape;228;g3708bf00c7c_0_16"/>
          <p:cNvPicPr preferRelativeResize="0"/>
          <p:nvPr/>
        </p:nvPicPr>
        <p:blipFill rotWithShape="1">
          <a:blip r:embed="rId4">
            <a:alphaModFix/>
          </a:blip>
          <a:srcRect b="0" l="0" r="0" t="0"/>
          <a:stretch/>
        </p:blipFill>
        <p:spPr>
          <a:xfrm>
            <a:off x="-2" y="2287953"/>
            <a:ext cx="4465321" cy="103523"/>
          </a:xfrm>
          <a:prstGeom prst="rect">
            <a:avLst/>
          </a:prstGeom>
          <a:noFill/>
          <a:ln>
            <a:noFill/>
          </a:ln>
        </p:spPr>
      </p:pic>
      <p:pic>
        <p:nvPicPr>
          <p:cNvPr id="229" name="Google Shape;229;g3708bf00c7c_0_1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708bf00c7c_0_2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Image Enhancement: Key Techniques - Smoothing Filters and Importance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35" name="Google Shape;235;g3708bf00c7c_0_24"/>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Key Techniques: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Smoothing Filters: Reduce noise using methods such as Gaussian blurring or median filtering.</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Importance: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Enhancement techniques prepare the image for better feature extraction, classification, and human interpretation by emphasi</a:t>
            </a:r>
            <a:r>
              <a:rPr lang="en-US" sz="2400">
                <a:solidFill>
                  <a:schemeClr val="dk1"/>
                </a:solidFill>
              </a:rPr>
              <a:t>s</a:t>
            </a:r>
            <a:r>
              <a:rPr b="0" i="0" lang="en-US" sz="2400" u="none" cap="none" strike="noStrike">
                <a:solidFill>
                  <a:schemeClr val="dk1"/>
                </a:solidFill>
                <a:latin typeface="Arial"/>
                <a:ea typeface="Arial"/>
                <a:cs typeface="Arial"/>
                <a:sym typeface="Arial"/>
              </a:rPr>
              <a:t>ing informative content.</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36" name="Google Shape;236;g3708bf00c7c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37" name="Google Shape;237;g3708bf00c7c_0_24"/>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38" name="Google Shape;238;g3708bf00c7c_0_2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708bf00c7c_0_3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Histogram of Oriented Gradients (HoG): Definition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44" name="Google Shape;244;g3708bf00c7c_0_32"/>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Histogram of Oriented Gradients (HoG)</a:t>
            </a:r>
            <a:r>
              <a:rPr lang="en-US" sz="2400">
                <a:solidFill>
                  <a:schemeClr val="dk1"/>
                </a:solidFill>
              </a:rPr>
              <a:t> is a</a:t>
            </a:r>
            <a:r>
              <a:rPr b="0" i="0" lang="en-US" sz="2400" u="none" cap="none" strike="noStrike">
                <a:solidFill>
                  <a:schemeClr val="dk1"/>
                </a:solidFill>
                <a:latin typeface="Arial"/>
                <a:ea typeface="Arial"/>
                <a:cs typeface="Arial"/>
                <a:sym typeface="Arial"/>
              </a:rPr>
              <a:t> hand-engineered feature descriptor used to capture the distribution of edge orientations within locali</a:t>
            </a:r>
            <a:r>
              <a:rPr lang="en-US" sz="2400">
                <a:solidFill>
                  <a:schemeClr val="dk1"/>
                </a:solidFill>
              </a:rPr>
              <a:t>s</a:t>
            </a:r>
            <a:r>
              <a:rPr b="0" i="0" lang="en-US" sz="2400" u="none" cap="none" strike="noStrike">
                <a:solidFill>
                  <a:schemeClr val="dk1"/>
                </a:solidFill>
                <a:latin typeface="Arial"/>
                <a:ea typeface="Arial"/>
                <a:cs typeface="Arial"/>
                <a:sym typeface="Arial"/>
              </a:rPr>
              <a:t>ed image regions.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45" name="Google Shape;245;g3708bf00c7c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46" name="Google Shape;246;g3708bf00c7c_0_32"/>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47" name="Google Shape;247;g3708bf00c7c_0_32"/>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08bf00c7c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Histogram of Oriented Gradients (HoG): Steps in Feature Extraction (Part 1)</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53" name="Google Shape;253;g3708bf00c7c_0_40"/>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Steps in HoG Feature Extraction: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Gradient Computation: Compute horizontal and vertical gradients for each pixel.</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Orientation Binning: Divide the image into small cells and build a histogram of gradient directions within each cell.</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54" name="Google Shape;254;g3708bf00c7c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55" name="Google Shape;255;g3708bf00c7c_0_40"/>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56" name="Google Shape;256;g3708bf00c7c_0_4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08bf00c7c_0_59"/>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Histogram of Oriented Gradients (HoG): Steps in Feature Extraction (Part 2)</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pic>
        <p:nvPicPr>
          <p:cNvPr id="262" name="Google Shape;262;g3708bf00c7c_0_59"/>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63" name="Google Shape;263;g3708bf00c7c_0_59"/>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64" name="Google Shape;264;g3708bf00c7c_0_59"/>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
        <p:nvSpPr>
          <p:cNvPr id="265" name="Google Shape;265;g3708bf00c7c_0_59"/>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Steps in HoG Feature Extraction (continued):</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Block Normalization: Group adjacent cells into blocks and normalize the histograms to achieve illumination invariance.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Descriptor Formation: Concatenate the normalized histograms from all blocks into a single feature vector.</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708bf00c7c_0_6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Histogram of Oriented Gradients (HoG): Properties and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pic>
        <p:nvPicPr>
          <p:cNvPr id="271" name="Google Shape;271;g3708bf00c7c_0_6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72" name="Google Shape;272;g3708bf00c7c_0_68"/>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73" name="Google Shape;273;g3708bf00c7c_0_6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
        <p:nvSpPr>
          <p:cNvPr id="274" name="Google Shape;274;g3708bf00c7c_0_68"/>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Properties: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Captures shape and texture features.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Invariant to small geometric and photometric transformations.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Suitable for linear classifiers such as Support Vector Machines (SVMs).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Applications::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HoG is widely used in object detection tasks, particularly for pedestrian detection, traffic sign recognition, and face detection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708bf00c7c_0_7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Comparison with Raw Pixel Data: Limitations of Raw Pixels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pic>
        <p:nvPicPr>
          <p:cNvPr id="280" name="Google Shape;280;g3708bf00c7c_0_7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81" name="Google Shape;281;g3708bf00c7c_0_76"/>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82" name="Google Shape;282;g3708bf00c7c_0_7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
        <p:nvSpPr>
          <p:cNvPr id="283" name="Google Shape;283;g3708bf00c7c_0_76"/>
          <p:cNvSpPr txBox="1"/>
          <p:nvPr/>
        </p:nvSpPr>
        <p:spPr>
          <a:xfrm>
            <a:off x="440400" y="2022026"/>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Raw pixel values represent each image as a high-dimensional vector without considering any spatial or contextual information.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This results in several limitations: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Sensitivity to lighting and noise.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Poor generali</a:t>
            </a:r>
            <a:r>
              <a:rPr lang="en-US" sz="2400">
                <a:solidFill>
                  <a:schemeClr val="dk1"/>
                </a:solidFill>
              </a:rPr>
              <a:t>s</a:t>
            </a:r>
            <a:r>
              <a:rPr b="0" i="0" lang="en-US" sz="2400" u="none" cap="none" strike="noStrike">
                <a:solidFill>
                  <a:schemeClr val="dk1"/>
                </a:solidFill>
                <a:latin typeface="Arial"/>
                <a:ea typeface="Arial"/>
                <a:cs typeface="Arial"/>
                <a:sym typeface="Arial"/>
              </a:rPr>
              <a:t>ation for traditional machine learning algorithms.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Difficulty in interpreting feature importance.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708bf00c7c_0_91"/>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Comparison with Raw Pixel Data: Advantages of Engineered Features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89" name="Google Shape;289;g3708bf00c7c_0_91"/>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In contrast, engineered features such as edges, corners, and HoG descriptors: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Reduce input dimensionality while retaining discriminative information.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Improve model interpretability and performance.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Provide robustness to common visual variations.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90" name="Google Shape;290;g3708bf00c7c_0_91"/>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91" name="Google Shape;291;g3708bf00c7c_0_91"/>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92" name="Google Shape;292;g3708bf00c7c_0_91"/>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6f2e4f0226_0_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Role of Feature Engineering in Classical Computer Vision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98" name="Google Shape;298;g36f2e4f0226_0_0"/>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Before the advent of deep learning, most vision systems relied heavily on feature engineering.</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performance of traditional machine learning models like logistic regression and SVMs was largely dependent on the quality of the input features.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99" name="Google Shape;299;g36f2e4f0226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300" name="Google Shape;300;g36f2e4f0226_0_0"/>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301" name="Google Shape;301;g36f2e4f0226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6f2e4f0226_0_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Role of Feature Engineering in Classical Computer Vision: Benefits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307" name="Google Shape;307;g36f2e4f0226_0_8"/>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Feature engineering enables: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Compact, information-rich representations of complex visual data.</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Faster training and inference due to lower dimensional input.</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Better generali</a:t>
            </a:r>
            <a:r>
              <a:rPr lang="en-US" sz="2400">
                <a:solidFill>
                  <a:schemeClr val="dk1"/>
                </a:solidFill>
              </a:rPr>
              <a:t>s</a:t>
            </a:r>
            <a:r>
              <a:rPr b="0" i="0" lang="en-US" sz="2400" u="none" cap="none" strike="noStrike">
                <a:solidFill>
                  <a:schemeClr val="dk1"/>
                </a:solidFill>
                <a:latin typeface="Arial"/>
                <a:ea typeface="Arial"/>
                <a:cs typeface="Arial"/>
                <a:sym typeface="Arial"/>
              </a:rPr>
              <a:t>ation when training data is limited.</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Even in modern contexts, these techniques serve as valuable tools for model interpretability, low-computation environments, and preprocessing pipelines.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308" name="Google Shape;308;g36f2e4f0226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309" name="Google Shape;309;g36f2e4f0226_0_8"/>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310" name="Google Shape;310;g36f2e4f0226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
          <p:cNvSpPr/>
          <p:nvPr/>
        </p:nvSpPr>
        <p:spPr>
          <a:xfrm>
            <a:off x="11998" y="3894332"/>
            <a:ext cx="12192000" cy="2855668"/>
          </a:xfrm>
          <a:prstGeom prst="roundRect">
            <a:avLst>
              <a:gd fmla="val 16667" name="adj"/>
            </a:avLst>
          </a:prstGeom>
          <a:solidFill>
            <a:srgbClr val="7E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By accessing or using this digital training programme, you agree to comply with the terms set forth in this disclaimer.</a:t>
            </a:r>
            <a:endParaRPr b="0" i="0" sz="1400" u="none" cap="none" strike="noStrike">
              <a:solidFill>
                <a:srgbClr val="000000"/>
              </a:solidFill>
              <a:latin typeface="Arial"/>
              <a:ea typeface="Arial"/>
              <a:cs typeface="Arial"/>
              <a:sym typeface="Arial"/>
            </a:endParaRPr>
          </a:p>
        </p:txBody>
      </p:sp>
      <p:pic>
        <p:nvPicPr>
          <p:cNvPr id="316" name="Google Shape;316;p5"/>
          <p:cNvPicPr preferRelativeResize="0"/>
          <p:nvPr/>
        </p:nvPicPr>
        <p:blipFill rotWithShape="1">
          <a:blip r:embed="rId3">
            <a:alphaModFix/>
          </a:blip>
          <a:srcRect b="0" l="0" r="0" t="0"/>
          <a:stretch/>
        </p:blipFill>
        <p:spPr>
          <a:xfrm>
            <a:off x="10078720" y="405951"/>
            <a:ext cx="1778000" cy="679450"/>
          </a:xfrm>
          <a:prstGeom prst="rect">
            <a:avLst/>
          </a:prstGeom>
          <a:noFill/>
          <a:ln>
            <a:noFill/>
          </a:ln>
        </p:spPr>
      </p:pic>
      <p:sp>
        <p:nvSpPr>
          <p:cNvPr id="317" name="Google Shape;317;p5"/>
          <p:cNvSpPr txBox="1"/>
          <p:nvPr/>
        </p:nvSpPr>
        <p:spPr>
          <a:xfrm>
            <a:off x="3268980" y="2963668"/>
            <a:ext cx="5654040" cy="93066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7200"/>
              <a:buFont typeface="Play"/>
              <a:buNone/>
            </a:pPr>
            <a:r>
              <a:rPr b="1" i="0" lang="en-US" sz="7200" u="none" cap="none" strike="noStrike">
                <a:solidFill>
                  <a:schemeClr val="dk1"/>
                </a:solidFill>
                <a:latin typeface="Play"/>
                <a:ea typeface="Play"/>
                <a:cs typeface="Play"/>
                <a:sym typeface="Play"/>
              </a:rPr>
              <a:t>Thank You</a:t>
            </a:r>
            <a:endParaRPr b="1" i="0" sz="7200" u="none" cap="none" strike="noStrik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2025-05-30T08:20:10Z</dcterms:created>
  <dc:creator>Singh, Manjeet (GRG-MRM)</dc:creator>
</cp:coreProperties>
</file>