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6858000" cx="12192000"/>
  <p:notesSz cx="6858000" cy="9144000"/>
  <p:embeddedFontLst>
    <p:embeddedFont>
      <p:font typeface="Play"/>
      <p:regular r:id="rId34"/>
      <p:bold r:id="rId35"/>
    </p:embeddedFont>
    <p:embeddedFont>
      <p:font typeface="Arial Narrow"/>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0" roundtripDataSignature="AMtx7miQ/3vohUxKX/3ogYGFahs/Dsipu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A55B77A-6D39-47DD-ACE5-7B57E7C40840}">
  <a:tblStyle styleId="{9A55B77A-6D39-47DD-ACE5-7B57E7C40840}"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Play-bold.fntdata"/><Relationship Id="rId12" Type="http://schemas.openxmlformats.org/officeDocument/2006/relationships/slide" Target="slides/slide7.xml"/><Relationship Id="rId34" Type="http://schemas.openxmlformats.org/officeDocument/2006/relationships/font" Target="fonts/Play-regular.fntdata"/><Relationship Id="rId15" Type="http://schemas.openxmlformats.org/officeDocument/2006/relationships/slide" Target="slides/slide10.xml"/><Relationship Id="rId37" Type="http://schemas.openxmlformats.org/officeDocument/2006/relationships/font" Target="fonts/ArialNarrow-bold.fntdata"/><Relationship Id="rId14" Type="http://schemas.openxmlformats.org/officeDocument/2006/relationships/slide" Target="slides/slide9.xml"/><Relationship Id="rId36" Type="http://schemas.openxmlformats.org/officeDocument/2006/relationships/font" Target="fonts/ArialNarrow-regular.fntdata"/><Relationship Id="rId17" Type="http://schemas.openxmlformats.org/officeDocument/2006/relationships/slide" Target="slides/slide12.xml"/><Relationship Id="rId39" Type="http://schemas.openxmlformats.org/officeDocument/2006/relationships/font" Target="fonts/ArialNarrow-boldItalic.fntdata"/><Relationship Id="rId16" Type="http://schemas.openxmlformats.org/officeDocument/2006/relationships/slide" Target="slides/slide11.xml"/><Relationship Id="rId38" Type="http://schemas.openxmlformats.org/officeDocument/2006/relationships/font" Target="fonts/ArialNarrow-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 name="Google Shape;8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707f902fe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Welcome to Module 8: Automated Feature Engineering. We'll start with an introduction to what feature engineering is and why it's so crucial in the data science pipeline. Feature engineering is often cited as the most important step because it acts as a bridge. It connects the raw, often messy, data we initially collect with the sophisticated predictive models we aim to build. By transforming raw data into well-crafted features, we enable our models to learn more meaningful and complex patterns, which directly leads to better predictive performance.</a:t>
            </a:r>
            <a:endParaRPr>
              <a:solidFill>
                <a:srgbClr val="1B1C1D"/>
              </a:solidFill>
            </a:endParaRPr>
          </a:p>
          <a:p>
            <a:pPr indent="0" lvl="0" marL="0" rtl="0" algn="l">
              <a:lnSpc>
                <a:spcPct val="115000"/>
              </a:lnSpc>
              <a:spcBef>
                <a:spcPts val="1200"/>
              </a:spcBef>
              <a:spcAft>
                <a:spcPts val="1200"/>
              </a:spcAft>
              <a:buSzPts val="1100"/>
              <a:buNone/>
            </a:pPr>
            <a:r>
              <a:t/>
            </a:r>
            <a:endParaRPr>
              <a:solidFill>
                <a:srgbClr val="1B1C1D"/>
              </a:solidFill>
            </a:endParaRPr>
          </a:p>
        </p:txBody>
      </p:sp>
      <p:sp>
        <p:nvSpPr>
          <p:cNvPr id="97" name="Google Shape;97;g3707f902fe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708268c0a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Traditionally, feature engineering has been a very manual process. It heavily relies on the data scientist's domain expertise and intuition to identify, create, and refine features. However, as data continues to grow in both complexity and volume, this manual approach becomes incredibly time-consuming and often impractical. This is where Automated Feature Engineering, or AutoFE, comes in. AutoFE is a powerful paradigm that uses computational algorithms to systematically transform raw data into predictive variables, addressing the challenges of scale and complexity.</a:t>
            </a:r>
            <a:endParaRPr>
              <a:solidFill>
                <a:srgbClr val="1B1C1D"/>
              </a:solidFill>
            </a:endParaRPr>
          </a:p>
          <a:p>
            <a:pPr indent="0" lvl="0" marL="0" rtl="0" algn="l">
              <a:lnSpc>
                <a:spcPct val="100000"/>
              </a:lnSpc>
              <a:spcBef>
                <a:spcPts val="3000"/>
              </a:spcBef>
              <a:spcAft>
                <a:spcPts val="0"/>
              </a:spcAft>
              <a:buSzPts val="1100"/>
              <a:buNone/>
            </a:pPr>
            <a:r>
              <a:t/>
            </a:r>
            <a:endParaRPr>
              <a:solidFill>
                <a:srgbClr val="1B1C1D"/>
              </a:solidFill>
            </a:endParaRPr>
          </a:p>
        </p:txBody>
      </p:sp>
      <p:sp>
        <p:nvSpPr>
          <p:cNvPr id="106" name="Google Shape;106;g3708268c0a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7084f751b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AutoFE techniques automate several key aspects of the feature engineering process. First, they automate feature creation. This involves generating entirely new features by discovering relationships and patterns within the existing data. Second, AutoFE handles feature selection, which is the process of identifying and choosing the most relevant subset of features for your predictive model. And finally, AutoFE also automates feature ranking, which means quantifying the importance or contribution of each feature to the predictive task. These automated steps significantly streamline and enhance the feature engineering process.</a:t>
            </a:r>
            <a:endParaRPr>
              <a:solidFill>
                <a:srgbClr val="1B1C1D"/>
              </a:solidFill>
            </a:endParaRPr>
          </a:p>
          <a:p>
            <a:pPr indent="0" lvl="0" marL="0" rtl="0" algn="l">
              <a:lnSpc>
                <a:spcPct val="115000"/>
              </a:lnSpc>
              <a:spcBef>
                <a:spcPts val="1200"/>
              </a:spcBef>
              <a:spcAft>
                <a:spcPts val="0"/>
              </a:spcAft>
              <a:buClr>
                <a:schemeClr val="dk1"/>
              </a:buClr>
              <a:buSzPts val="1100"/>
              <a:buFont typeface="Arial"/>
              <a:buNone/>
            </a:pPr>
            <a:r>
              <a:t/>
            </a:r>
            <a:endParaRPr>
              <a:solidFill>
                <a:srgbClr val="1B1C1D"/>
              </a:solidFill>
            </a:endParaRPr>
          </a:p>
          <a:p>
            <a:pPr indent="0" lvl="0" marL="0" rtl="0" algn="l">
              <a:lnSpc>
                <a:spcPct val="100000"/>
              </a:lnSpc>
              <a:spcBef>
                <a:spcPts val="3000"/>
              </a:spcBef>
              <a:spcAft>
                <a:spcPts val="0"/>
              </a:spcAft>
              <a:buSzPts val="1100"/>
              <a:buNone/>
            </a:pPr>
            <a:r>
              <a:t/>
            </a:r>
            <a:endParaRPr>
              <a:solidFill>
                <a:srgbClr val="1B1C1D"/>
              </a:solidFill>
            </a:endParaRPr>
          </a:p>
        </p:txBody>
      </p:sp>
      <p:sp>
        <p:nvSpPr>
          <p:cNvPr id="115" name="Google Shape;115;g37084f751b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7084f751b1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Let's consider a practical use case to understand the benefit of AutoFE. Imagine a hospital with various interconnected tables: patient demographics, diagnoses, lab tests, medications, and patient outcomes. Your task is to predict ICU readmissions using this rich, but complex, dataset. The challenge here is immense. Manually constructing all possible and meaningful feature combinations, such as the "average heart rate before discharge" or "the number of diagnoses per patient stay," would be incredibly time-consuming and highly prone to errors. This is a perfect scenario where AutoFE shines.</a:t>
            </a:r>
            <a:endParaRPr>
              <a:solidFill>
                <a:srgbClr val="1B1C1D"/>
              </a:solidFill>
            </a:endParaRPr>
          </a:p>
          <a:p>
            <a:pPr indent="0" lvl="0" marL="0" rtl="0" algn="l">
              <a:lnSpc>
                <a:spcPct val="115000"/>
              </a:lnSpc>
              <a:spcBef>
                <a:spcPts val="1200"/>
              </a:spcBef>
              <a:spcAft>
                <a:spcPts val="1200"/>
              </a:spcAft>
              <a:buClr>
                <a:schemeClr val="dk1"/>
              </a:buClr>
              <a:buSzPts val="1100"/>
              <a:buFont typeface="Arial"/>
              <a:buNone/>
            </a:pPr>
            <a:r>
              <a:t/>
            </a:r>
            <a:endParaRPr>
              <a:solidFill>
                <a:srgbClr val="1B1C1D"/>
              </a:solidFill>
            </a:endParaRPr>
          </a:p>
        </p:txBody>
      </p:sp>
      <p:sp>
        <p:nvSpPr>
          <p:cNvPr id="124" name="Google Shape;124;g37084f751b1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7084f751b1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So, how does Automated Feature Engineering solve this problem? AutoFE tools can efficiently join these relational tables by leveraging their foreign key relationships. Once joined, they can automatically generate a vast array of statistical and semantic features that capture intricate patterns across the data. For instance, they can create features like the total number of medications prescribed, or the average lab test value over a specific period. Crucially, AutoFE also includes mechanisms to select only the most relevant variables for your predictive model, ensuring you're working with an optimised and efficient feature set.</a:t>
            </a:r>
            <a:endParaRPr>
              <a:solidFill>
                <a:srgbClr val="1B1C1D"/>
              </a:solidFill>
            </a:endParaRPr>
          </a:p>
          <a:p>
            <a:pPr indent="0" lvl="0" marL="0" rtl="0" algn="l">
              <a:lnSpc>
                <a:spcPct val="115000"/>
              </a:lnSpc>
              <a:spcBef>
                <a:spcPts val="1200"/>
              </a:spcBef>
              <a:spcAft>
                <a:spcPts val="0"/>
              </a:spcAft>
              <a:buClr>
                <a:schemeClr val="dk1"/>
              </a:buClr>
              <a:buSzPts val="1100"/>
              <a:buFont typeface="Arial"/>
              <a:buNone/>
            </a:pPr>
            <a:r>
              <a:t/>
            </a:r>
            <a:endParaRPr>
              <a:solidFill>
                <a:srgbClr val="1B1C1D"/>
              </a:solidFill>
            </a:endParaRPr>
          </a:p>
          <a:p>
            <a:pPr indent="0" lvl="0" marL="0" rtl="0" algn="l">
              <a:lnSpc>
                <a:spcPct val="115000"/>
              </a:lnSpc>
              <a:spcBef>
                <a:spcPts val="0"/>
              </a:spcBef>
              <a:spcAft>
                <a:spcPts val="0"/>
              </a:spcAft>
              <a:buClr>
                <a:schemeClr val="dk1"/>
              </a:buClr>
              <a:buSzPts val="1100"/>
              <a:buFont typeface="Arial"/>
              <a:buNone/>
            </a:pPr>
            <a:r>
              <a:t/>
            </a:r>
            <a:endParaRPr>
              <a:solidFill>
                <a:srgbClr val="1B1C1D"/>
              </a:solidFill>
            </a:endParaRPr>
          </a:p>
          <a:p>
            <a:pPr indent="0" lvl="0" marL="0" rtl="0" algn="l">
              <a:lnSpc>
                <a:spcPct val="100000"/>
              </a:lnSpc>
              <a:spcBef>
                <a:spcPts val="1200"/>
              </a:spcBef>
              <a:spcAft>
                <a:spcPts val="0"/>
              </a:spcAft>
              <a:buSzPts val="1100"/>
              <a:buNone/>
            </a:pPr>
            <a:r>
              <a:t/>
            </a:r>
            <a:endParaRPr>
              <a:solidFill>
                <a:srgbClr val="1B1C1D"/>
              </a:solidFill>
            </a:endParaRPr>
          </a:p>
        </p:txBody>
      </p:sp>
      <p:sp>
        <p:nvSpPr>
          <p:cNvPr id="133" name="Google Shape;133;g37084f751b1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7084f751b1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Now, let's dive into some of the major tools available for Automated Feature Engineering. The first one we'll discuss is Featuretools, which is known for its Deep Feature Synthesis, or DFS. The primary objective of Featuretools is to automatically generate features specifically from relational or transactional datasets. Think about databases where you have multiple tables linked by foreign keys, like customer data linked to order data, or patient records linked to various medical events.</a:t>
            </a:r>
            <a:endParaRPr>
              <a:solidFill>
                <a:srgbClr val="1B1C1D"/>
              </a:solidFill>
            </a:endParaRPr>
          </a:p>
          <a:p>
            <a:pPr indent="0" lvl="0" marL="0" rtl="0" algn="l">
              <a:lnSpc>
                <a:spcPct val="115000"/>
              </a:lnSpc>
              <a:spcBef>
                <a:spcPts val="3000"/>
              </a:spcBef>
              <a:spcAft>
                <a:spcPts val="1200"/>
              </a:spcAft>
              <a:buClr>
                <a:schemeClr val="dk1"/>
              </a:buClr>
              <a:buSzPts val="1100"/>
              <a:buFont typeface="Arial"/>
              <a:buNone/>
            </a:pPr>
            <a:r>
              <a:t/>
            </a:r>
            <a:endParaRPr>
              <a:solidFill>
                <a:srgbClr val="1B1C1D"/>
              </a:solidFill>
            </a:endParaRPr>
          </a:p>
        </p:txBody>
      </p:sp>
      <p:sp>
        <p:nvSpPr>
          <p:cNvPr id="142" name="Google Shape;142;g37084f751b1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7084f751b1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Featuretools revolves around two core concepts. First, an EntitySet. An EntitySet is essentially a structured collection of related tables. Imagine it as a blueprint of your relational database, defining how different tables, or 'entities,' like 'patients,' 'visits,' and 'lab tests,' are connected. The second core concept is Deep Feature Synthesis, or DFS. This is the algorithmic engine of Featuretools. DFS works by recursively applying what are called 'transformation primitives' and 'aggregation primitives' across the relationships defined within your EntitySet to automatically generate new, sophisticated features. It effectively 'dives deep' into your data to unearth hidden patterns.</a:t>
            </a:r>
            <a:endParaRPr>
              <a:solidFill>
                <a:srgbClr val="1B1C1D"/>
              </a:solidFill>
            </a:endParaRPr>
          </a:p>
          <a:p>
            <a:pPr indent="0" lvl="0" marL="0" rtl="0" algn="l">
              <a:lnSpc>
                <a:spcPct val="115000"/>
              </a:lnSpc>
              <a:spcBef>
                <a:spcPts val="1200"/>
              </a:spcBef>
              <a:spcAft>
                <a:spcPts val="0"/>
              </a:spcAft>
              <a:buClr>
                <a:schemeClr val="dk1"/>
              </a:buClr>
              <a:buSzPts val="1100"/>
              <a:buFont typeface="Arial"/>
              <a:buNone/>
            </a:pPr>
            <a:r>
              <a:t/>
            </a:r>
            <a:endParaRPr>
              <a:solidFill>
                <a:srgbClr val="1B1C1D"/>
              </a:solidFill>
            </a:endParaRPr>
          </a:p>
          <a:p>
            <a:pPr indent="0" lvl="0" marL="0" rtl="0" algn="l">
              <a:lnSpc>
                <a:spcPct val="115000"/>
              </a:lnSpc>
              <a:spcBef>
                <a:spcPts val="0"/>
              </a:spcBef>
              <a:spcAft>
                <a:spcPts val="0"/>
              </a:spcAft>
              <a:buClr>
                <a:schemeClr val="dk1"/>
              </a:buClr>
              <a:buSzPts val="1100"/>
              <a:buFont typeface="Arial"/>
              <a:buNone/>
            </a:pPr>
            <a:r>
              <a:t/>
            </a:r>
            <a:endParaRPr>
              <a:solidFill>
                <a:srgbClr val="1B1C1D"/>
              </a:solidFill>
            </a:endParaRPr>
          </a:p>
          <a:p>
            <a:pPr indent="0" lvl="0" marL="0" rtl="0" algn="l">
              <a:lnSpc>
                <a:spcPct val="115000"/>
              </a:lnSpc>
              <a:spcBef>
                <a:spcPts val="1200"/>
              </a:spcBef>
              <a:spcAft>
                <a:spcPts val="0"/>
              </a:spcAft>
              <a:buClr>
                <a:schemeClr val="dk1"/>
              </a:buClr>
              <a:buSzPts val="1100"/>
              <a:buFont typeface="Arial"/>
              <a:buNone/>
            </a:pPr>
            <a:r>
              <a:t/>
            </a:r>
            <a:endParaRPr>
              <a:solidFill>
                <a:srgbClr val="1B1C1D"/>
              </a:solidFill>
            </a:endParaRPr>
          </a:p>
          <a:p>
            <a:pPr indent="0" lvl="0" marL="0" rtl="0" algn="l">
              <a:lnSpc>
                <a:spcPct val="115000"/>
              </a:lnSpc>
              <a:spcBef>
                <a:spcPts val="1200"/>
              </a:spcBef>
              <a:spcAft>
                <a:spcPts val="1200"/>
              </a:spcAft>
              <a:buSzPts val="1100"/>
              <a:buNone/>
            </a:pPr>
            <a:r>
              <a:t/>
            </a:r>
            <a:endParaRPr>
              <a:solidFill>
                <a:srgbClr val="1B1C1D"/>
              </a:solidFill>
            </a:endParaRPr>
          </a:p>
        </p:txBody>
      </p:sp>
      <p:sp>
        <p:nvSpPr>
          <p:cNvPr id="151" name="Google Shape;151;g37084f751b1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7084f751b1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Let's elaborate on the types of primitives used by Featuretools. There are two main categories. Aggregation Primitives operate by summarising information across related entities. Common examples include counting the number of related items, calculating the mean, sum, or standard deviation. For instance, if you have patient visits, an aggregation primitive could calculate the "Average length of stay per patient." This aggregates data from multiple visits for a single patient.</a:t>
            </a:r>
            <a:endParaRPr>
              <a:solidFill>
                <a:srgbClr val="1B1C1D"/>
              </a:solidFill>
            </a:endParaRPr>
          </a:p>
          <a:p>
            <a:pPr indent="0" lvl="0" marL="0" rtl="0" algn="l">
              <a:lnSpc>
                <a:spcPct val="115000"/>
              </a:lnSpc>
              <a:spcBef>
                <a:spcPts val="1200"/>
              </a:spcBef>
              <a:spcAft>
                <a:spcPts val="0"/>
              </a:spcAft>
              <a:buClr>
                <a:schemeClr val="dk1"/>
              </a:buClr>
              <a:buSzPts val="1100"/>
              <a:buFont typeface="Arial"/>
              <a:buNone/>
            </a:pPr>
            <a:r>
              <a:rPr lang="en-US">
                <a:solidFill>
                  <a:srgbClr val="1B1C1D"/>
                </a:solidFill>
              </a:rPr>
              <a:t>Then we have </a:t>
            </a:r>
            <a:r>
              <a:rPr b="1" lang="en-US">
                <a:solidFill>
                  <a:srgbClr val="1B1C1D"/>
                </a:solidFill>
              </a:rPr>
              <a:t>Transformation Primitives</a:t>
            </a:r>
            <a:r>
              <a:rPr lang="en-US">
                <a:solidFill>
                  <a:srgbClr val="1B1C1D"/>
                </a:solidFill>
              </a:rPr>
              <a:t>. These operate on a single entity or row to create a new feature. Examples include extracting a specific part of a date, calculating the difference between two values, or computing a ratio. A good example would be "Time since last admission," which would be calculated by transforming existing date information for each patient. These primitives are the building blocks that DFS combines to generate complex features.</a:t>
            </a:r>
            <a:endParaRPr>
              <a:solidFill>
                <a:srgbClr val="1B1C1D"/>
              </a:solidFill>
            </a:endParaRPr>
          </a:p>
          <a:p>
            <a:pPr indent="0" lvl="0" marL="0" rtl="0" algn="l">
              <a:lnSpc>
                <a:spcPct val="115000"/>
              </a:lnSpc>
              <a:spcBef>
                <a:spcPts val="1200"/>
              </a:spcBef>
              <a:spcAft>
                <a:spcPts val="1200"/>
              </a:spcAft>
              <a:buSzPts val="1100"/>
              <a:buNone/>
            </a:pPr>
            <a:r>
              <a:t/>
            </a:r>
            <a:endParaRPr>
              <a:solidFill>
                <a:srgbClr val="1B1C1D"/>
              </a:solidFill>
            </a:endParaRPr>
          </a:p>
        </p:txBody>
      </p:sp>
      <p:sp>
        <p:nvSpPr>
          <p:cNvPr id="160" name="Google Shape;160;g37084f751b1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7084f751b1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Let's walk through a theoretical example with Featuretools. Suppose you have two tables: a 'Customers' table and an 'Orders' table, where the 'Orders' table has a foreign key linking back to 'Customers'. Featuretools can automatically generate highly insightful features from this relational setup. For example, it can create "Total number of orders per customer" by counting orders linked to each customer. It can also calculate the "Average time between orders" for each customer by transforming date information across their orders. And it can even extract the "Most recent order value" for each customer. All these features are constructed by Featuretools intelligently traversing the foreign key paths between tables and applying the appropriate aggregation or transformation primitives at each step, making complex feature engineering tasks effortless.</a:t>
            </a:r>
            <a:endParaRPr>
              <a:solidFill>
                <a:srgbClr val="1B1C1D"/>
              </a:solidFill>
            </a:endParaRPr>
          </a:p>
          <a:p>
            <a:pPr indent="0" lvl="0" marL="0" rtl="0" algn="l">
              <a:lnSpc>
                <a:spcPct val="115000"/>
              </a:lnSpc>
              <a:spcBef>
                <a:spcPts val="3000"/>
              </a:spcBef>
              <a:spcAft>
                <a:spcPts val="1200"/>
              </a:spcAft>
              <a:buSzPts val="1100"/>
              <a:buNone/>
            </a:pPr>
            <a:r>
              <a:t/>
            </a:r>
            <a:endParaRPr>
              <a:solidFill>
                <a:srgbClr val="1B1C1D"/>
              </a:solidFill>
            </a:endParaRPr>
          </a:p>
        </p:txBody>
      </p:sp>
      <p:sp>
        <p:nvSpPr>
          <p:cNvPr id="169" name="Google Shape;169;g37084f751b1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7084f751b1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Featuretools</a:t>
            </a:r>
            <a:r>
              <a:rPr lang="en-US">
                <a:solidFill>
                  <a:srgbClr val="1B1C1D"/>
                </a:solidFill>
              </a:rPr>
              <a:t> has several key strengths. It's exceptionally well-suited for relational databases, making it ideal for complex datasets like electronic health records such as MIMIC-III, or typical e-commerce transaction data. It also excels at handling temporal hierarchies, meaning it can understand and process time-based relationships, and gracefully manages many-to-one relationships, where multiple records in one table relate to a single record in another. Furthermore, a significant advantage of Featuretools is its ability to provide interpretability through feature lineage. This means you can trace back exactly how each generated feature was constructed from the raw data, which is invaluable for understanding your model and for debugging.</a:t>
            </a:r>
            <a:endParaRPr>
              <a:solidFill>
                <a:srgbClr val="1B1C1D"/>
              </a:solidFill>
            </a:endParaRPr>
          </a:p>
          <a:p>
            <a:pPr indent="0" lvl="0" marL="0" rtl="0" algn="l">
              <a:lnSpc>
                <a:spcPct val="115000"/>
              </a:lnSpc>
              <a:spcBef>
                <a:spcPts val="1200"/>
              </a:spcBef>
              <a:spcAft>
                <a:spcPts val="1200"/>
              </a:spcAft>
              <a:buClr>
                <a:schemeClr val="dk1"/>
              </a:buClr>
              <a:buSzPts val="1100"/>
              <a:buFont typeface="Arial"/>
              <a:buNone/>
            </a:pPr>
            <a:r>
              <a:t/>
            </a:r>
            <a:endParaRPr>
              <a:solidFill>
                <a:srgbClr val="1B1C1D"/>
              </a:solidFill>
            </a:endParaRPr>
          </a:p>
        </p:txBody>
      </p:sp>
      <p:sp>
        <p:nvSpPr>
          <p:cNvPr id="178" name="Google Shape;178;g37084f751b1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7084f751b1_0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Moving on to our second major tool, TSFresh. As the name suggests, TSFresh stands for "Time-Series Feature Extraction." Its primary objective is to automatically extract a wide array of statistical features specifically from time-series data. So, if your data involves observations recorded over time, like sensor readings, stock prices, or patient vitals, TSFresh is designed for you.</a:t>
            </a:r>
            <a:endParaRPr>
              <a:solidFill>
                <a:srgbClr val="1B1C1D"/>
              </a:solidFill>
            </a:endParaRPr>
          </a:p>
          <a:p>
            <a:pPr indent="0" lvl="0" marL="0" rtl="0" algn="l">
              <a:lnSpc>
                <a:spcPct val="115000"/>
              </a:lnSpc>
              <a:spcBef>
                <a:spcPts val="1200"/>
              </a:spcBef>
              <a:spcAft>
                <a:spcPts val="1200"/>
              </a:spcAft>
              <a:buClr>
                <a:schemeClr val="dk1"/>
              </a:buClr>
              <a:buSzPts val="1100"/>
              <a:buFont typeface="Arial"/>
              <a:buNone/>
            </a:pPr>
            <a:r>
              <a:t/>
            </a:r>
            <a:endParaRPr>
              <a:solidFill>
                <a:srgbClr val="1B1C1D"/>
              </a:solidFill>
            </a:endParaRPr>
          </a:p>
        </p:txBody>
      </p:sp>
      <p:sp>
        <p:nvSpPr>
          <p:cNvPr id="187" name="Google Shape;187;g37084f751b1_0_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7084f751b1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TSFresh has some powerful core concepts. It can automatically generate a massive number of features – over 750, to be precise – from your time-series columns. These features capture various characteristics of the time series, from its basic statistics to its more complex signal properties. Crucially, TSFresh doesn't just generate features blindly; it also performs relevance filtering. This is done using statistical hypothesis testing, such as t-tests or ANOVA. The purpose of this filtering is to identify and retain only those features that are statistically informative and significantly correlated with your target variable, helping to avoid noise and reduce dimensionality.</a:t>
            </a:r>
            <a:endParaRPr>
              <a:solidFill>
                <a:srgbClr val="1B1C1D"/>
              </a:solidFill>
            </a:endParaRPr>
          </a:p>
          <a:p>
            <a:pPr indent="0" lvl="0" marL="0" rtl="0" algn="l">
              <a:lnSpc>
                <a:spcPct val="115000"/>
              </a:lnSpc>
              <a:spcBef>
                <a:spcPts val="1200"/>
              </a:spcBef>
              <a:spcAft>
                <a:spcPts val="1200"/>
              </a:spcAft>
              <a:buClr>
                <a:schemeClr val="dk1"/>
              </a:buClr>
              <a:buSzPts val="1100"/>
              <a:buFont typeface="Arial"/>
              <a:buNone/>
            </a:pPr>
            <a:r>
              <a:t/>
            </a:r>
            <a:endParaRPr>
              <a:solidFill>
                <a:srgbClr val="1B1C1D"/>
              </a:solidFill>
            </a:endParaRPr>
          </a:p>
        </p:txBody>
      </p:sp>
      <p:sp>
        <p:nvSpPr>
          <p:cNvPr id="196" name="Google Shape;196;g37084f751b1_0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7084f751b1_0_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US">
                <a:solidFill>
                  <a:srgbClr val="1B1C1D"/>
                </a:solidFill>
              </a:rPr>
              <a:t>The 750+ features generated by TSFresh cover a wide range of characteristics. These include fundamental descriptive statistics like mean, median, variance, skewness, and kurtosis, which describe the central tendency and shape of your time series. It also extracts signal properties such as autocorrelation, which measures how a signal correlates with itself over time; energy, which represents the signal's power; entropy, which quantifies randomness; and FFT coefficients, which analyse the signal in the frequency domain. Additionally, TSFresh can capture event characteristics like the number of peaks or zero-crossings in your time series, providing insights into its dynamics.</a:t>
            </a:r>
            <a:endParaRPr>
              <a:solidFill>
                <a:srgbClr val="1B1C1D"/>
              </a:solidFill>
            </a:endParaRPr>
          </a:p>
        </p:txBody>
      </p:sp>
      <p:sp>
        <p:nvSpPr>
          <p:cNvPr id="205" name="Google Shape;205;g37084f751b1_0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708bf00c7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Let's consider a theoretical example for TSFresh. Imagine you have an ECG time-series dataset with 2000 readings per patient. TSFresh can extract a variety of meaningful features from this data. For instance, it can compute the "Mean heart rate variability," giving insight into cardiac health. It can also calculate the "Skewness of heart rate," indicating the asymmetry of heart rate distribution. More advanced features like "Autocorrelation at lag-3" can reveal repeating patterns in the heart rhythm. Furthermore, it can extract the "Energy of signal in frequency domain," which might indicate different types of cardiac activity. Importantly, after generating these features, TSFresh will then filter them using significance tests to determine if, for example, the skewness of heart rate significantly correlates with the presence of heart disease.</a:t>
            </a:r>
            <a:endParaRPr>
              <a:solidFill>
                <a:srgbClr val="1B1C1D"/>
              </a:solidFill>
            </a:endParaRPr>
          </a:p>
          <a:p>
            <a:pPr indent="0" lvl="0" marL="0" rtl="0" algn="l">
              <a:lnSpc>
                <a:spcPct val="115000"/>
              </a:lnSpc>
              <a:spcBef>
                <a:spcPts val="3000"/>
              </a:spcBef>
              <a:spcAft>
                <a:spcPts val="1200"/>
              </a:spcAft>
              <a:buClr>
                <a:schemeClr val="dk1"/>
              </a:buClr>
              <a:buSzPts val="1100"/>
              <a:buFont typeface="Arial"/>
              <a:buNone/>
            </a:pPr>
            <a:r>
              <a:t/>
            </a:r>
            <a:endParaRPr>
              <a:solidFill>
                <a:srgbClr val="1B1C1D"/>
              </a:solidFill>
            </a:endParaRPr>
          </a:p>
        </p:txBody>
      </p:sp>
      <p:sp>
        <p:nvSpPr>
          <p:cNvPr id="214" name="Google Shape;214;g3708bf00c7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708bf00c7c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TSFresh offers several powerful strengths. It is remarkably domain-agnostic and highly generalisable, meaning it can be applied effectively across diverse time-series datasets regardless of their specific industry or context. This makes it incredibly useful for data from healthcare, such as patient monitoring; sensor data from industrial applications; financial market data, like stock prices; and vast amounts of IoT data. Another key strength is its integrated statistical relevance filtering. This built-in mechanism automatically helps you focus on the most impactful features, reducing noise and improving model performance.</a:t>
            </a:r>
            <a:endParaRPr>
              <a:solidFill>
                <a:srgbClr val="1B1C1D"/>
              </a:solidFill>
            </a:endParaRPr>
          </a:p>
          <a:p>
            <a:pPr indent="0" lvl="0" marL="0" rtl="0" algn="l">
              <a:lnSpc>
                <a:spcPct val="115000"/>
              </a:lnSpc>
              <a:spcBef>
                <a:spcPts val="1200"/>
              </a:spcBef>
              <a:spcAft>
                <a:spcPts val="1200"/>
              </a:spcAft>
              <a:buClr>
                <a:schemeClr val="dk1"/>
              </a:buClr>
              <a:buSzPts val="1100"/>
              <a:buFont typeface="Arial"/>
              <a:buNone/>
            </a:pPr>
            <a:r>
              <a:t/>
            </a:r>
            <a:endParaRPr>
              <a:solidFill>
                <a:srgbClr val="1B1C1D"/>
              </a:solidFill>
            </a:endParaRPr>
          </a:p>
        </p:txBody>
      </p:sp>
      <p:sp>
        <p:nvSpPr>
          <p:cNvPr id="223" name="Google Shape;223;g3708bf00c7c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708bf00c7c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Our third major tool is Featurewiz. While Featuretools focuses on generating features from relational data and TSFresh from time-series, Featurewiz's primary objective is to intelligently select and rank the most important features from your existing dataset. It achieves this using a combination of both model-based and statistical approaches, making it highly effective for optimising your feature set.</a:t>
            </a:r>
            <a:endParaRPr>
              <a:solidFill>
                <a:srgbClr val="1B1C1D"/>
              </a:solidFill>
            </a:endParaRPr>
          </a:p>
          <a:p>
            <a:pPr indent="0" lvl="0" marL="914400" rtl="0" algn="l">
              <a:lnSpc>
                <a:spcPct val="115000"/>
              </a:lnSpc>
              <a:spcBef>
                <a:spcPts val="1200"/>
              </a:spcBef>
              <a:spcAft>
                <a:spcPts val="0"/>
              </a:spcAft>
              <a:buSzPts val="1100"/>
              <a:buNone/>
            </a:pPr>
            <a:r>
              <a:t/>
            </a:r>
            <a:endParaRPr>
              <a:solidFill>
                <a:srgbClr val="1B1C1D"/>
              </a:solidFill>
            </a:endParaRPr>
          </a:p>
        </p:txBody>
      </p:sp>
      <p:sp>
        <p:nvSpPr>
          <p:cNvPr id="232" name="Google Shape;232;g3708bf00c7c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708bf00c7c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Featurewiz employs several core concepts to achieve its objective. It leverages two powerful techniques for ranking features: mutual information, which measures the dependency between two variables, and XGBoost feature importance, which indicates how valuable each feature is in the construction of boosted trees. Beyond ranking, Featurewiz also performs crucial automatic filtering. It identifies and removes features that offer little to no predictive value, such as constant features (those with a single value), quasi-constant features (those with very little variance), and highly correlated features, which can cause issues like multicollinearity in your models. By doing so, it streamlines your dataset and improves model stability.</a:t>
            </a:r>
            <a:endParaRPr>
              <a:solidFill>
                <a:srgbClr val="1B1C1D"/>
              </a:solidFill>
            </a:endParaRPr>
          </a:p>
          <a:p>
            <a:pPr indent="0" lvl="0" marL="0" rtl="0" algn="l">
              <a:lnSpc>
                <a:spcPct val="115000"/>
              </a:lnSpc>
              <a:spcBef>
                <a:spcPts val="1200"/>
              </a:spcBef>
              <a:spcAft>
                <a:spcPts val="0"/>
              </a:spcAft>
              <a:buSzPts val="1100"/>
              <a:buNone/>
            </a:pPr>
            <a:r>
              <a:t/>
            </a:r>
            <a:endParaRPr>
              <a:solidFill>
                <a:srgbClr val="1B1C1D"/>
              </a:solidFill>
            </a:endParaRPr>
          </a:p>
        </p:txBody>
      </p:sp>
      <p:sp>
        <p:nvSpPr>
          <p:cNvPr id="241" name="Google Shape;241;g3708bf00c7c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708bf00c7c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100"/>
              <a:buNone/>
            </a:pPr>
            <a:r>
              <a:rPr lang="en-US">
                <a:solidFill>
                  <a:srgbClr val="1B1C1D"/>
                </a:solidFill>
              </a:rPr>
              <a:t>Let's consider a theoretical example for Featurewiz. Imagine you have a tabular dataset with 100 columns. This is a common scenario in many real-world applications where you have a mix of potential features. Featurewiz can efficiently process this. It might first remove 20 features that have zero variance, meaning they are essentially constant and provide no information. Then, it could identify and remove another 10 features that are 99% correlated with other features, thereby addressing multicollinearity. Finally, Featurewiz can intelligently select the top 20 features that contribute the most to your model's performance, effectively reducing your input space from 100 to just 20 columns without sacrificing predictive power.</a:t>
            </a:r>
            <a:endParaRPr>
              <a:solidFill>
                <a:srgbClr val="1B1C1D"/>
              </a:solidFill>
            </a:endParaRPr>
          </a:p>
        </p:txBody>
      </p:sp>
      <p:sp>
        <p:nvSpPr>
          <p:cNvPr id="250" name="Google Shape;250;g3708bf00c7c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708bf00c7c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Featurewiz's strengths are particularly valuable for high-dimensional tabular data, where you might have hundreds or even thousands of features. It's known for being fast and providing interpretable results, meaning you can understand why certain features were selected or discarded. Most importantly, Featurewiz excels at maintaining or even improving model performance while significantly reducing the complexity of your dataset. By focusing on only the most impactful features, it helps to build more robust and efficient models.</a:t>
            </a:r>
            <a:endParaRPr>
              <a:solidFill>
                <a:srgbClr val="1B1C1D"/>
              </a:solidFill>
            </a:endParaRPr>
          </a:p>
          <a:p>
            <a:pPr indent="0" lvl="0" marL="914400" rtl="0" algn="l">
              <a:lnSpc>
                <a:spcPct val="115000"/>
              </a:lnSpc>
              <a:spcBef>
                <a:spcPts val="3000"/>
              </a:spcBef>
              <a:spcAft>
                <a:spcPts val="3000"/>
              </a:spcAft>
              <a:buSzPts val="1100"/>
              <a:buNone/>
            </a:pPr>
            <a:r>
              <a:t/>
            </a:r>
            <a:endParaRPr>
              <a:solidFill>
                <a:srgbClr val="1B1C1D"/>
              </a:solidFill>
            </a:endParaRPr>
          </a:p>
        </p:txBody>
      </p:sp>
      <p:sp>
        <p:nvSpPr>
          <p:cNvPr id="259" name="Google Shape;259;g3708bf00c7c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708bf00c7c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Now, let's compare the state of your data before and after applying Automated Feature Engineering. Before AutoFE, your dataset likely consists of raw features, which might be irrelevant or contain a lot of noise. The impact of this is often lower model accuracy and a higher risk of overfitting, as the model tries to learn from uninformative patterns. However, after applying AutoFE, your dataset is transformed. It now contains relevant, transformed, and aggregated features that are specifically designed to capture meaningful insights. The impact here is significant: you'll see improved generalisation, meaning your model performs better on unseen data, enhanced interpretability because the features are more meaningful, and overall superior model performance.</a:t>
            </a:r>
            <a:endParaRPr>
              <a:solidFill>
                <a:srgbClr val="1B1C1D"/>
              </a:solidFill>
            </a:endParaRPr>
          </a:p>
          <a:p>
            <a:pPr indent="0" lvl="0" marL="914400" rtl="0" algn="l">
              <a:lnSpc>
                <a:spcPct val="115000"/>
              </a:lnSpc>
              <a:spcBef>
                <a:spcPts val="3000"/>
              </a:spcBef>
              <a:spcAft>
                <a:spcPts val="3000"/>
              </a:spcAft>
              <a:buSzPts val="1100"/>
              <a:buNone/>
            </a:pPr>
            <a:r>
              <a:t/>
            </a:r>
            <a:endParaRPr>
              <a:solidFill>
                <a:srgbClr val="1B1C1D"/>
              </a:solidFill>
            </a:endParaRPr>
          </a:p>
        </p:txBody>
      </p:sp>
      <p:sp>
        <p:nvSpPr>
          <p:cNvPr id="268" name="Google Shape;268;g3708bf00c7c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708bf00c7c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Let's look at a quantitative assessment to truly appreciate the impact of AutoFE. Consider a scenario where you train a logistic regression model on a dataset both before and after applying Automated Feature Engineering. As you can see in the table, the improvements are substantial across key performance metrics. Accuracy jumps from 0.76 to 0.84, indicating a much higher proportion of correct predictions. The F1-score, which balances precision and recall, increases from 0.71 to 0.82. And critically, the AUC-ROC, a robust measure of a model's ability to distinguish between classes, rises from 0.78 to 0.89. This tangible comparison clearly highlights the measurable benefits of automated feature generation and selection.</a:t>
            </a:r>
            <a:endParaRPr>
              <a:solidFill>
                <a:srgbClr val="1B1C1D"/>
              </a:solidFill>
            </a:endParaRPr>
          </a:p>
          <a:p>
            <a:pPr indent="0" lvl="0" marL="914400" rtl="0" algn="l">
              <a:lnSpc>
                <a:spcPct val="115000"/>
              </a:lnSpc>
              <a:spcBef>
                <a:spcPts val="3000"/>
              </a:spcBef>
              <a:spcAft>
                <a:spcPts val="3000"/>
              </a:spcAft>
              <a:buSzPts val="1100"/>
              <a:buNone/>
            </a:pPr>
            <a:r>
              <a:t/>
            </a:r>
            <a:endParaRPr>
              <a:solidFill>
                <a:srgbClr val="1B1C1D"/>
              </a:solidFill>
            </a:endParaRPr>
          </a:p>
        </p:txBody>
      </p:sp>
      <p:sp>
        <p:nvSpPr>
          <p:cNvPr id="277" name="Google Shape;277;g3708bf00c7c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708bf00c7c_0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Let's explore some theoretical applications of these AutoFE tools across different domains. In healthcare, specifically using complex datasets like MIMIC-III, which contains de-identified health-related data, Featuretools can be immensely powerful. For predicting ICU readmissions, Featuretools can construct highly relevant features. For example, it can automatically generate a "count of prior admissions" for a patient, which is a strong indicator of their medical history. It can also calculate the "average lab value for creatinine in the last 48 hours," aggregating time-series lab data to provide a critical clinical feature. These features are difficult and time-consuming to create manually, but Featuretools handles them with ease.</a:t>
            </a:r>
            <a:endParaRPr>
              <a:solidFill>
                <a:srgbClr val="1B1C1D"/>
              </a:solidFill>
            </a:endParaRPr>
          </a:p>
          <a:p>
            <a:pPr indent="0" lvl="0" marL="0" rtl="0" algn="l">
              <a:lnSpc>
                <a:spcPct val="115000"/>
              </a:lnSpc>
              <a:spcBef>
                <a:spcPts val="1200"/>
              </a:spcBef>
              <a:spcAft>
                <a:spcPts val="1200"/>
              </a:spcAft>
              <a:buClr>
                <a:schemeClr val="dk1"/>
              </a:buClr>
              <a:buSzPts val="1100"/>
              <a:buFont typeface="Arial"/>
              <a:buNone/>
            </a:pPr>
            <a:r>
              <a:t/>
            </a:r>
            <a:endParaRPr>
              <a:solidFill>
                <a:srgbClr val="1B1C1D"/>
              </a:solidFill>
            </a:endParaRPr>
          </a:p>
        </p:txBody>
      </p:sp>
      <p:sp>
        <p:nvSpPr>
          <p:cNvPr id="287" name="Google Shape;287;g3708bf00c7c_0_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708bf00c7c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US">
                <a:solidFill>
                  <a:srgbClr val="1B1C1D"/>
                </a:solidFill>
              </a:rPr>
              <a:t>In the retail sector, particularly for tasks like demand forecasting, TSFresh proves to be incredibly useful. If you have daily sales data, TSFresh can automatically extract sophisticated time-series features. For instance, it can compute the "weekly trend coefficient," which quantifies the underlying trend in sales over a week, or the "seasonality strength," identifying and measuring recurring patterns like weekly or monthly sales cycles. These types of features are crucial for building accurate demand forecasting models and are precisely what TSFresh is designed to provide.</a:t>
            </a:r>
            <a:endParaRPr>
              <a:solidFill>
                <a:srgbClr val="1B1C1D"/>
              </a:solidFill>
            </a:endParaRPr>
          </a:p>
          <a:p>
            <a:pPr indent="0" lvl="0" marL="0" rtl="0" algn="l">
              <a:lnSpc>
                <a:spcPct val="115000"/>
              </a:lnSpc>
              <a:spcBef>
                <a:spcPts val="1200"/>
              </a:spcBef>
              <a:spcAft>
                <a:spcPts val="0"/>
              </a:spcAft>
              <a:buClr>
                <a:schemeClr val="dk1"/>
              </a:buClr>
              <a:buSzPts val="1100"/>
              <a:buFont typeface="Arial"/>
              <a:buNone/>
            </a:pPr>
            <a:r>
              <a:t/>
            </a:r>
            <a:endParaRPr>
              <a:solidFill>
                <a:srgbClr val="1B1C1D"/>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914400" rtl="0" algn="l">
              <a:lnSpc>
                <a:spcPct val="115000"/>
              </a:lnSpc>
              <a:spcBef>
                <a:spcPts val="3000"/>
              </a:spcBef>
              <a:spcAft>
                <a:spcPts val="3000"/>
              </a:spcAft>
              <a:buSzPts val="1100"/>
              <a:buNone/>
            </a:pPr>
            <a:r>
              <a:t/>
            </a:r>
            <a:endParaRPr>
              <a:solidFill>
                <a:srgbClr val="1B1C1D"/>
              </a:solidFill>
            </a:endParaRPr>
          </a:p>
        </p:txBody>
      </p:sp>
      <p:sp>
        <p:nvSpPr>
          <p:cNvPr id="296" name="Google Shape;296;g3708bf00c7c_0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70947a372a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US">
                <a:solidFill>
                  <a:srgbClr val="1B1C1D"/>
                </a:solidFill>
              </a:rPr>
              <a:t>Finally, in the telecommunications industry, Featurewiz is a strong contender for predicting customer churn. When dealing with a dataset that might have many potential features related to customer behaviour, Featurewiz can effectively select and rank the most important ones. For instance, it might identify "tenure" (how long a customer has been with the company), "monthly charges," and "contract type" as highly influential features for predicting whether a customer will churn. By focusing on these key features, Featurewiz helps to reduce the input space for your model, making it faster and more efficient, all while maintaining or even improving predictive accuracy.</a:t>
            </a:r>
            <a:endParaRPr>
              <a:solidFill>
                <a:srgbClr val="1B1C1D"/>
              </a:solidFill>
            </a:endParaRPr>
          </a:p>
        </p:txBody>
      </p:sp>
      <p:sp>
        <p:nvSpPr>
          <p:cNvPr id="305" name="Google Shape;305;g370947a372a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70947a372a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US">
                <a:solidFill>
                  <a:srgbClr val="1B1C1D"/>
                </a:solidFill>
              </a:rPr>
              <a:t>To summarise our discussion on Automated Feature Engineering tools, we've covered three powerful libraries, each with its unique strengths.</a:t>
            </a:r>
            <a:endParaRPr>
              <a:solidFill>
                <a:srgbClr val="1B1C1D"/>
              </a:solidFill>
            </a:endParaRPr>
          </a:p>
          <a:p>
            <a:pPr indent="-298450" lvl="0" marL="457200" rtl="0" algn="l">
              <a:lnSpc>
                <a:spcPct val="115000"/>
              </a:lnSpc>
              <a:spcBef>
                <a:spcPts val="1200"/>
              </a:spcBef>
              <a:spcAft>
                <a:spcPts val="0"/>
              </a:spcAft>
              <a:buClr>
                <a:srgbClr val="1B1C1D"/>
              </a:buClr>
              <a:buSzPts val="1100"/>
              <a:buChar char="●"/>
            </a:pPr>
            <a:r>
              <a:rPr b="1" lang="en-US">
                <a:solidFill>
                  <a:srgbClr val="1B1C1D"/>
                </a:solidFill>
              </a:rPr>
              <a:t>Featuretools</a:t>
            </a:r>
            <a:r>
              <a:rPr lang="en-US">
                <a:solidFill>
                  <a:srgbClr val="1B1C1D"/>
                </a:solidFill>
              </a:rPr>
              <a:t> is best suited for </a:t>
            </a:r>
            <a:r>
              <a:rPr b="1" lang="en-US">
                <a:solidFill>
                  <a:srgbClr val="1B1C1D"/>
                </a:solidFill>
              </a:rPr>
              <a:t>relational and transactional data</a:t>
            </a:r>
            <a:r>
              <a:rPr lang="en-US">
                <a:solidFill>
                  <a:srgbClr val="1B1C1D"/>
                </a:solidFill>
              </a:rPr>
              <a:t>. It excels at generating </a:t>
            </a:r>
            <a:r>
              <a:rPr b="1" lang="en-US">
                <a:solidFill>
                  <a:srgbClr val="1B1C1D"/>
                </a:solidFill>
              </a:rPr>
              <a:t>aggregated and temporal features</a:t>
            </a:r>
            <a:r>
              <a:rPr lang="en-US">
                <a:solidFill>
                  <a:srgbClr val="1B1C1D"/>
                </a:solidFill>
              </a:rPr>
              <a:t> and its special advantage lies in its ability to perform </a:t>
            </a:r>
            <a:r>
              <a:rPr b="1" lang="en-US">
                <a:solidFill>
                  <a:srgbClr val="1B1C1D"/>
                </a:solidFill>
              </a:rPr>
              <a:t>complex multi-table traversal</a:t>
            </a:r>
            <a:r>
              <a:rPr lang="en-US">
                <a:solidFill>
                  <a:srgbClr val="1B1C1D"/>
                </a:solidFill>
              </a:rPr>
              <a:t>, uncovering deep relationships within your data.</a:t>
            </a:r>
            <a:endParaRPr>
              <a:solidFill>
                <a:srgbClr val="1B1C1D"/>
              </a:solidFill>
            </a:endParaRPr>
          </a:p>
          <a:p>
            <a:pPr indent="-298450" lvl="0" marL="457200" rtl="0" algn="l">
              <a:lnSpc>
                <a:spcPct val="115000"/>
              </a:lnSpc>
              <a:spcBef>
                <a:spcPts val="0"/>
              </a:spcBef>
              <a:spcAft>
                <a:spcPts val="0"/>
              </a:spcAft>
              <a:buClr>
                <a:srgbClr val="1B1C1D"/>
              </a:buClr>
              <a:buSzPts val="1100"/>
              <a:buChar char="●"/>
            </a:pPr>
            <a:r>
              <a:rPr b="1" lang="en-US">
                <a:solidFill>
                  <a:srgbClr val="1B1C1D"/>
                </a:solidFill>
              </a:rPr>
              <a:t>TSFresh</a:t>
            </a:r>
            <a:r>
              <a:rPr lang="en-US">
                <a:solidFill>
                  <a:srgbClr val="1B1C1D"/>
                </a:solidFill>
              </a:rPr>
              <a:t> is designed specifically for </a:t>
            </a:r>
            <a:r>
              <a:rPr b="1" lang="en-US">
                <a:solidFill>
                  <a:srgbClr val="1B1C1D"/>
                </a:solidFill>
              </a:rPr>
              <a:t>time-series data</a:t>
            </a:r>
            <a:r>
              <a:rPr lang="en-US">
                <a:solidFill>
                  <a:srgbClr val="1B1C1D"/>
                </a:solidFill>
              </a:rPr>
              <a:t>. It extracts a wide array of </a:t>
            </a:r>
            <a:r>
              <a:rPr b="1" lang="en-US">
                <a:solidFill>
                  <a:srgbClr val="1B1C1D"/>
                </a:solidFill>
              </a:rPr>
              <a:t>statistical and signal-based features</a:t>
            </a:r>
            <a:r>
              <a:rPr lang="en-US">
                <a:solidFill>
                  <a:srgbClr val="1B1C1D"/>
                </a:solidFill>
              </a:rPr>
              <a:t>, with its key advantage being the generation of </a:t>
            </a:r>
            <a:r>
              <a:rPr b="1" lang="en-US">
                <a:solidFill>
                  <a:srgbClr val="1B1C1D"/>
                </a:solidFill>
              </a:rPr>
              <a:t>over 750 ready-to-use features</a:t>
            </a:r>
            <a:r>
              <a:rPr lang="en-US">
                <a:solidFill>
                  <a:srgbClr val="1B1C1D"/>
                </a:solidFill>
              </a:rPr>
              <a:t> and integrated relevance filtering.</a:t>
            </a:r>
            <a:endParaRPr>
              <a:solidFill>
                <a:srgbClr val="1B1C1D"/>
              </a:solidFill>
            </a:endParaRPr>
          </a:p>
          <a:p>
            <a:pPr indent="-298450" lvl="0" marL="457200" rtl="0" algn="l">
              <a:lnSpc>
                <a:spcPct val="115000"/>
              </a:lnSpc>
              <a:spcBef>
                <a:spcPts val="0"/>
              </a:spcBef>
              <a:spcAft>
                <a:spcPts val="0"/>
              </a:spcAft>
              <a:buClr>
                <a:srgbClr val="1B1C1D"/>
              </a:buClr>
              <a:buSzPts val="1100"/>
              <a:buChar char="●"/>
            </a:pPr>
            <a:r>
              <a:rPr lang="en-US">
                <a:solidFill>
                  <a:srgbClr val="1B1C1D"/>
                </a:solidFill>
              </a:rPr>
              <a:t>And finally, </a:t>
            </a:r>
            <a:r>
              <a:rPr b="1" lang="en-US">
                <a:solidFill>
                  <a:srgbClr val="1B1C1D"/>
                </a:solidFill>
              </a:rPr>
              <a:t>Featurewiz</a:t>
            </a:r>
            <a:r>
              <a:rPr lang="en-US">
                <a:solidFill>
                  <a:srgbClr val="1B1C1D"/>
                </a:solidFill>
              </a:rPr>
              <a:t> is ideal for general </a:t>
            </a:r>
            <a:r>
              <a:rPr b="1" lang="en-US">
                <a:solidFill>
                  <a:srgbClr val="1B1C1D"/>
                </a:solidFill>
              </a:rPr>
              <a:t>tabular data</a:t>
            </a:r>
            <a:r>
              <a:rPr lang="en-US">
                <a:solidFill>
                  <a:srgbClr val="1B1C1D"/>
                </a:solidFill>
              </a:rPr>
              <a:t>. It focuses on providing </a:t>
            </a:r>
            <a:r>
              <a:rPr b="1" lang="en-US">
                <a:solidFill>
                  <a:srgbClr val="1B1C1D"/>
                </a:solidFill>
              </a:rPr>
              <a:t>ranked and reduced feature sets</a:t>
            </a:r>
            <a:r>
              <a:rPr lang="en-US">
                <a:solidFill>
                  <a:srgbClr val="1B1C1D"/>
                </a:solidFill>
              </a:rPr>
              <a:t>, and its special advantage is its reliance on </a:t>
            </a:r>
            <a:r>
              <a:rPr b="1" lang="en-US">
                <a:solidFill>
                  <a:srgbClr val="1B1C1D"/>
                </a:solidFill>
              </a:rPr>
              <a:t>model-based importance and fast filtering</a:t>
            </a:r>
            <a:r>
              <a:rPr lang="en-US">
                <a:solidFill>
                  <a:srgbClr val="1B1C1D"/>
                </a:solidFill>
              </a:rPr>
              <a:t> to optimise your feature space effectively.</a:t>
            </a:r>
            <a:endParaRPr>
              <a:solidFill>
                <a:srgbClr val="1B1C1D"/>
              </a:solidFill>
            </a:endParaRPr>
          </a:p>
          <a:p>
            <a:pPr indent="0" lvl="0" marL="0" rtl="0" algn="l">
              <a:lnSpc>
                <a:spcPct val="115000"/>
              </a:lnSpc>
              <a:spcBef>
                <a:spcPts val="1800"/>
              </a:spcBef>
              <a:spcAft>
                <a:spcPts val="0"/>
              </a:spcAft>
              <a:buSzPts val="1100"/>
              <a:buNone/>
            </a:pPr>
            <a:r>
              <a:rPr lang="en-US">
                <a:solidFill>
                  <a:srgbClr val="1B1C1D"/>
                </a:solidFill>
              </a:rPr>
              <a:t>These tools collectively empower data scientists to overcome the challenges of manual feature engineering, leading to more robust and accurate predictive models.</a:t>
            </a:r>
            <a:endParaRPr>
              <a:solidFill>
                <a:srgbClr val="1B1C1D"/>
              </a:solidFill>
            </a:endParaRPr>
          </a:p>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0"/>
              </a:spcBef>
              <a:spcAft>
                <a:spcPts val="1200"/>
              </a:spcAft>
              <a:buSzPts val="1100"/>
              <a:buNone/>
            </a:pPr>
            <a:r>
              <a:t/>
            </a:r>
            <a:endParaRPr>
              <a:solidFill>
                <a:srgbClr val="1B1C1D"/>
              </a:solidFill>
            </a:endParaRPr>
          </a:p>
        </p:txBody>
      </p:sp>
      <p:sp>
        <p:nvSpPr>
          <p:cNvPr id="314" name="Google Shape;314;g370947a372a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4" name="Google Shape;32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17" name="Google Shape;17;p10"/>
          <p:cNvPicPr preferRelativeResize="0"/>
          <p:nvPr/>
        </p:nvPicPr>
        <p:blipFill rotWithShape="1">
          <a:blip r:embed="rId2">
            <a:alphaModFix/>
          </a:blip>
          <a:srcRect b="0" l="0" r="0" t="0"/>
          <a:stretch/>
        </p:blipFill>
        <p:spPr>
          <a:xfrm>
            <a:off x="-2" y="6466115"/>
            <a:ext cx="12204000" cy="10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 name="Shape 18"/>
        <p:cNvGrpSpPr/>
        <p:nvPr/>
      </p:nvGrpSpPr>
      <p:grpSpPr>
        <a:xfrm>
          <a:off x="0" y="0"/>
          <a:ext cx="0" cy="0"/>
          <a:chOff x="0" y="0"/>
          <a:chExt cx="0" cy="0"/>
        </a:xfrm>
      </p:grpSpPr>
      <p:sp>
        <p:nvSpPr>
          <p:cNvPr id="19" name="Google Shape;19;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13"/>
          <p:cNvSpPr txBox="1"/>
          <p:nvPr>
            <p:ph type="title"/>
          </p:nvPr>
        </p:nvSpPr>
        <p:spPr>
          <a:xfrm>
            <a:off x="441960" y="349885"/>
            <a:ext cx="9326880" cy="93066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Arial Narrow"/>
              <a:buNone/>
              <a:defRPr b="1" i="0">
                <a:latin typeface="Arial Narrow"/>
                <a:ea typeface="Arial Narrow"/>
                <a:cs typeface="Arial Narrow"/>
                <a:sym typeface="Arial Narrow"/>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3"/>
          <p:cNvSpPr txBox="1"/>
          <p:nvPr>
            <p:ph idx="1" type="body"/>
          </p:nvPr>
        </p:nvSpPr>
        <p:spPr>
          <a:xfrm>
            <a:off x="533400" y="1825625"/>
            <a:ext cx="11323320" cy="4351338"/>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Char char="•"/>
              <a:defRPr sz="2400"/>
            </a:lvl1pPr>
            <a:lvl2pPr indent="-355600" lvl="1" marL="914400" algn="l">
              <a:lnSpc>
                <a:spcPct val="90000"/>
              </a:lnSpc>
              <a:spcBef>
                <a:spcPts val="500"/>
              </a:spcBef>
              <a:spcAft>
                <a:spcPts val="0"/>
              </a:spcAft>
              <a:buClr>
                <a:schemeClr val="dk1"/>
              </a:buClr>
              <a:buSzPts val="2000"/>
              <a:buChar char="•"/>
              <a:defRPr sz="2000"/>
            </a:lvl2pPr>
            <a:lvl3pPr indent="-342900" lvl="2" marL="1371600" algn="l">
              <a:lnSpc>
                <a:spcPct val="90000"/>
              </a:lnSpc>
              <a:spcBef>
                <a:spcPts val="500"/>
              </a:spcBef>
              <a:spcAft>
                <a:spcPts val="0"/>
              </a:spcAft>
              <a:buClr>
                <a:schemeClr val="dk1"/>
              </a:buClr>
              <a:buSzPts val="1800"/>
              <a:buChar char="•"/>
              <a:defRPr sz="1800"/>
            </a:lvl3pPr>
            <a:lvl4pPr indent="-330200" lvl="3" marL="1828800" algn="l">
              <a:lnSpc>
                <a:spcPct val="90000"/>
              </a:lnSpc>
              <a:spcBef>
                <a:spcPts val="500"/>
              </a:spcBef>
              <a:spcAft>
                <a:spcPts val="0"/>
              </a:spcAft>
              <a:buClr>
                <a:schemeClr val="dk1"/>
              </a:buClr>
              <a:buSzPts val="1600"/>
              <a:buChar char="•"/>
              <a:defRPr sz="1600"/>
            </a:lvl4pPr>
            <a:lvl5pPr indent="-330200" lvl="4" marL="2286000" algn="l">
              <a:lnSpc>
                <a:spcPct val="90000"/>
              </a:lnSpc>
              <a:spcBef>
                <a:spcPts val="500"/>
              </a:spcBef>
              <a:spcAft>
                <a:spcPts val="0"/>
              </a:spcAft>
              <a:buClr>
                <a:schemeClr val="dk1"/>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30" name="Google Shape;30;p13"/>
          <p:cNvPicPr preferRelativeResize="0"/>
          <p:nvPr/>
        </p:nvPicPr>
        <p:blipFill rotWithShape="1">
          <a:blip r:embed="rId2">
            <a:alphaModFix/>
          </a:blip>
          <a:srcRect b="0" l="0" r="0" t="0"/>
          <a:stretch/>
        </p:blipFill>
        <p:spPr>
          <a:xfrm>
            <a:off x="-2" y="6466115"/>
            <a:ext cx="12204000" cy="108000"/>
          </a:xfrm>
          <a:prstGeom prst="rect">
            <a:avLst/>
          </a:prstGeom>
          <a:noFill/>
          <a:ln>
            <a:noFill/>
          </a:ln>
        </p:spPr>
      </p:pic>
      <p:pic>
        <p:nvPicPr>
          <p:cNvPr id="31" name="Google Shape;31;p13"/>
          <p:cNvPicPr preferRelativeResize="0"/>
          <p:nvPr/>
        </p:nvPicPr>
        <p:blipFill rotWithShape="1">
          <a:blip r:embed="rId3">
            <a:alphaModFix/>
          </a:blip>
          <a:srcRect b="0" l="0" r="0" t="0"/>
          <a:stretch/>
        </p:blipFill>
        <p:spPr>
          <a:xfrm>
            <a:off x="-2" y="1295790"/>
            <a:ext cx="4465320" cy="103523"/>
          </a:xfrm>
          <a:prstGeom prst="rect">
            <a:avLst/>
          </a:prstGeom>
          <a:noFill/>
          <a:ln>
            <a:noFill/>
          </a:ln>
        </p:spPr>
      </p:pic>
      <p:pic>
        <p:nvPicPr>
          <p:cNvPr id="32" name="Google Shape;32;p13"/>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6" name="Google Shape;3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8" name="Google Shape;58;p1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8"/>
          <p:cNvSpPr/>
          <p:nvPr>
            <p:ph idx="2" type="pic"/>
          </p:nvPr>
        </p:nvSpPr>
        <p:spPr>
          <a:xfrm>
            <a:off x="5183188" y="987425"/>
            <a:ext cx="6172200" cy="4873625"/>
          </a:xfrm>
          <a:prstGeom prst="rect">
            <a:avLst/>
          </a:prstGeom>
          <a:noFill/>
          <a:ln>
            <a:noFill/>
          </a:ln>
        </p:spPr>
      </p:sp>
      <p:sp>
        <p:nvSpPr>
          <p:cNvPr id="65" name="Google Shape;65;p1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6" name="Google Shape;66;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 name="Shape 75"/>
        <p:cNvGrpSpPr/>
        <p:nvPr/>
      </p:nvGrpSpPr>
      <p:grpSpPr>
        <a:xfrm>
          <a:off x="0" y="0"/>
          <a:ext cx="0" cy="0"/>
          <a:chOff x="0" y="0"/>
          <a:chExt cx="0" cy="0"/>
        </a:xfrm>
      </p:grpSpPr>
      <p:sp>
        <p:nvSpPr>
          <p:cNvPr id="76" name="Google Shape;76;p2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 name="Google Shape;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 name="Google Shape;1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1"/>
          <p:cNvPicPr preferRelativeResize="0"/>
          <p:nvPr/>
        </p:nvPicPr>
        <p:blipFill rotWithShape="1">
          <a:blip r:embed="rId3">
            <a:alphaModFix/>
          </a:blip>
          <a:srcRect b="0" l="0" r="0" t="0"/>
          <a:stretch/>
        </p:blipFill>
        <p:spPr>
          <a:xfrm>
            <a:off x="3176241" y="2315842"/>
            <a:ext cx="5839519" cy="222631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2"/>
          <p:cNvPicPr preferRelativeResize="0"/>
          <p:nvPr/>
        </p:nvPicPr>
        <p:blipFill rotWithShape="1">
          <a:blip r:embed="rId3">
            <a:alphaModFix/>
          </a:blip>
          <a:srcRect b="0" l="0" r="0" t="0"/>
          <a:stretch/>
        </p:blipFill>
        <p:spPr>
          <a:xfrm>
            <a:off x="894099" y="2592668"/>
            <a:ext cx="4387317" cy="1672665"/>
          </a:xfrm>
          <a:prstGeom prst="rect">
            <a:avLst/>
          </a:prstGeom>
          <a:noFill/>
          <a:ln>
            <a:noFill/>
          </a:ln>
        </p:spPr>
      </p:pic>
      <p:sp>
        <p:nvSpPr>
          <p:cNvPr id="91" name="Google Shape;91;p2"/>
          <p:cNvSpPr/>
          <p:nvPr/>
        </p:nvSpPr>
        <p:spPr>
          <a:xfrm>
            <a:off x="6065574" y="2513226"/>
            <a:ext cx="60852" cy="1851425"/>
          </a:xfrm>
          <a:prstGeom prst="rect">
            <a:avLst/>
          </a:prstGeom>
          <a:solidFill>
            <a:srgbClr val="970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2" name="Google Shape;92;p2"/>
          <p:cNvSpPr txBox="1"/>
          <p:nvPr/>
        </p:nvSpPr>
        <p:spPr>
          <a:xfrm>
            <a:off x="6816256" y="2513226"/>
            <a:ext cx="3971014" cy="617524"/>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700FF"/>
              </a:buClr>
              <a:buSzPts val="2800"/>
              <a:buFont typeface="Arial Narrow"/>
              <a:buNone/>
            </a:pPr>
            <a:r>
              <a:rPr b="1" i="0" lang="en-US" sz="2800" u="none" cap="none" strike="noStrike">
                <a:solidFill>
                  <a:srgbClr val="9700FF"/>
                </a:solidFill>
                <a:latin typeface="Arial Narrow"/>
                <a:ea typeface="Arial Narrow"/>
                <a:cs typeface="Arial Narrow"/>
                <a:sym typeface="Arial Narrow"/>
              </a:rPr>
              <a:t>Feature Engineering</a:t>
            </a:r>
            <a:endParaRPr b="1" i="0" sz="2800" u="none" cap="none" strike="noStrike">
              <a:solidFill>
                <a:srgbClr val="9700FF"/>
              </a:solidFill>
              <a:latin typeface="Arial Narrow"/>
              <a:ea typeface="Arial Narrow"/>
              <a:cs typeface="Arial Narrow"/>
              <a:sym typeface="Arial Narrow"/>
            </a:endParaRPr>
          </a:p>
        </p:txBody>
      </p:sp>
      <p:sp>
        <p:nvSpPr>
          <p:cNvPr id="93" name="Google Shape;93;p2"/>
          <p:cNvSpPr txBox="1"/>
          <p:nvPr/>
        </p:nvSpPr>
        <p:spPr>
          <a:xfrm>
            <a:off x="6910584" y="3193775"/>
            <a:ext cx="3876600" cy="8745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Automated Feature Engineering</a:t>
            </a:r>
            <a:endParaRPr b="1" i="0" sz="2400" u="none" cap="none" strike="noStrike">
              <a:solidFill>
                <a:schemeClr val="dk1"/>
              </a:solidFill>
              <a:latin typeface="Arial"/>
              <a:ea typeface="Arial"/>
              <a:cs typeface="Arial"/>
              <a:sym typeface="Arial"/>
            </a:endParaRPr>
          </a:p>
        </p:txBody>
      </p:sp>
      <p:sp>
        <p:nvSpPr>
          <p:cNvPr id="94" name="Google Shape;94;p2"/>
          <p:cNvSpPr txBox="1"/>
          <p:nvPr/>
        </p:nvSpPr>
        <p:spPr>
          <a:xfrm>
            <a:off x="6910584" y="4119559"/>
            <a:ext cx="3876686" cy="425937"/>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Prof. Anita Ramachandran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g3707f902fe4_0_0"/>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Automated Feature Engineering</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00" name="Google Shape;100;g3707f902fe4_0_0"/>
          <p:cNvSpPr txBox="1"/>
          <p:nvPr/>
        </p:nvSpPr>
        <p:spPr>
          <a:xfrm>
            <a:off x="533400" y="1825625"/>
            <a:ext cx="11323200" cy="43512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100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Introduction</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Feature engineering: The most important step in data science</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Bridges gap between raw data and predictive modeling</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Enables models to learn meaningful patterns</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01" name="Google Shape;101;g3707f902fe4_0_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02" name="Google Shape;102;g3707f902fe4_0_0"/>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103" name="Google Shape;103;g3707f902fe4_0_0"/>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3708268c0a4_0_0"/>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Automated Feature Engineering</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09" name="Google Shape;109;g3708268c0a4_0_0"/>
          <p:cNvSpPr txBox="1"/>
          <p:nvPr/>
        </p:nvSpPr>
        <p:spPr>
          <a:xfrm>
            <a:off x="440400" y="184907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0"/>
              </a:spcBef>
              <a:spcAft>
                <a:spcPts val="0"/>
              </a:spcAft>
              <a:buClr>
                <a:srgbClr val="000000"/>
              </a:buClr>
              <a:buSzPts val="2220"/>
              <a:buFont typeface="Arial"/>
              <a:buNone/>
            </a:pPr>
            <a:r>
              <a:rPr b="0" i="0" lang="en-US" sz="2420" u="none" cap="none" strike="noStrike">
                <a:solidFill>
                  <a:schemeClr val="dk1"/>
                </a:solidFill>
                <a:latin typeface="Arial"/>
                <a:ea typeface="Arial"/>
                <a:cs typeface="Arial"/>
                <a:sym typeface="Arial"/>
              </a:rPr>
              <a:t>Introduction</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220"/>
              <a:buFont typeface="Arial"/>
              <a:buNone/>
            </a:pPr>
            <a:r>
              <a:t/>
            </a:r>
            <a:endParaRPr b="0" i="0" sz="2420" u="none" cap="none" strike="noStrike">
              <a:solidFill>
                <a:schemeClr val="dk1"/>
              </a:solidFill>
              <a:latin typeface="Arial"/>
              <a:ea typeface="Arial"/>
              <a:cs typeface="Arial"/>
              <a:sym typeface="Arial"/>
            </a:endParaRPr>
          </a:p>
          <a:p>
            <a:pPr indent="-382270" lvl="0" marL="457200" marR="0" rtl="0" algn="l">
              <a:lnSpc>
                <a:spcPct val="70000"/>
              </a:lnSpc>
              <a:spcBef>
                <a:spcPts val="0"/>
              </a:spcBef>
              <a:spcAft>
                <a:spcPts val="0"/>
              </a:spcAft>
              <a:buClr>
                <a:schemeClr val="dk1"/>
              </a:buClr>
              <a:buSzPts val="2420"/>
              <a:buFont typeface="Arial"/>
              <a:buChar char="●"/>
            </a:pPr>
            <a:r>
              <a:rPr b="0" i="0" lang="en-US" sz="2420" u="none" cap="none" strike="noStrike">
                <a:solidFill>
                  <a:schemeClr val="dk1"/>
                </a:solidFill>
                <a:latin typeface="Arial"/>
                <a:ea typeface="Arial"/>
                <a:cs typeface="Arial"/>
                <a:sym typeface="Arial"/>
              </a:rPr>
              <a:t>Traditional feature engineering: Manual, relies on domain expertise</a:t>
            </a:r>
            <a:endParaRPr b="0" i="0" sz="242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1018"/>
              <a:buFont typeface="Arial"/>
              <a:buNone/>
            </a:pPr>
            <a:r>
              <a:t/>
            </a:r>
            <a:endParaRPr b="0" i="0" sz="2420" u="none" cap="none" strike="noStrike">
              <a:solidFill>
                <a:schemeClr val="dk1"/>
              </a:solidFill>
              <a:latin typeface="Arial"/>
              <a:ea typeface="Arial"/>
              <a:cs typeface="Arial"/>
              <a:sym typeface="Arial"/>
            </a:endParaRPr>
          </a:p>
          <a:p>
            <a:pPr indent="-382270" lvl="0" marL="457200" marR="0" rtl="0" algn="l">
              <a:lnSpc>
                <a:spcPct val="70000"/>
              </a:lnSpc>
              <a:spcBef>
                <a:spcPts val="0"/>
              </a:spcBef>
              <a:spcAft>
                <a:spcPts val="0"/>
              </a:spcAft>
              <a:buClr>
                <a:schemeClr val="dk1"/>
              </a:buClr>
              <a:buSzPts val="2420"/>
              <a:buFont typeface="Arial"/>
              <a:buChar char="●"/>
            </a:pPr>
            <a:r>
              <a:rPr b="0" i="0" lang="en-US" sz="2420" u="none" cap="none" strike="noStrike">
                <a:solidFill>
                  <a:schemeClr val="dk1"/>
                </a:solidFill>
                <a:latin typeface="Arial"/>
                <a:ea typeface="Arial"/>
                <a:cs typeface="Arial"/>
                <a:sym typeface="Arial"/>
              </a:rPr>
              <a:t>Challenges: Increasing data complexity and volume</a:t>
            </a:r>
            <a:endParaRPr b="0" i="0" sz="242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1018"/>
              <a:buFont typeface="Arial"/>
              <a:buNone/>
            </a:pPr>
            <a:r>
              <a:t/>
            </a:r>
            <a:endParaRPr b="0" i="0" sz="2420" u="none" cap="none" strike="noStrike">
              <a:solidFill>
                <a:schemeClr val="dk1"/>
              </a:solidFill>
              <a:latin typeface="Arial"/>
              <a:ea typeface="Arial"/>
              <a:cs typeface="Arial"/>
              <a:sym typeface="Arial"/>
            </a:endParaRPr>
          </a:p>
          <a:p>
            <a:pPr indent="-382270" lvl="0" marL="457200" marR="0" rtl="0" algn="l">
              <a:lnSpc>
                <a:spcPct val="70000"/>
              </a:lnSpc>
              <a:spcBef>
                <a:spcPts val="0"/>
              </a:spcBef>
              <a:spcAft>
                <a:spcPts val="0"/>
              </a:spcAft>
              <a:buClr>
                <a:schemeClr val="dk1"/>
              </a:buClr>
              <a:buSzPts val="2420"/>
              <a:buFont typeface="Arial"/>
              <a:buChar char="●"/>
            </a:pPr>
            <a:r>
              <a:rPr b="0" i="0" lang="en-US" sz="2420" u="none" cap="none" strike="noStrike">
                <a:solidFill>
                  <a:schemeClr val="dk1"/>
                </a:solidFill>
                <a:latin typeface="Arial"/>
                <a:ea typeface="Arial"/>
                <a:cs typeface="Arial"/>
                <a:sym typeface="Arial"/>
              </a:rPr>
              <a:t>Automated Feature Engineering (AutoFE): Systematically transforms raw data into predictive variables</a:t>
            </a:r>
            <a:endParaRPr b="0" i="0" sz="242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1018"/>
              <a:buFont typeface="Arial"/>
              <a:buNone/>
            </a:pPr>
            <a:r>
              <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220"/>
              <a:buFont typeface="Arial"/>
              <a:buNone/>
            </a:pPr>
            <a:r>
              <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220"/>
              <a:buFont typeface="Arial"/>
              <a:buNone/>
            </a:pPr>
            <a:r>
              <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220"/>
              <a:buFont typeface="Arial"/>
              <a:buNone/>
            </a:pPr>
            <a:r>
              <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220"/>
              <a:buFont typeface="Arial"/>
              <a:buNone/>
            </a:pPr>
            <a:r>
              <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220"/>
              <a:buFont typeface="Arial"/>
              <a:buNone/>
            </a:pPr>
            <a:r>
              <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220"/>
              <a:buFont typeface="Arial"/>
              <a:buNone/>
            </a:pPr>
            <a:r>
              <a:t/>
            </a:r>
            <a:endParaRPr b="0" i="0" sz="242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220"/>
              <a:buFont typeface="Arial"/>
              <a:buNone/>
            </a:pPr>
            <a:r>
              <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220"/>
              <a:buFont typeface="Arial"/>
              <a:buNone/>
            </a:pPr>
            <a:r>
              <a:t/>
            </a:r>
            <a:endParaRPr b="0" i="0" sz="2420" u="none" cap="none" strike="noStrike">
              <a:solidFill>
                <a:schemeClr val="dk1"/>
              </a:solidFill>
              <a:latin typeface="Arial"/>
              <a:ea typeface="Arial"/>
              <a:cs typeface="Arial"/>
              <a:sym typeface="Arial"/>
            </a:endParaRPr>
          </a:p>
        </p:txBody>
      </p:sp>
      <p:pic>
        <p:nvPicPr>
          <p:cNvPr id="110" name="Google Shape;110;g3708268c0a4_0_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11" name="Google Shape;111;g3708268c0a4_0_0"/>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112" name="Google Shape;112;g3708268c0a4_0_0"/>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37084f751b1_0_0"/>
          <p:cNvSpPr txBox="1"/>
          <p:nvPr/>
        </p:nvSpPr>
        <p:spPr>
          <a:xfrm>
            <a:off x="441960" y="4260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Automated Feature Engineering</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18" name="Google Shape;118;g37084f751b1_0_0"/>
          <p:cNvSpPr txBox="1"/>
          <p:nvPr/>
        </p:nvSpPr>
        <p:spPr>
          <a:xfrm>
            <a:off x="434400" y="1862750"/>
            <a:ext cx="11323200" cy="43512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AutoFE Techniques Automate</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Feature Creation: Generating new features based on data relationships</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Feature Selection: Identifying the most relevant subset of features</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Feature Ranking: Quantifying importance of each feature</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19" name="Google Shape;119;g37084f751b1_0_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20" name="Google Shape;120;g37084f751b1_0_0"/>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121" name="Google Shape;121;g37084f751b1_0_0"/>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7084f751b1_0_8"/>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Automated Feature Engineering</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27" name="Google Shape;127;g37084f751b1_0_8"/>
          <p:cNvSpPr txBox="1"/>
          <p:nvPr/>
        </p:nvSpPr>
        <p:spPr>
          <a:xfrm>
            <a:off x="533525"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2220"/>
              <a:buFont typeface="Arial"/>
              <a:buNone/>
            </a:pPr>
            <a:r>
              <a:rPr b="0" i="0" lang="en-US" sz="2420" u="none" cap="none" strike="noStrike">
                <a:solidFill>
                  <a:schemeClr val="dk1"/>
                </a:solidFill>
                <a:latin typeface="Arial"/>
                <a:ea typeface="Arial"/>
                <a:cs typeface="Arial"/>
                <a:sym typeface="Arial"/>
              </a:rPr>
              <a:t>Use Case: Predicting ICU Readmissions</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1018"/>
              <a:buFont typeface="Arial"/>
              <a:buNone/>
            </a:pPr>
            <a:r>
              <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20"/>
              <a:buFont typeface="Arial"/>
              <a:buNone/>
            </a:pPr>
            <a:r>
              <a:rPr b="0" i="0" lang="en-US" sz="2420" u="none" cap="none" strike="noStrike">
                <a:solidFill>
                  <a:schemeClr val="dk1"/>
                </a:solidFill>
                <a:latin typeface="Arial"/>
                <a:ea typeface="Arial"/>
                <a:cs typeface="Arial"/>
                <a:sym typeface="Arial"/>
              </a:rPr>
              <a:t>Problem: Hospital data across multiple tables</a:t>
            </a:r>
            <a:endParaRPr b="0" i="0" sz="2420" u="none" cap="none" strike="noStrike">
              <a:solidFill>
                <a:schemeClr val="dk1"/>
              </a:solidFill>
              <a:latin typeface="Arial"/>
              <a:ea typeface="Arial"/>
              <a:cs typeface="Arial"/>
              <a:sym typeface="Arial"/>
            </a:endParaRPr>
          </a:p>
          <a:p>
            <a:pPr indent="-382270" lvl="0" marL="457200" marR="0" rtl="0" algn="l">
              <a:lnSpc>
                <a:spcPct val="70000"/>
              </a:lnSpc>
              <a:spcBef>
                <a:spcPts val="1000"/>
              </a:spcBef>
              <a:spcAft>
                <a:spcPts val="0"/>
              </a:spcAft>
              <a:buClr>
                <a:schemeClr val="dk1"/>
              </a:buClr>
              <a:buSzPts val="2420"/>
              <a:buFont typeface="Arial"/>
              <a:buChar char="●"/>
            </a:pPr>
            <a:r>
              <a:rPr b="0" i="0" lang="en-US" sz="2420" u="none" cap="none" strike="noStrike">
                <a:solidFill>
                  <a:schemeClr val="dk1"/>
                </a:solidFill>
                <a:latin typeface="Arial"/>
                <a:ea typeface="Arial"/>
                <a:cs typeface="Arial"/>
                <a:sym typeface="Arial"/>
              </a:rPr>
              <a:t>Patient demographics, diagnoses, lab tests, medications, outcomes</a:t>
            </a:r>
            <a:endParaRPr b="0" i="0" sz="242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20"/>
              <a:buFont typeface="Arial"/>
              <a:buNone/>
            </a:pPr>
            <a:r>
              <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20"/>
              <a:buFont typeface="Arial"/>
              <a:buNone/>
            </a:pPr>
            <a:r>
              <a:rPr b="0" i="0" lang="en-US" sz="2420" u="none" cap="none" strike="noStrike">
                <a:solidFill>
                  <a:schemeClr val="dk1"/>
                </a:solidFill>
                <a:latin typeface="Arial"/>
                <a:ea typeface="Arial"/>
                <a:cs typeface="Arial"/>
                <a:sym typeface="Arial"/>
              </a:rPr>
              <a:t>Goal: Predict ICU readmissions using this data</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20"/>
              <a:buFont typeface="Arial"/>
              <a:buNone/>
            </a:pPr>
            <a:r>
              <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20"/>
              <a:buFont typeface="Arial"/>
              <a:buNone/>
            </a:pPr>
            <a:r>
              <a:rPr b="0" i="0" lang="en-US" sz="2420" u="none" cap="none" strike="noStrike">
                <a:solidFill>
                  <a:schemeClr val="dk1"/>
                </a:solidFill>
                <a:latin typeface="Arial"/>
                <a:ea typeface="Arial"/>
                <a:cs typeface="Arial"/>
                <a:sym typeface="Arial"/>
              </a:rPr>
              <a:t>Challenge: Manually constructing feature combinations is time-consuming and error-prone</a:t>
            </a:r>
            <a:endParaRPr b="0" i="0" sz="2420" u="none" cap="none" strike="noStrike">
              <a:solidFill>
                <a:schemeClr val="dk1"/>
              </a:solidFill>
              <a:latin typeface="Arial"/>
              <a:ea typeface="Arial"/>
              <a:cs typeface="Arial"/>
              <a:sym typeface="Arial"/>
            </a:endParaRPr>
          </a:p>
          <a:p>
            <a:pPr indent="-382270" lvl="0" marL="457200" marR="0" rtl="0" algn="l">
              <a:lnSpc>
                <a:spcPct val="70000"/>
              </a:lnSpc>
              <a:spcBef>
                <a:spcPts val="1000"/>
              </a:spcBef>
              <a:spcAft>
                <a:spcPts val="0"/>
              </a:spcAft>
              <a:buClr>
                <a:schemeClr val="dk1"/>
              </a:buClr>
              <a:buSzPts val="2420"/>
              <a:buFont typeface="Arial"/>
              <a:buChar char="●"/>
            </a:pPr>
            <a:r>
              <a:rPr b="0" i="0" lang="en-US" sz="2420" u="none" cap="none" strike="noStrike">
                <a:solidFill>
                  <a:schemeClr val="dk1"/>
                </a:solidFill>
                <a:latin typeface="Arial"/>
                <a:ea typeface="Arial"/>
                <a:cs typeface="Arial"/>
                <a:sym typeface="Arial"/>
              </a:rPr>
              <a:t>E.g., average heart rate before discharge, number of diagnoses per stay</a:t>
            </a:r>
            <a:endParaRPr b="0" i="0" sz="242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20"/>
              <a:buFont typeface="Arial"/>
              <a:buNone/>
            </a:pPr>
            <a:r>
              <a:t/>
            </a:r>
            <a:endParaRPr b="0" i="0" sz="242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1018"/>
              <a:buFont typeface="Arial"/>
              <a:buNone/>
            </a:pPr>
            <a:r>
              <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1018"/>
              <a:buFont typeface="Arial"/>
              <a:buNone/>
            </a:pPr>
            <a:r>
              <a:t/>
            </a:r>
            <a:endParaRPr b="0" i="0" sz="242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1018"/>
              <a:buFont typeface="Arial"/>
              <a:buNone/>
            </a:pPr>
            <a:r>
              <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220"/>
              <a:buFont typeface="Arial"/>
              <a:buNone/>
            </a:pPr>
            <a:r>
              <a:t/>
            </a:r>
            <a:endParaRPr b="0" i="0" sz="2420" u="none" cap="none" strike="noStrike">
              <a:solidFill>
                <a:schemeClr val="dk1"/>
              </a:solidFill>
              <a:latin typeface="Arial"/>
              <a:ea typeface="Arial"/>
              <a:cs typeface="Arial"/>
              <a:sym typeface="Arial"/>
            </a:endParaRPr>
          </a:p>
        </p:txBody>
      </p:sp>
      <p:pic>
        <p:nvPicPr>
          <p:cNvPr id="128" name="Google Shape;128;g37084f751b1_0_8"/>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29" name="Google Shape;129;g37084f751b1_0_8"/>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130" name="Google Shape;130;g37084f751b1_0_8"/>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37084f751b1_0_16"/>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Automated Feature Engineering</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36" name="Google Shape;136;g37084f751b1_0_16"/>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2040"/>
              <a:buFont typeface="Arial"/>
              <a:buNone/>
            </a:pPr>
            <a:r>
              <a:rPr b="0" i="0" lang="en-US" sz="2440" u="none" cap="none" strike="noStrike">
                <a:solidFill>
                  <a:schemeClr val="dk1"/>
                </a:solidFill>
                <a:latin typeface="Arial"/>
                <a:ea typeface="Arial"/>
                <a:cs typeface="Arial"/>
                <a:sym typeface="Arial"/>
              </a:rPr>
              <a:t>Use Case: Predicting ICU Readmissions (Solution)</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rPr b="0" i="0" lang="en-US" sz="2440" u="none" cap="none" strike="noStrike">
                <a:solidFill>
                  <a:schemeClr val="dk1"/>
                </a:solidFill>
                <a:latin typeface="Arial"/>
                <a:ea typeface="Arial"/>
                <a:cs typeface="Arial"/>
                <a:sym typeface="Arial"/>
              </a:rPr>
              <a:t>Solution: Automated Feature Engineering can:</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Join relational tables based on foreign keys</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40"/>
              <a:buFont typeface="Arial"/>
              <a:buNone/>
            </a:pPr>
            <a:r>
              <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Automatically generate statistical and semantic feature</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40"/>
              <a:buFont typeface="Arial"/>
              <a:buNone/>
            </a:pPr>
            <a:r>
              <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Select only relevant variables for modeling</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935"/>
              <a:buFont typeface="Arial"/>
              <a:buNone/>
            </a:pPr>
            <a:r>
              <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040"/>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040"/>
              <a:buFont typeface="Arial"/>
              <a:buNone/>
            </a:pPr>
            <a:r>
              <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040"/>
              <a:buFont typeface="Arial"/>
              <a:buNone/>
            </a:pPr>
            <a:r>
              <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chemeClr val="dk1"/>
              </a:buClr>
              <a:buSzPts val="935"/>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t/>
            </a:r>
            <a:endParaRPr b="0" i="0" sz="2440" u="none" cap="none" strike="noStrike">
              <a:solidFill>
                <a:schemeClr val="dk1"/>
              </a:solidFill>
              <a:latin typeface="Arial"/>
              <a:ea typeface="Arial"/>
              <a:cs typeface="Arial"/>
              <a:sym typeface="Arial"/>
            </a:endParaRPr>
          </a:p>
        </p:txBody>
      </p:sp>
      <p:pic>
        <p:nvPicPr>
          <p:cNvPr id="137" name="Google Shape;137;g37084f751b1_0_16"/>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38" name="Google Shape;138;g37084f751b1_0_16"/>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139" name="Google Shape;139;g37084f751b1_0_16"/>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7084f751b1_0_24"/>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Major Tools in Automated Feature Engineering</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45" name="Google Shape;145;g37084f751b1_0_24"/>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Featuretools: Deep Feature Synthesis (DFS) - Objective</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Objective: Automatically generate features from relational or transactional data</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chemeClr val="dk1"/>
              </a:buClr>
              <a:buSzPts val="11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46" name="Google Shape;146;g37084f751b1_0_24"/>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47" name="Google Shape;147;g37084f751b1_0_24"/>
          <p:cNvPicPr preferRelativeResize="0"/>
          <p:nvPr/>
        </p:nvPicPr>
        <p:blipFill rotWithShape="1">
          <a:blip r:embed="rId4">
            <a:alphaModFix/>
          </a:blip>
          <a:srcRect b="0" l="0" r="0" t="0"/>
          <a:stretch/>
        </p:blipFill>
        <p:spPr>
          <a:xfrm>
            <a:off x="-2" y="1722090"/>
            <a:ext cx="4465321" cy="103523"/>
          </a:xfrm>
          <a:prstGeom prst="rect">
            <a:avLst/>
          </a:prstGeom>
          <a:noFill/>
          <a:ln>
            <a:noFill/>
          </a:ln>
        </p:spPr>
      </p:pic>
      <p:pic>
        <p:nvPicPr>
          <p:cNvPr id="148" name="Google Shape;148;g37084f751b1_0_24"/>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Major Tools in Automated Feature Engineering</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54" name="Google Shape;154;g37084f751b1_0_32"/>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2040"/>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rPr b="0" i="0" lang="en-US" sz="2440" u="none" cap="none" strike="noStrike">
                <a:solidFill>
                  <a:schemeClr val="dk1"/>
                </a:solidFill>
                <a:latin typeface="Arial"/>
                <a:ea typeface="Arial"/>
                <a:cs typeface="Arial"/>
                <a:sym typeface="Arial"/>
              </a:rPr>
              <a:t>Featuretools: Deep Feature Synthesis (DFS) - Core Concepts</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40"/>
              <a:buFont typeface="Arial"/>
              <a:buNone/>
            </a:pPr>
            <a:r>
              <a:rPr b="0" i="0" lang="en-US" sz="2440" u="none" cap="none" strike="noStrike">
                <a:solidFill>
                  <a:schemeClr val="dk1"/>
                </a:solidFill>
                <a:latin typeface="Arial"/>
                <a:ea typeface="Arial"/>
                <a:cs typeface="Arial"/>
                <a:sym typeface="Arial"/>
              </a:rPr>
              <a:t>EntitySet: Structured collection of related tables</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100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E.g., patients, visits, lab tests</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40"/>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40"/>
              <a:buFont typeface="Arial"/>
              <a:buNone/>
            </a:pPr>
            <a:r>
              <a:rPr b="0" i="0" lang="en-US" sz="2440" u="none" cap="none" strike="noStrike">
                <a:solidFill>
                  <a:schemeClr val="dk1"/>
                </a:solidFill>
                <a:latin typeface="Arial"/>
                <a:ea typeface="Arial"/>
                <a:cs typeface="Arial"/>
                <a:sym typeface="Arial"/>
              </a:rPr>
              <a:t>Deep Feature Synthesis (DFS): Composes features by recursively applying transformation and aggregation primitives over relationships</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40"/>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40"/>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t/>
            </a:r>
            <a:endParaRPr b="0" i="0" sz="2440" u="none" cap="none" strike="noStrike">
              <a:solidFill>
                <a:schemeClr val="dk1"/>
              </a:solidFill>
              <a:latin typeface="Arial"/>
              <a:ea typeface="Arial"/>
              <a:cs typeface="Arial"/>
              <a:sym typeface="Arial"/>
            </a:endParaRPr>
          </a:p>
        </p:txBody>
      </p:sp>
      <p:pic>
        <p:nvPicPr>
          <p:cNvPr id="155" name="Google Shape;155;g37084f751b1_0_32"/>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157" name="Google Shape;157;g37084f751b1_0_32"/>
          <p:cNvPicPr preferRelativeResize="0"/>
          <p:nvPr/>
        </p:nvPicPr>
        <p:blipFill rotWithShape="1">
          <a:blip r:embed="rId5">
            <a:alphaModFix/>
          </a:blip>
          <a:srcRect b="0" l="0" r="0" t="0"/>
          <a:stretch/>
        </p:blipFill>
        <p:spPr>
          <a:xfrm>
            <a:off x="-2" y="1722090"/>
            <a:ext cx="4465321" cy="10352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37084f751b1_0_40"/>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Major Tools in Automated Feature Engineering</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63" name="Google Shape;163;g37084f751b1_0_40"/>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2220"/>
              <a:buFont typeface="Arial"/>
              <a:buNone/>
            </a:pPr>
            <a:r>
              <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220"/>
              <a:buFont typeface="Arial"/>
              <a:buNone/>
            </a:pPr>
            <a:r>
              <a:rPr b="0" i="0" lang="en-US" sz="2420" u="none" cap="none" strike="noStrike">
                <a:solidFill>
                  <a:schemeClr val="dk1"/>
                </a:solidFill>
                <a:latin typeface="Arial"/>
                <a:ea typeface="Arial"/>
                <a:cs typeface="Arial"/>
                <a:sym typeface="Arial"/>
              </a:rPr>
              <a:t>Featuretools: DFS - Types of Primitives</a:t>
            </a:r>
            <a:br>
              <a:rPr b="0" i="0" lang="en-US" sz="2420" u="none" cap="none" strike="noStrike">
                <a:solidFill>
                  <a:schemeClr val="dk1"/>
                </a:solidFill>
                <a:latin typeface="Arial"/>
                <a:ea typeface="Arial"/>
                <a:cs typeface="Arial"/>
                <a:sym typeface="Arial"/>
              </a:rPr>
            </a:br>
            <a:br>
              <a:rPr b="0" i="0" lang="en-US" sz="2420" u="none" cap="none" strike="noStrike">
                <a:solidFill>
                  <a:schemeClr val="dk1"/>
                </a:solidFill>
                <a:latin typeface="Arial"/>
                <a:ea typeface="Arial"/>
                <a:cs typeface="Arial"/>
                <a:sym typeface="Arial"/>
              </a:rPr>
            </a:br>
            <a:r>
              <a:rPr b="0" i="0" lang="en-US" sz="2420" u="none" cap="none" strike="noStrike">
                <a:solidFill>
                  <a:schemeClr val="dk1"/>
                </a:solidFill>
                <a:latin typeface="Arial"/>
                <a:ea typeface="Arial"/>
                <a:cs typeface="Arial"/>
                <a:sym typeface="Arial"/>
              </a:rPr>
              <a:t>Aggregation Primitives:</a:t>
            </a:r>
            <a:endParaRPr b="0" i="0" sz="2420" u="none" cap="none" strike="noStrike">
              <a:solidFill>
                <a:schemeClr val="dk1"/>
              </a:solidFill>
              <a:latin typeface="Arial"/>
              <a:ea typeface="Arial"/>
              <a:cs typeface="Arial"/>
              <a:sym typeface="Arial"/>
            </a:endParaRPr>
          </a:p>
          <a:p>
            <a:pPr indent="-382270" lvl="0" marL="457200" marR="0" rtl="0" algn="l">
              <a:lnSpc>
                <a:spcPct val="70000"/>
              </a:lnSpc>
              <a:spcBef>
                <a:spcPts val="1000"/>
              </a:spcBef>
              <a:spcAft>
                <a:spcPts val="0"/>
              </a:spcAft>
              <a:buClr>
                <a:schemeClr val="dk1"/>
              </a:buClr>
              <a:buSzPts val="2420"/>
              <a:buFont typeface="Arial"/>
              <a:buChar char="●"/>
            </a:pPr>
            <a:r>
              <a:rPr b="0" i="0" lang="en-US" sz="2420" u="none" cap="none" strike="noStrike">
                <a:solidFill>
                  <a:schemeClr val="dk1"/>
                </a:solidFill>
                <a:latin typeface="Arial"/>
                <a:ea typeface="Arial"/>
                <a:cs typeface="Arial"/>
                <a:sym typeface="Arial"/>
              </a:rPr>
              <a:t>Count, Mean, Sum, Standard Deviation</a:t>
            </a:r>
            <a:endParaRPr b="0" i="0" sz="2420" u="none" cap="none" strike="noStrike">
              <a:solidFill>
                <a:schemeClr val="dk1"/>
              </a:solidFill>
              <a:latin typeface="Arial"/>
              <a:ea typeface="Arial"/>
              <a:cs typeface="Arial"/>
              <a:sym typeface="Arial"/>
            </a:endParaRPr>
          </a:p>
          <a:p>
            <a:pPr indent="-382270" lvl="0" marL="457200" marR="0" rtl="0" algn="l">
              <a:lnSpc>
                <a:spcPct val="70000"/>
              </a:lnSpc>
              <a:spcBef>
                <a:spcPts val="0"/>
              </a:spcBef>
              <a:spcAft>
                <a:spcPts val="0"/>
              </a:spcAft>
              <a:buClr>
                <a:schemeClr val="dk1"/>
              </a:buClr>
              <a:buSzPts val="2420"/>
              <a:buFont typeface="Arial"/>
              <a:buChar char="●"/>
            </a:pPr>
            <a:r>
              <a:rPr b="0" i="0" lang="en-US" sz="2420" u="none" cap="none" strike="noStrike">
                <a:solidFill>
                  <a:schemeClr val="dk1"/>
                </a:solidFill>
                <a:latin typeface="Arial"/>
                <a:ea typeface="Arial"/>
                <a:cs typeface="Arial"/>
                <a:sym typeface="Arial"/>
              </a:rPr>
              <a:t>Example: "Average length of stay per patient"</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220"/>
              <a:buFont typeface="Arial"/>
              <a:buNone/>
            </a:pPr>
            <a:r>
              <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220"/>
              <a:buFont typeface="Arial"/>
              <a:buNone/>
            </a:pPr>
            <a:r>
              <a:rPr b="0" i="0" lang="en-US" sz="2420" u="none" cap="none" strike="noStrike">
                <a:solidFill>
                  <a:schemeClr val="dk1"/>
                </a:solidFill>
                <a:latin typeface="Arial"/>
                <a:ea typeface="Arial"/>
                <a:cs typeface="Arial"/>
                <a:sym typeface="Arial"/>
              </a:rPr>
              <a:t>Transformation Primitives:</a:t>
            </a:r>
            <a:endParaRPr b="0" i="0" sz="2420" u="none" cap="none" strike="noStrike">
              <a:solidFill>
                <a:schemeClr val="dk1"/>
              </a:solidFill>
              <a:latin typeface="Arial"/>
              <a:ea typeface="Arial"/>
              <a:cs typeface="Arial"/>
              <a:sym typeface="Arial"/>
            </a:endParaRPr>
          </a:p>
          <a:p>
            <a:pPr indent="-382270" lvl="0" marL="457200" marR="0" rtl="0" algn="l">
              <a:lnSpc>
                <a:spcPct val="70000"/>
              </a:lnSpc>
              <a:spcBef>
                <a:spcPts val="0"/>
              </a:spcBef>
              <a:spcAft>
                <a:spcPts val="0"/>
              </a:spcAft>
              <a:buClr>
                <a:schemeClr val="dk1"/>
              </a:buClr>
              <a:buSzPts val="2420"/>
              <a:buFont typeface="Arial"/>
              <a:buChar char="●"/>
            </a:pPr>
            <a:r>
              <a:rPr b="0" i="0" lang="en-US" sz="2420" u="none" cap="none" strike="noStrike">
                <a:solidFill>
                  <a:schemeClr val="dk1"/>
                </a:solidFill>
                <a:latin typeface="Arial"/>
                <a:ea typeface="Arial"/>
                <a:cs typeface="Arial"/>
                <a:sym typeface="Arial"/>
              </a:rPr>
              <a:t>Date part extraction, Difference, Ratio</a:t>
            </a:r>
            <a:endParaRPr b="0" i="0" sz="2420" u="none" cap="none" strike="noStrike">
              <a:solidFill>
                <a:schemeClr val="dk1"/>
              </a:solidFill>
              <a:latin typeface="Arial"/>
              <a:ea typeface="Arial"/>
              <a:cs typeface="Arial"/>
              <a:sym typeface="Arial"/>
            </a:endParaRPr>
          </a:p>
          <a:p>
            <a:pPr indent="-382270" lvl="0" marL="457200" marR="0" rtl="0" algn="l">
              <a:lnSpc>
                <a:spcPct val="70000"/>
              </a:lnSpc>
              <a:spcBef>
                <a:spcPts val="0"/>
              </a:spcBef>
              <a:spcAft>
                <a:spcPts val="0"/>
              </a:spcAft>
              <a:buClr>
                <a:schemeClr val="dk1"/>
              </a:buClr>
              <a:buSzPts val="2420"/>
              <a:buFont typeface="Arial"/>
              <a:buChar char="●"/>
            </a:pPr>
            <a:r>
              <a:rPr b="0" i="0" lang="en-US" sz="2420" u="none" cap="none" strike="noStrike">
                <a:solidFill>
                  <a:schemeClr val="dk1"/>
                </a:solidFill>
                <a:latin typeface="Arial"/>
                <a:ea typeface="Arial"/>
                <a:cs typeface="Arial"/>
                <a:sym typeface="Arial"/>
              </a:rPr>
              <a:t>Example: "Time since last admission"</a:t>
            </a:r>
            <a:endParaRPr b="0" i="0" sz="242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20"/>
              <a:buFont typeface="Arial"/>
              <a:buNone/>
            </a:pPr>
            <a:r>
              <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220"/>
              <a:buFont typeface="Arial"/>
              <a:buNone/>
            </a:pPr>
            <a:r>
              <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220"/>
              <a:buFont typeface="Arial"/>
              <a:buNone/>
            </a:pPr>
            <a:r>
              <a:t/>
            </a:r>
            <a:endParaRPr b="0" i="0" sz="242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220"/>
              <a:buFont typeface="Arial"/>
              <a:buNone/>
            </a:pPr>
            <a:r>
              <a:t/>
            </a:r>
            <a:endParaRPr b="0" i="0" sz="2420" u="none" cap="none" strike="noStrike">
              <a:solidFill>
                <a:schemeClr val="dk1"/>
              </a:solidFill>
              <a:latin typeface="Arial"/>
              <a:ea typeface="Arial"/>
              <a:cs typeface="Arial"/>
              <a:sym typeface="Arial"/>
            </a:endParaRPr>
          </a:p>
        </p:txBody>
      </p:sp>
      <p:pic>
        <p:nvPicPr>
          <p:cNvPr id="164" name="Google Shape;164;g37084f751b1_0_4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65" name="Google Shape;165;g37084f751b1_0_40"/>
          <p:cNvPicPr preferRelativeResize="0"/>
          <p:nvPr/>
        </p:nvPicPr>
        <p:blipFill rotWithShape="1">
          <a:blip r:embed="rId4">
            <a:alphaModFix/>
          </a:blip>
          <a:srcRect b="0" l="0" r="0" t="0"/>
          <a:stretch/>
        </p:blipFill>
        <p:spPr>
          <a:xfrm>
            <a:off x="-2" y="1722090"/>
            <a:ext cx="4465321" cy="103523"/>
          </a:xfrm>
          <a:prstGeom prst="rect">
            <a:avLst/>
          </a:prstGeom>
          <a:noFill/>
          <a:ln>
            <a:noFill/>
          </a:ln>
        </p:spPr>
      </p:pic>
      <p:pic>
        <p:nvPicPr>
          <p:cNvPr id="166" name="Google Shape;166;g37084f751b1_0_40"/>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37084f751b1_0_48"/>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Major Tools in Automated Feature Engineering</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72" name="Google Shape;172;g37084f751b1_0_48"/>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68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680"/>
              <a:buFont typeface="Arial"/>
              <a:buNone/>
            </a:pPr>
            <a:r>
              <a:rPr b="0" i="0" lang="en-US" sz="2400" u="none" cap="none" strike="noStrike">
                <a:solidFill>
                  <a:schemeClr val="dk1"/>
                </a:solidFill>
                <a:latin typeface="Arial"/>
                <a:ea typeface="Arial"/>
                <a:cs typeface="Arial"/>
                <a:sym typeface="Arial"/>
              </a:rPr>
              <a:t>Featuretools: DFS - Theoretical Example</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68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680"/>
              <a:buFont typeface="Arial"/>
              <a:buNone/>
            </a:pPr>
            <a:r>
              <a:rPr b="0" i="0" lang="en-US" sz="2400" u="none" cap="none" strike="noStrike">
                <a:solidFill>
                  <a:schemeClr val="dk1"/>
                </a:solidFill>
                <a:latin typeface="Arial"/>
                <a:ea typeface="Arial"/>
                <a:cs typeface="Arial"/>
                <a:sym typeface="Arial"/>
              </a:rPr>
              <a:t>Scenario: Tables for Customers and Orders (with foreign key to Customers)</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68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680"/>
              <a:buFont typeface="Arial"/>
              <a:buNone/>
            </a:pPr>
            <a:r>
              <a:rPr b="0" i="0" lang="en-US" sz="2400" u="none" cap="none" strike="noStrike">
                <a:solidFill>
                  <a:schemeClr val="dk1"/>
                </a:solidFill>
                <a:latin typeface="Arial"/>
                <a:ea typeface="Arial"/>
                <a:cs typeface="Arial"/>
                <a:sym typeface="Arial"/>
              </a:rPr>
              <a:t>Featuretools can automatically generate:</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Total number of orders per customer</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Average time between orders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Most recent order value</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Features constructed by traversing foreign key paths and applying aggregations or transformations.</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68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68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77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168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168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168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chemeClr val="dk1"/>
              </a:buClr>
              <a:buSzPts val="77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680"/>
              <a:buFont typeface="Arial"/>
              <a:buNone/>
            </a:pPr>
            <a:r>
              <a:t/>
            </a:r>
            <a:endParaRPr b="0" i="0" sz="2400" u="none" cap="none" strike="noStrike">
              <a:solidFill>
                <a:schemeClr val="dk1"/>
              </a:solidFill>
              <a:latin typeface="Arial"/>
              <a:ea typeface="Arial"/>
              <a:cs typeface="Arial"/>
              <a:sym typeface="Arial"/>
            </a:endParaRPr>
          </a:p>
        </p:txBody>
      </p:sp>
      <p:pic>
        <p:nvPicPr>
          <p:cNvPr id="173" name="Google Shape;173;g37084f751b1_0_48"/>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74" name="Google Shape;174;g37084f751b1_0_48"/>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175" name="Google Shape;175;g37084f751b1_0_48"/>
          <p:cNvPicPr preferRelativeResize="0"/>
          <p:nvPr/>
        </p:nvPicPr>
        <p:blipFill rotWithShape="1">
          <a:blip r:embed="rId5">
            <a:alphaModFix/>
          </a:blip>
          <a:srcRect b="0" l="0" r="0" t="0"/>
          <a:stretch/>
        </p:blipFill>
        <p:spPr>
          <a:xfrm>
            <a:off x="-2" y="1722090"/>
            <a:ext cx="4465321" cy="10352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7084f751b1_0_56"/>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Major Tools in Automated Feature Engineering</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81" name="Google Shape;181;g37084f751b1_0_56"/>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2040"/>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rPr b="0" i="0" lang="en-US" sz="2440" u="none" cap="none" strike="noStrike">
                <a:solidFill>
                  <a:schemeClr val="dk1"/>
                </a:solidFill>
                <a:latin typeface="Arial"/>
                <a:ea typeface="Arial"/>
                <a:cs typeface="Arial"/>
                <a:sym typeface="Arial"/>
              </a:rPr>
              <a:t>Featuretools: DFS - Strengths</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Excellent for relational databases (e.g., MIMIC-III, e-commerce data)</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40"/>
              <a:buFont typeface="Arial"/>
              <a:buNone/>
            </a:pPr>
            <a:r>
              <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Handles temporal hierarchies and many-to-one relationships</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40"/>
              <a:buFont typeface="Arial"/>
              <a:buNone/>
            </a:pPr>
            <a:r>
              <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Enables interpretability through feature lineage</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40"/>
              <a:buFont typeface="Arial"/>
              <a:buNone/>
            </a:pPr>
            <a:r>
              <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40"/>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t/>
            </a:r>
            <a:endParaRPr b="0" i="0" sz="2440" u="none" cap="none" strike="noStrike">
              <a:solidFill>
                <a:schemeClr val="dk1"/>
              </a:solidFill>
              <a:latin typeface="Arial"/>
              <a:ea typeface="Arial"/>
              <a:cs typeface="Arial"/>
              <a:sym typeface="Arial"/>
            </a:endParaRPr>
          </a:p>
        </p:txBody>
      </p:sp>
      <p:pic>
        <p:nvPicPr>
          <p:cNvPr id="182" name="Google Shape;182;g37084f751b1_0_56"/>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83" name="Google Shape;183;g37084f751b1_0_56"/>
          <p:cNvPicPr preferRelativeResize="0"/>
          <p:nvPr/>
        </p:nvPicPr>
        <p:blipFill rotWithShape="1">
          <a:blip r:embed="rId4">
            <a:alphaModFix/>
          </a:blip>
          <a:srcRect b="0" l="0" r="0" t="0"/>
          <a:stretch/>
        </p:blipFill>
        <p:spPr>
          <a:xfrm>
            <a:off x="-2" y="1722103"/>
            <a:ext cx="4465321" cy="103523"/>
          </a:xfrm>
          <a:prstGeom prst="rect">
            <a:avLst/>
          </a:prstGeom>
          <a:noFill/>
          <a:ln>
            <a:noFill/>
          </a:ln>
        </p:spPr>
      </p:pic>
      <p:pic>
        <p:nvPicPr>
          <p:cNvPr id="184" name="Google Shape;184;g37084f751b1_0_56"/>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37084f751b1_0_64"/>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Major Tools in Automated Feature Engineering</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90" name="Google Shape;190;g37084f751b1_0_64"/>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1860"/>
              <a:buFont typeface="Arial"/>
              <a:buNone/>
            </a:pPr>
            <a:r>
              <a:rPr b="0" i="0" lang="en-US" sz="2400" u="none" cap="none" strike="noStrike">
                <a:solidFill>
                  <a:schemeClr val="dk1"/>
                </a:solidFill>
                <a:latin typeface="Arial"/>
                <a:ea typeface="Arial"/>
                <a:cs typeface="Arial"/>
                <a:sym typeface="Arial"/>
              </a:rPr>
              <a:t>TSFresh: Time-Series Feature Extraction - Objective</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Objective: Extract statistical features from time-series data</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191" name="Google Shape;191;g37084f751b1_0_64"/>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92" name="Google Shape;192;g37084f751b1_0_64"/>
          <p:cNvPicPr preferRelativeResize="0"/>
          <p:nvPr/>
        </p:nvPicPr>
        <p:blipFill rotWithShape="1">
          <a:blip r:embed="rId4">
            <a:alphaModFix/>
          </a:blip>
          <a:srcRect b="0" l="0" r="0" t="0"/>
          <a:stretch/>
        </p:blipFill>
        <p:spPr>
          <a:xfrm>
            <a:off x="-2" y="1722103"/>
            <a:ext cx="4465321" cy="103523"/>
          </a:xfrm>
          <a:prstGeom prst="rect">
            <a:avLst/>
          </a:prstGeom>
          <a:noFill/>
          <a:ln>
            <a:noFill/>
          </a:ln>
        </p:spPr>
      </p:pic>
      <p:pic>
        <p:nvPicPr>
          <p:cNvPr id="193" name="Google Shape;193;g37084f751b1_0_64"/>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7084f751b1_0_72"/>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Major Tools in Automated Feature Engineering</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99" name="Google Shape;199;g37084f751b1_0_72"/>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TSFresh: Time-Series Feature Extraction - Core Concepts</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Automatically generates over 750 features from time-series columns</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Performs relevance filtering using statistical hypothesis testing</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E.g., t-test, ANOVA</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Retains only informative features</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00" name="Google Shape;200;g37084f751b1_0_72"/>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01" name="Google Shape;201;g37084f751b1_0_72"/>
          <p:cNvPicPr preferRelativeResize="0"/>
          <p:nvPr/>
        </p:nvPicPr>
        <p:blipFill rotWithShape="1">
          <a:blip r:embed="rId4">
            <a:alphaModFix/>
          </a:blip>
          <a:srcRect b="0" l="0" r="0" t="0"/>
          <a:stretch/>
        </p:blipFill>
        <p:spPr>
          <a:xfrm>
            <a:off x="-2" y="1722103"/>
            <a:ext cx="4465321" cy="103523"/>
          </a:xfrm>
          <a:prstGeom prst="rect">
            <a:avLst/>
          </a:prstGeom>
          <a:noFill/>
          <a:ln>
            <a:noFill/>
          </a:ln>
        </p:spPr>
      </p:pic>
      <p:pic>
        <p:nvPicPr>
          <p:cNvPr id="202" name="Google Shape;202;g37084f751b1_0_72"/>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7084f751b1_0_80"/>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Major Tools in Automated Feature Engineering</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08" name="Google Shape;208;g37084f751b1_0_80"/>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TSFresh: Time-Series Feature Extraction - Types of Features</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Descriptive statistics: Mean, median, variance, skewness, kurtosis</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Signal properties: Autocorrelation, energy, entropy, FFT coefficients</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Event characteristics: Number of peaks, zero-crossings</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9144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09" name="Google Shape;209;g37084f751b1_0_8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10" name="Google Shape;210;g37084f751b1_0_80"/>
          <p:cNvPicPr preferRelativeResize="0"/>
          <p:nvPr/>
        </p:nvPicPr>
        <p:blipFill rotWithShape="1">
          <a:blip r:embed="rId4">
            <a:alphaModFix/>
          </a:blip>
          <a:srcRect b="0" l="0" r="0" t="0"/>
          <a:stretch/>
        </p:blipFill>
        <p:spPr>
          <a:xfrm>
            <a:off x="-2" y="1722103"/>
            <a:ext cx="4465321" cy="103523"/>
          </a:xfrm>
          <a:prstGeom prst="rect">
            <a:avLst/>
          </a:prstGeom>
          <a:noFill/>
          <a:ln>
            <a:noFill/>
          </a:ln>
        </p:spPr>
      </p:pic>
      <p:pic>
        <p:nvPicPr>
          <p:cNvPr id="211" name="Google Shape;211;g37084f751b1_0_80"/>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3708bf00c7c_0_0"/>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Major Tools in Automated Feature Engineering</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17" name="Google Shape;217;g3708bf00c7c_0_0"/>
          <p:cNvSpPr txBox="1"/>
          <p:nvPr/>
        </p:nvSpPr>
        <p:spPr>
          <a:xfrm>
            <a:off x="434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TSFresh: Time-Series Feature Extraction - Theoretical Example</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Scenario: ECG time-series with 2000 readings per patien.</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TSFresh can extract:</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Mean heart rate variability</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Skewness of heart rate</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Autocorrelation at lag-3</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Energy of signal in frequency domain</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Features filtered using significance tests (e.g., correlation with heart disease)</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18" name="Google Shape;218;g3708bf00c7c_0_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19" name="Google Shape;219;g3708bf00c7c_0_0"/>
          <p:cNvPicPr preferRelativeResize="0"/>
          <p:nvPr/>
        </p:nvPicPr>
        <p:blipFill rotWithShape="1">
          <a:blip r:embed="rId4">
            <a:alphaModFix/>
          </a:blip>
          <a:srcRect b="0" l="0" r="0" t="0"/>
          <a:stretch/>
        </p:blipFill>
        <p:spPr>
          <a:xfrm>
            <a:off x="-2" y="1722103"/>
            <a:ext cx="4465321" cy="103523"/>
          </a:xfrm>
          <a:prstGeom prst="rect">
            <a:avLst/>
          </a:prstGeom>
          <a:noFill/>
          <a:ln>
            <a:noFill/>
          </a:ln>
        </p:spPr>
      </p:pic>
      <p:pic>
        <p:nvPicPr>
          <p:cNvPr id="220" name="Google Shape;220;g3708bf00c7c_0_0"/>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3708bf00c7c_0_8"/>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Major Tools in Automated Feature Engineering</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26" name="Google Shape;226;g3708bf00c7c_0_8"/>
          <p:cNvSpPr txBox="1"/>
          <p:nvPr/>
        </p:nvSpPr>
        <p:spPr>
          <a:xfrm>
            <a:off x="440400" y="21149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TSFresh: Time-Series Feature Extraction - Strengths</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Domain-agnostic and highly generali</a:t>
            </a:r>
            <a:r>
              <a:rPr lang="en-US" sz="2400">
                <a:solidFill>
                  <a:schemeClr val="dk1"/>
                </a:solidFill>
              </a:rPr>
              <a:t>s</a:t>
            </a:r>
            <a:r>
              <a:rPr b="0" i="0" lang="en-US" sz="2400" u="none" cap="none" strike="noStrike">
                <a:solidFill>
                  <a:schemeClr val="dk1"/>
                </a:solidFill>
                <a:latin typeface="Arial"/>
                <a:ea typeface="Arial"/>
                <a:cs typeface="Arial"/>
                <a:sym typeface="Arial"/>
              </a:rPr>
              <a:t>able</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Powerful for healthcare, sensor, financial, and IoT data</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Integrates statistical relevance filtering</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227" name="Google Shape;227;g3708bf00c7c_0_8"/>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28" name="Google Shape;228;g3708bf00c7c_0_8"/>
          <p:cNvPicPr preferRelativeResize="0"/>
          <p:nvPr/>
        </p:nvPicPr>
        <p:blipFill rotWithShape="1">
          <a:blip r:embed="rId4">
            <a:alphaModFix/>
          </a:blip>
          <a:srcRect b="0" l="0" r="0" t="0"/>
          <a:stretch/>
        </p:blipFill>
        <p:spPr>
          <a:xfrm>
            <a:off x="-2" y="1825628"/>
            <a:ext cx="4465321" cy="103523"/>
          </a:xfrm>
          <a:prstGeom prst="rect">
            <a:avLst/>
          </a:prstGeom>
          <a:noFill/>
          <a:ln>
            <a:noFill/>
          </a:ln>
        </p:spPr>
      </p:pic>
      <p:pic>
        <p:nvPicPr>
          <p:cNvPr id="229" name="Google Shape;229;g3708bf00c7c_0_8"/>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3708bf00c7c_0_16"/>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Major Tools in Automated Feature Engineering</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35" name="Google Shape;235;g3708bf00c7c_0_16"/>
          <p:cNvSpPr txBox="1"/>
          <p:nvPr/>
        </p:nvSpPr>
        <p:spPr>
          <a:xfrm>
            <a:off x="440400" y="21149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Featurewiz: Feature Selection and Ranking - Objective</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Objective: Select and rank the most important features using model-based and statistical approaches</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36" name="Google Shape;236;g3708bf00c7c_0_16"/>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37" name="Google Shape;237;g3708bf00c7c_0_16"/>
          <p:cNvPicPr preferRelativeResize="0"/>
          <p:nvPr/>
        </p:nvPicPr>
        <p:blipFill rotWithShape="1">
          <a:blip r:embed="rId4">
            <a:alphaModFix/>
          </a:blip>
          <a:srcRect b="0" l="0" r="0" t="0"/>
          <a:stretch/>
        </p:blipFill>
        <p:spPr>
          <a:xfrm>
            <a:off x="-2" y="1645940"/>
            <a:ext cx="4465321" cy="103523"/>
          </a:xfrm>
          <a:prstGeom prst="rect">
            <a:avLst/>
          </a:prstGeom>
          <a:noFill/>
          <a:ln>
            <a:noFill/>
          </a:ln>
        </p:spPr>
      </p:pic>
      <p:pic>
        <p:nvPicPr>
          <p:cNvPr id="238" name="Google Shape;238;g3708bf00c7c_0_16"/>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708bf00c7c_0_24"/>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Major Tools in Automated Feature Engineering</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44" name="Google Shape;244;g3708bf00c7c_0_24"/>
          <p:cNvSpPr txBox="1"/>
          <p:nvPr/>
        </p:nvSpPr>
        <p:spPr>
          <a:xfrm>
            <a:off x="440400" y="21149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Featurewiz: Feature Selection and Ranking - Core Concepts</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Uses mutual information and XGBoost feature importance to rank features</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Automatically removes: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Constant features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Quasi-constant features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Highly correlated features (multicollinearity)</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45" name="Google Shape;245;g3708bf00c7c_0_24"/>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46" name="Google Shape;246;g3708bf00c7c_0_24"/>
          <p:cNvPicPr preferRelativeResize="0"/>
          <p:nvPr/>
        </p:nvPicPr>
        <p:blipFill rotWithShape="1">
          <a:blip r:embed="rId4">
            <a:alphaModFix/>
          </a:blip>
          <a:srcRect b="0" l="0" r="0" t="0"/>
          <a:stretch/>
        </p:blipFill>
        <p:spPr>
          <a:xfrm>
            <a:off x="-2" y="1645940"/>
            <a:ext cx="4465321" cy="103523"/>
          </a:xfrm>
          <a:prstGeom prst="rect">
            <a:avLst/>
          </a:prstGeom>
          <a:noFill/>
          <a:ln>
            <a:noFill/>
          </a:ln>
        </p:spPr>
      </p:pic>
      <p:pic>
        <p:nvPicPr>
          <p:cNvPr id="247" name="Google Shape;247;g3708bf00c7c_0_24"/>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3708bf00c7c_0_32"/>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Major Tools in Automated Feature Engineering</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53" name="Google Shape;253;g3708bf00c7c_0_32"/>
          <p:cNvSpPr txBox="1"/>
          <p:nvPr/>
        </p:nvSpPr>
        <p:spPr>
          <a:xfrm>
            <a:off x="440400" y="21149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Featurewiz: Feature Selection and Ranking - Theoretical Example</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Scenario: Tabular dataset with 100 columns.</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Featurewiz can:</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Remove 20 features with zero variance</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Remove 10 features that are 99% correlated with others</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Select the top 20 features based on contribution to model performance</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54" name="Google Shape;254;g3708bf00c7c_0_32"/>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55" name="Google Shape;255;g3708bf00c7c_0_32"/>
          <p:cNvPicPr preferRelativeResize="0"/>
          <p:nvPr/>
        </p:nvPicPr>
        <p:blipFill rotWithShape="1">
          <a:blip r:embed="rId4">
            <a:alphaModFix/>
          </a:blip>
          <a:srcRect b="0" l="0" r="0" t="0"/>
          <a:stretch/>
        </p:blipFill>
        <p:spPr>
          <a:xfrm>
            <a:off x="-2" y="1645940"/>
            <a:ext cx="4465321" cy="103523"/>
          </a:xfrm>
          <a:prstGeom prst="rect">
            <a:avLst/>
          </a:prstGeom>
          <a:noFill/>
          <a:ln>
            <a:noFill/>
          </a:ln>
        </p:spPr>
      </p:pic>
      <p:pic>
        <p:nvPicPr>
          <p:cNvPr id="256" name="Google Shape;256;g3708bf00c7c_0_32"/>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3708bf00c7c_0_40"/>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Major Tools in Automated Feature Engineering</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62" name="Google Shape;262;g3708bf00c7c_0_40"/>
          <p:cNvSpPr txBox="1"/>
          <p:nvPr/>
        </p:nvSpPr>
        <p:spPr>
          <a:xfrm>
            <a:off x="440400" y="21149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Featurewiz: Feature Selection and Ranking - Strengths</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Effective for high-dimensional tabular data</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Fast and interpretable</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Maintains performance while reducing complexity</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63" name="Google Shape;263;g3708bf00c7c_0_4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64" name="Google Shape;264;g3708bf00c7c_0_40"/>
          <p:cNvPicPr preferRelativeResize="0"/>
          <p:nvPr/>
        </p:nvPicPr>
        <p:blipFill rotWithShape="1">
          <a:blip r:embed="rId4">
            <a:alphaModFix/>
          </a:blip>
          <a:srcRect b="0" l="0" r="0" t="0"/>
          <a:stretch/>
        </p:blipFill>
        <p:spPr>
          <a:xfrm>
            <a:off x="-2" y="1645940"/>
            <a:ext cx="4465321" cy="103523"/>
          </a:xfrm>
          <a:prstGeom prst="rect">
            <a:avLst/>
          </a:prstGeom>
          <a:noFill/>
          <a:ln>
            <a:noFill/>
          </a:ln>
        </p:spPr>
      </p:pic>
      <p:pic>
        <p:nvPicPr>
          <p:cNvPr id="265" name="Google Shape;265;g3708bf00c7c_0_40"/>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g3708bf00c7c_0_59"/>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Comparison Before and After AutoFE</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71" name="Google Shape;271;g3708bf00c7c_0_59"/>
          <p:cNvSpPr txBox="1"/>
          <p:nvPr/>
        </p:nvSpPr>
        <p:spPr>
          <a:xfrm>
            <a:off x="440400" y="1923750"/>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Impact on Data</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Before AutoFE:</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Raw features, possibly irrelevant or noisy</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Impact: Lower accuracy, overfitting risk</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br>
              <a:rPr b="0" i="0" lang="en-US" sz="2400" u="none" cap="none" strike="noStrike">
                <a:solidFill>
                  <a:schemeClr val="dk1"/>
                </a:solidFill>
                <a:latin typeface="Arial"/>
                <a:ea typeface="Arial"/>
                <a:cs typeface="Arial"/>
                <a:sym typeface="Arial"/>
              </a:rPr>
            </a:br>
            <a:r>
              <a:rPr b="0" i="0" lang="en-US" sz="2400" u="none" cap="none" strike="noStrike">
                <a:solidFill>
                  <a:schemeClr val="dk1"/>
                </a:solidFill>
                <a:latin typeface="Arial"/>
                <a:ea typeface="Arial"/>
                <a:cs typeface="Arial"/>
                <a:sym typeface="Arial"/>
              </a:rPr>
              <a:t>After AutoFE:</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Relevant, transformed, aggregated features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Impact: Improved generali</a:t>
            </a:r>
            <a:r>
              <a:rPr lang="en-US" sz="2400">
                <a:solidFill>
                  <a:schemeClr val="dk1"/>
                </a:solidFill>
              </a:rPr>
              <a:t>s</a:t>
            </a:r>
            <a:r>
              <a:rPr b="0" i="0" lang="en-US" sz="2400" u="none" cap="none" strike="noStrike">
                <a:solidFill>
                  <a:schemeClr val="dk1"/>
                </a:solidFill>
                <a:latin typeface="Arial"/>
                <a:ea typeface="Arial"/>
                <a:cs typeface="Arial"/>
                <a:sym typeface="Arial"/>
              </a:rPr>
              <a:t>ation, interpretability, and performance</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72" name="Google Shape;272;g3708bf00c7c_0_59"/>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73" name="Google Shape;273;g3708bf00c7c_0_59"/>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274" name="Google Shape;274;g3708bf00c7c_0_59"/>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3708bf00c7c_0_68"/>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Quantitative Assessment</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80" name="Google Shape;280;g3708bf00c7c_0_68"/>
          <p:cNvSpPr txBox="1"/>
          <p:nvPr/>
        </p:nvSpPr>
        <p:spPr>
          <a:xfrm>
            <a:off x="440400" y="18401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Model Performance Comparison</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Example: Logistic Regression Model</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81" name="Google Shape;281;g3708bf00c7c_0_68"/>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82" name="Google Shape;282;g3708bf00c7c_0_68"/>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graphicFrame>
        <p:nvGraphicFramePr>
          <p:cNvPr id="283" name="Google Shape;283;g3708bf00c7c_0_68"/>
          <p:cNvGraphicFramePr/>
          <p:nvPr/>
        </p:nvGraphicFramePr>
        <p:xfrm>
          <a:off x="952500" y="3748525"/>
          <a:ext cx="3000000" cy="3000000"/>
        </p:xfrm>
        <a:graphic>
          <a:graphicData uri="http://schemas.openxmlformats.org/drawingml/2006/table">
            <a:tbl>
              <a:tblPr>
                <a:noFill/>
                <a:tableStyleId>{9A55B77A-6D39-47DD-ACE5-7B57E7C40840}</a:tableStyleId>
              </a:tblPr>
              <a:tblGrid>
                <a:gridCol w="3429000"/>
                <a:gridCol w="3429000"/>
                <a:gridCol w="3429000"/>
              </a:tblGrid>
              <a:tr h="381000">
                <a:tc>
                  <a:txBody>
                    <a:bodyPr/>
                    <a:lstStyle/>
                    <a:p>
                      <a:pPr indent="0" lvl="0" marL="0" marR="0" rtl="0" algn="l">
                        <a:lnSpc>
                          <a:spcPct val="115000"/>
                        </a:lnSpc>
                        <a:spcBef>
                          <a:spcPts val="0"/>
                        </a:spcBef>
                        <a:spcAft>
                          <a:spcPts val="0"/>
                        </a:spcAft>
                        <a:buClr>
                          <a:srgbClr val="000000"/>
                        </a:buClr>
                        <a:buSzPts val="2400"/>
                        <a:buFont typeface="Arial"/>
                        <a:buNone/>
                      </a:pPr>
                      <a:r>
                        <a:rPr lang="en-US" sz="2400" u="none" cap="none" strike="noStrike">
                          <a:solidFill>
                            <a:srgbClr val="1B1C1D"/>
                          </a:solidFill>
                        </a:rPr>
                        <a:t>Metric</a:t>
                      </a:r>
                      <a:endParaRPr sz="24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400"/>
                        <a:buFont typeface="Arial"/>
                        <a:buNone/>
                      </a:pPr>
                      <a:r>
                        <a:rPr lang="en-US" sz="2400" u="none" cap="none" strike="noStrike">
                          <a:solidFill>
                            <a:srgbClr val="1B1C1D"/>
                          </a:solidFill>
                        </a:rPr>
                        <a:t>Without AutoFE</a:t>
                      </a:r>
                      <a:endParaRPr sz="24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400"/>
                        <a:buFont typeface="Arial"/>
                        <a:buNone/>
                      </a:pPr>
                      <a:r>
                        <a:rPr lang="en-US" sz="2400" u="none" cap="none" strike="noStrike">
                          <a:solidFill>
                            <a:srgbClr val="1B1C1D"/>
                          </a:solidFill>
                        </a:rPr>
                        <a:t>With AutoFE</a:t>
                      </a:r>
                      <a:endParaRPr sz="24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r>
              <a:tr h="381000">
                <a:tc>
                  <a:txBody>
                    <a:bodyPr/>
                    <a:lstStyle/>
                    <a:p>
                      <a:pPr indent="0" lvl="0" marL="0" marR="0" rtl="0" algn="l">
                        <a:lnSpc>
                          <a:spcPct val="115000"/>
                        </a:lnSpc>
                        <a:spcBef>
                          <a:spcPts val="0"/>
                        </a:spcBef>
                        <a:spcAft>
                          <a:spcPts val="0"/>
                        </a:spcAft>
                        <a:buClr>
                          <a:srgbClr val="000000"/>
                        </a:buClr>
                        <a:buSzPts val="2400"/>
                        <a:buFont typeface="Arial"/>
                        <a:buNone/>
                      </a:pPr>
                      <a:r>
                        <a:rPr lang="en-US" sz="2400" u="none" cap="none" strike="noStrike">
                          <a:solidFill>
                            <a:srgbClr val="1B1C1D"/>
                          </a:solidFill>
                        </a:rPr>
                        <a:t>Accuracy</a:t>
                      </a:r>
                      <a:endParaRPr sz="24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400"/>
                        <a:buFont typeface="Arial"/>
                        <a:buNone/>
                      </a:pPr>
                      <a:r>
                        <a:rPr lang="en-US" sz="2400" u="none" cap="none" strike="noStrike">
                          <a:solidFill>
                            <a:srgbClr val="1B1C1D"/>
                          </a:solidFill>
                        </a:rPr>
                        <a:t>0.76</a:t>
                      </a:r>
                      <a:endParaRPr sz="24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400"/>
                        <a:buFont typeface="Arial"/>
                        <a:buNone/>
                      </a:pPr>
                      <a:r>
                        <a:rPr lang="en-US" sz="2400" u="none" cap="none" strike="noStrike">
                          <a:solidFill>
                            <a:srgbClr val="1B1C1D"/>
                          </a:solidFill>
                        </a:rPr>
                        <a:t>0.84</a:t>
                      </a:r>
                      <a:endParaRPr sz="24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r>
              <a:tr h="381000">
                <a:tc>
                  <a:txBody>
                    <a:bodyPr/>
                    <a:lstStyle/>
                    <a:p>
                      <a:pPr indent="0" lvl="0" marL="0" marR="0" rtl="0" algn="l">
                        <a:lnSpc>
                          <a:spcPct val="115000"/>
                        </a:lnSpc>
                        <a:spcBef>
                          <a:spcPts val="0"/>
                        </a:spcBef>
                        <a:spcAft>
                          <a:spcPts val="0"/>
                        </a:spcAft>
                        <a:buClr>
                          <a:srgbClr val="000000"/>
                        </a:buClr>
                        <a:buSzPts val="2400"/>
                        <a:buFont typeface="Arial"/>
                        <a:buNone/>
                      </a:pPr>
                      <a:r>
                        <a:rPr lang="en-US" sz="2400" u="none" cap="none" strike="noStrike">
                          <a:solidFill>
                            <a:srgbClr val="1B1C1D"/>
                          </a:solidFill>
                        </a:rPr>
                        <a:t>F1-score</a:t>
                      </a:r>
                      <a:endParaRPr sz="24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400"/>
                        <a:buFont typeface="Arial"/>
                        <a:buNone/>
                      </a:pPr>
                      <a:r>
                        <a:rPr lang="en-US" sz="2400" u="none" cap="none" strike="noStrike">
                          <a:solidFill>
                            <a:srgbClr val="1B1C1D"/>
                          </a:solidFill>
                        </a:rPr>
                        <a:t>0.71</a:t>
                      </a:r>
                      <a:endParaRPr sz="24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400"/>
                        <a:buFont typeface="Arial"/>
                        <a:buNone/>
                      </a:pPr>
                      <a:r>
                        <a:rPr lang="en-US" sz="2400" u="none" cap="none" strike="noStrike">
                          <a:solidFill>
                            <a:srgbClr val="1B1C1D"/>
                          </a:solidFill>
                        </a:rPr>
                        <a:t>0.82</a:t>
                      </a:r>
                      <a:endParaRPr sz="24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r>
              <a:tr h="381000">
                <a:tc>
                  <a:txBody>
                    <a:bodyPr/>
                    <a:lstStyle/>
                    <a:p>
                      <a:pPr indent="0" lvl="0" marL="0" marR="0" rtl="0" algn="l">
                        <a:lnSpc>
                          <a:spcPct val="115000"/>
                        </a:lnSpc>
                        <a:spcBef>
                          <a:spcPts val="0"/>
                        </a:spcBef>
                        <a:spcAft>
                          <a:spcPts val="0"/>
                        </a:spcAft>
                        <a:buClr>
                          <a:srgbClr val="000000"/>
                        </a:buClr>
                        <a:buSzPts val="2400"/>
                        <a:buFont typeface="Arial"/>
                        <a:buNone/>
                      </a:pPr>
                      <a:r>
                        <a:rPr lang="en-US" sz="2400" u="none" cap="none" strike="noStrike">
                          <a:solidFill>
                            <a:srgbClr val="1B1C1D"/>
                          </a:solidFill>
                        </a:rPr>
                        <a:t>AUC-ROC</a:t>
                      </a:r>
                      <a:endParaRPr sz="24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400"/>
                        <a:buFont typeface="Arial"/>
                        <a:buNone/>
                      </a:pPr>
                      <a:r>
                        <a:rPr lang="en-US" sz="2400" u="none" cap="none" strike="noStrike">
                          <a:solidFill>
                            <a:srgbClr val="1B1C1D"/>
                          </a:solidFill>
                        </a:rPr>
                        <a:t>0.78</a:t>
                      </a:r>
                      <a:endParaRPr sz="24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400"/>
                        <a:buFont typeface="Arial"/>
                        <a:buNone/>
                      </a:pPr>
                      <a:r>
                        <a:rPr lang="en-US" sz="2400" u="none" cap="none" strike="noStrike">
                          <a:solidFill>
                            <a:srgbClr val="1B1C1D"/>
                          </a:solidFill>
                        </a:rPr>
                        <a:t>0.89</a:t>
                      </a:r>
                      <a:endParaRPr sz="24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r>
            </a:tbl>
          </a:graphicData>
        </a:graphic>
      </p:graphicFrame>
      <p:pic>
        <p:nvPicPr>
          <p:cNvPr id="284" name="Google Shape;284;g3708bf00c7c_0_68"/>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3708bf00c7c_0_76"/>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Theoretical Applications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90" name="Google Shape;290;g3708bf00c7c_0_76"/>
          <p:cNvSpPr txBox="1"/>
          <p:nvPr/>
        </p:nvSpPr>
        <p:spPr>
          <a:xfrm>
            <a:off x="440400" y="1869413"/>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Healthcare</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Tool: Featuretools on MIMIC-III data</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Features constructed for ICU prediction:</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"Count of prior admissions"</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"Average lab value for creatinine in last 48 hours"</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91" name="Google Shape;291;g3708bf00c7c_0_76"/>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92" name="Google Shape;292;g3708bf00c7c_0_76"/>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293" name="Google Shape;293;g3708bf00c7c_0_76"/>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3708bf00c7c_0_91"/>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Theoretical Applications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99" name="Google Shape;299;g3708bf00c7c_0_91"/>
          <p:cNvSpPr txBox="1"/>
          <p:nvPr/>
        </p:nvSpPr>
        <p:spPr>
          <a:xfrm>
            <a:off x="440400" y="1825388"/>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Retail</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Tool: TSFresh on daily sales data</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Features extracted for demand forecasting:</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"Weekly trend coefficient"</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"Seasonality strength"</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300" name="Google Shape;300;g3708bf00c7c_0_91"/>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301" name="Google Shape;301;g3708bf00c7c_0_91"/>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302" name="Google Shape;302;g3708bf00c7c_0_91"/>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g370947a372a_0_2"/>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Theoretical Applications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308" name="Google Shape;308;g370947a372a_0_2"/>
          <p:cNvSpPr txBox="1"/>
          <p:nvPr/>
        </p:nvSpPr>
        <p:spPr>
          <a:xfrm>
            <a:off x="440400" y="1825388"/>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Telecom</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Tool: Featurewiz for predicting churn</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Features selected/ranked:</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"Tenure"</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"Monthly charges"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"Contract type"</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Reduces input space while maintaining accuracy</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309" name="Google Shape;309;g370947a372a_0_2"/>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310" name="Google Shape;310;g370947a372a_0_2"/>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311" name="Google Shape;311;g370947a372a_0_2"/>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g370947a372a_0_10"/>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Summary</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317" name="Google Shape;317;g370947a372a_0_10"/>
          <p:cNvSpPr txBox="1"/>
          <p:nvPr/>
        </p:nvSpPr>
        <p:spPr>
          <a:xfrm>
            <a:off x="440400" y="1825388"/>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AutoFE Tools Overview</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318" name="Google Shape;318;g370947a372a_0_1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319" name="Google Shape;319;g370947a372a_0_10"/>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graphicFrame>
        <p:nvGraphicFramePr>
          <p:cNvPr id="320" name="Google Shape;320;g370947a372a_0_10"/>
          <p:cNvGraphicFramePr/>
          <p:nvPr/>
        </p:nvGraphicFramePr>
        <p:xfrm>
          <a:off x="394600" y="2552600"/>
          <a:ext cx="3000000" cy="3000000"/>
        </p:xfrm>
        <a:graphic>
          <a:graphicData uri="http://schemas.openxmlformats.org/drawingml/2006/table">
            <a:tbl>
              <a:tblPr>
                <a:noFill/>
                <a:tableStyleId>{9A55B77A-6D39-47DD-ACE5-7B57E7C40840}</a:tableStyleId>
              </a:tblPr>
              <a:tblGrid>
                <a:gridCol w="2853700"/>
                <a:gridCol w="2853700"/>
                <a:gridCol w="2853700"/>
                <a:gridCol w="2853700"/>
              </a:tblGrid>
              <a:tr h="381000">
                <a:tc>
                  <a:txBody>
                    <a:bodyPr/>
                    <a:lstStyle/>
                    <a:p>
                      <a:pPr indent="0" lvl="0" marL="0" marR="0" rtl="0" algn="l">
                        <a:lnSpc>
                          <a:spcPct val="115000"/>
                        </a:lnSpc>
                        <a:spcBef>
                          <a:spcPts val="0"/>
                        </a:spcBef>
                        <a:spcAft>
                          <a:spcPts val="0"/>
                        </a:spcAft>
                        <a:buClr>
                          <a:srgbClr val="000000"/>
                        </a:buClr>
                        <a:buSzPts val="2300"/>
                        <a:buFont typeface="Arial"/>
                        <a:buNone/>
                      </a:pPr>
                      <a:r>
                        <a:rPr lang="en-US" sz="2300" u="none" cap="none" strike="noStrike">
                          <a:solidFill>
                            <a:srgbClr val="1B1C1D"/>
                          </a:solidFill>
                        </a:rPr>
                        <a:t>Tool</a:t>
                      </a:r>
                      <a:endParaRPr sz="23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300"/>
                        <a:buFont typeface="Arial"/>
                        <a:buNone/>
                      </a:pPr>
                      <a:r>
                        <a:rPr lang="en-US" sz="2300" u="none" cap="none" strike="noStrike">
                          <a:solidFill>
                            <a:srgbClr val="1B1C1D"/>
                          </a:solidFill>
                        </a:rPr>
                        <a:t>Domain Suitability</a:t>
                      </a:r>
                      <a:endParaRPr sz="23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300"/>
                        <a:buFont typeface="Arial"/>
                        <a:buNone/>
                      </a:pPr>
                      <a:r>
                        <a:rPr lang="en-US" sz="2300" u="none" cap="none" strike="noStrike">
                          <a:solidFill>
                            <a:srgbClr val="1B1C1D"/>
                          </a:solidFill>
                        </a:rPr>
                        <a:t>Feature Type</a:t>
                      </a:r>
                      <a:endParaRPr sz="23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300"/>
                        <a:buFont typeface="Arial"/>
                        <a:buNone/>
                      </a:pPr>
                      <a:r>
                        <a:rPr lang="en-US" sz="2300" u="none" cap="none" strike="noStrike">
                          <a:solidFill>
                            <a:srgbClr val="1B1C1D"/>
                          </a:solidFill>
                        </a:rPr>
                        <a:t>Special Advantage</a:t>
                      </a:r>
                      <a:endParaRPr sz="23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r>
              <a:tr h="381000">
                <a:tc>
                  <a:txBody>
                    <a:bodyPr/>
                    <a:lstStyle/>
                    <a:p>
                      <a:pPr indent="0" lvl="0" marL="0" marR="0" rtl="0" algn="l">
                        <a:lnSpc>
                          <a:spcPct val="115000"/>
                        </a:lnSpc>
                        <a:spcBef>
                          <a:spcPts val="0"/>
                        </a:spcBef>
                        <a:spcAft>
                          <a:spcPts val="0"/>
                        </a:spcAft>
                        <a:buClr>
                          <a:srgbClr val="000000"/>
                        </a:buClr>
                        <a:buSzPts val="2300"/>
                        <a:buFont typeface="Arial"/>
                        <a:buNone/>
                      </a:pPr>
                      <a:r>
                        <a:rPr lang="en-US" sz="2300" u="none" cap="none" strike="noStrike">
                          <a:solidFill>
                            <a:srgbClr val="1B1C1D"/>
                          </a:solidFill>
                        </a:rPr>
                        <a:t>Featuretools</a:t>
                      </a:r>
                      <a:endParaRPr sz="23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300"/>
                        <a:buFont typeface="Arial"/>
                        <a:buNone/>
                      </a:pPr>
                      <a:r>
                        <a:rPr lang="en-US" sz="2300" u="none" cap="none" strike="noStrike">
                          <a:solidFill>
                            <a:srgbClr val="1B1C1D"/>
                          </a:solidFill>
                        </a:rPr>
                        <a:t>Relational/Transactional</a:t>
                      </a:r>
                      <a:endParaRPr sz="23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300"/>
                        <a:buFont typeface="Arial"/>
                        <a:buNone/>
                      </a:pPr>
                      <a:r>
                        <a:rPr lang="en-US" sz="2300" u="none" cap="none" strike="noStrike">
                          <a:solidFill>
                            <a:srgbClr val="1B1C1D"/>
                          </a:solidFill>
                        </a:rPr>
                        <a:t>Aggregated, Temporal</a:t>
                      </a:r>
                      <a:endParaRPr sz="23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300"/>
                        <a:buFont typeface="Arial"/>
                        <a:buNone/>
                      </a:pPr>
                      <a:r>
                        <a:rPr lang="en-US" sz="2300" u="none" cap="none" strike="noStrike">
                          <a:solidFill>
                            <a:srgbClr val="1B1C1D"/>
                          </a:solidFill>
                        </a:rPr>
                        <a:t>Complex multi-table traversal</a:t>
                      </a:r>
                      <a:endParaRPr sz="23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r>
              <a:tr h="381000">
                <a:tc>
                  <a:txBody>
                    <a:bodyPr/>
                    <a:lstStyle/>
                    <a:p>
                      <a:pPr indent="0" lvl="0" marL="0" marR="0" rtl="0" algn="l">
                        <a:lnSpc>
                          <a:spcPct val="115000"/>
                        </a:lnSpc>
                        <a:spcBef>
                          <a:spcPts val="0"/>
                        </a:spcBef>
                        <a:spcAft>
                          <a:spcPts val="0"/>
                        </a:spcAft>
                        <a:buClr>
                          <a:srgbClr val="000000"/>
                        </a:buClr>
                        <a:buSzPts val="2300"/>
                        <a:buFont typeface="Arial"/>
                        <a:buNone/>
                      </a:pPr>
                      <a:r>
                        <a:rPr lang="en-US" sz="2300" u="none" cap="none" strike="noStrike">
                          <a:solidFill>
                            <a:srgbClr val="1B1C1D"/>
                          </a:solidFill>
                        </a:rPr>
                        <a:t>TSFresh</a:t>
                      </a:r>
                      <a:endParaRPr sz="23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300"/>
                        <a:buFont typeface="Arial"/>
                        <a:buNone/>
                      </a:pPr>
                      <a:r>
                        <a:rPr lang="en-US" sz="2300" u="none" cap="none" strike="noStrike">
                          <a:solidFill>
                            <a:srgbClr val="1B1C1D"/>
                          </a:solidFill>
                        </a:rPr>
                        <a:t>Time-series</a:t>
                      </a:r>
                      <a:endParaRPr sz="23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300"/>
                        <a:buFont typeface="Arial"/>
                        <a:buNone/>
                      </a:pPr>
                      <a:r>
                        <a:rPr lang="en-US" sz="2300" u="none" cap="none" strike="noStrike">
                          <a:solidFill>
                            <a:srgbClr val="1B1C1D"/>
                          </a:solidFill>
                        </a:rPr>
                        <a:t>Statistical, Signal-based</a:t>
                      </a:r>
                      <a:endParaRPr sz="23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300"/>
                        <a:buFont typeface="Arial"/>
                        <a:buNone/>
                      </a:pPr>
                      <a:r>
                        <a:rPr lang="en-US" sz="2300" u="none" cap="none" strike="noStrike">
                          <a:solidFill>
                            <a:srgbClr val="1B1C1D"/>
                          </a:solidFill>
                        </a:rPr>
                        <a:t>750+ ready-to-use features</a:t>
                      </a:r>
                      <a:endParaRPr sz="23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r>
              <a:tr h="381000">
                <a:tc>
                  <a:txBody>
                    <a:bodyPr/>
                    <a:lstStyle/>
                    <a:p>
                      <a:pPr indent="0" lvl="0" marL="0" marR="0" rtl="0" algn="l">
                        <a:lnSpc>
                          <a:spcPct val="115000"/>
                        </a:lnSpc>
                        <a:spcBef>
                          <a:spcPts val="0"/>
                        </a:spcBef>
                        <a:spcAft>
                          <a:spcPts val="0"/>
                        </a:spcAft>
                        <a:buClr>
                          <a:srgbClr val="000000"/>
                        </a:buClr>
                        <a:buSzPts val="2300"/>
                        <a:buFont typeface="Arial"/>
                        <a:buNone/>
                      </a:pPr>
                      <a:r>
                        <a:rPr lang="en-US" sz="2300" u="none" cap="none" strike="noStrike">
                          <a:solidFill>
                            <a:srgbClr val="1B1C1D"/>
                          </a:solidFill>
                        </a:rPr>
                        <a:t>Featurewiz</a:t>
                      </a:r>
                      <a:endParaRPr sz="23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300"/>
                        <a:buFont typeface="Arial"/>
                        <a:buNone/>
                      </a:pPr>
                      <a:r>
                        <a:rPr lang="en-US" sz="2300" u="none" cap="none" strike="noStrike">
                          <a:solidFill>
                            <a:srgbClr val="1B1C1D"/>
                          </a:solidFill>
                        </a:rPr>
                        <a:t>Tabular</a:t>
                      </a:r>
                      <a:endParaRPr sz="23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300"/>
                        <a:buFont typeface="Arial"/>
                        <a:buNone/>
                      </a:pPr>
                      <a:r>
                        <a:rPr lang="en-US" sz="2300" u="none" cap="none" strike="noStrike">
                          <a:solidFill>
                            <a:srgbClr val="1B1C1D"/>
                          </a:solidFill>
                        </a:rPr>
                        <a:t>Ranked, Reduced</a:t>
                      </a:r>
                      <a:endParaRPr sz="23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300"/>
                        <a:buFont typeface="Arial"/>
                        <a:buNone/>
                      </a:pPr>
                      <a:r>
                        <a:rPr lang="en-US" sz="2300" u="none" cap="none" strike="noStrike">
                          <a:solidFill>
                            <a:srgbClr val="1B1C1D"/>
                          </a:solidFill>
                        </a:rPr>
                        <a:t>Model-based importance, fast filtering</a:t>
                      </a:r>
                      <a:endParaRPr sz="23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r>
            </a:tbl>
          </a:graphicData>
        </a:graphic>
      </p:graphicFrame>
      <p:pic>
        <p:nvPicPr>
          <p:cNvPr id="321" name="Google Shape;321;g370947a372a_0_10"/>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5"/>
          <p:cNvSpPr/>
          <p:nvPr/>
        </p:nvSpPr>
        <p:spPr>
          <a:xfrm>
            <a:off x="11998" y="3894332"/>
            <a:ext cx="12192000" cy="2855668"/>
          </a:xfrm>
          <a:prstGeom prst="roundRect">
            <a:avLst>
              <a:gd fmla="val 16667" name="adj"/>
            </a:avLst>
          </a:prstGeom>
          <a:solidFill>
            <a:srgbClr val="7E00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Arial"/>
                <a:ea typeface="Arial"/>
                <a:cs typeface="Arial"/>
                <a:sym typeface="Arial"/>
              </a:rPr>
              <a:t>The content provided in this digital training programme has been developed by professors / external vendors. All intellectual property rights in the content, including but not limited to video, text, slides, graphics, and audio materials, are owned exclusively by BITS Pilani (“BITS”), unless otherwise expressly stated. This programme may also include licensed or contributed works from third-party experts, faculty, and collaborating institutions, all of whom are duly acknowledged where appropriate.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Arial"/>
                <a:ea typeface="Arial"/>
                <a:cs typeface="Arial"/>
                <a:sym typeface="Arial"/>
              </a:rPr>
              <a:t>All product names, logos, brands, and entity names referenced within this content are the property of their respective trademark owners. The inclusion of such names, logos, or brands does not imply any affiliation with, or endorsement by, these entities.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Arial"/>
                <a:ea typeface="Arial"/>
                <a:cs typeface="Arial"/>
                <a:sym typeface="Arial"/>
              </a:rPr>
              <a:t>This material is intended solely for personal learning and academic purposes. Except for content that is explicitly confirmed to be in the public domain, no part of this content may be reproduced, copied, modified, distributed, republished, uploaded, posted, publicly displayed, or transmitted in any form or by any means – electronic, mechanical, photocopying, recording, or otherwise – without the prior express written consent of BITS Pilani or the applicable rights holder.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Arial"/>
                <a:ea typeface="Arial"/>
                <a:cs typeface="Arial"/>
                <a:sym typeface="Arial"/>
              </a:rPr>
              <a:t>Any unauthorized use, commercial exploitation, resale, or public sharing of this content in any manner constitutes a violation of applicable intellectual property laws. BITS Pilani reserves the right to pursue all appropriate legal remedies, including but not limited to civil action and criminal prosecution under the Copyright Act, 1957, and other relevant statutes in force in India.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Arial"/>
                <a:ea typeface="Arial"/>
                <a:cs typeface="Arial"/>
                <a:sym typeface="Arial"/>
              </a:rPr>
              <a:t>By accessing or using this digital training programme, you agree to comply with the terms set forth in this disclaimer.</a:t>
            </a:r>
            <a:endParaRPr b="0" i="0" sz="1400" u="none" cap="none" strike="noStrike">
              <a:solidFill>
                <a:srgbClr val="000000"/>
              </a:solidFill>
              <a:latin typeface="Arial"/>
              <a:ea typeface="Arial"/>
              <a:cs typeface="Arial"/>
              <a:sym typeface="Arial"/>
            </a:endParaRPr>
          </a:p>
        </p:txBody>
      </p:sp>
      <p:pic>
        <p:nvPicPr>
          <p:cNvPr id="327" name="Google Shape;327;p5"/>
          <p:cNvPicPr preferRelativeResize="0"/>
          <p:nvPr/>
        </p:nvPicPr>
        <p:blipFill rotWithShape="1">
          <a:blip r:embed="rId3">
            <a:alphaModFix/>
          </a:blip>
          <a:srcRect b="0" l="0" r="0" t="0"/>
          <a:stretch/>
        </p:blipFill>
        <p:spPr>
          <a:xfrm>
            <a:off x="10078720" y="405951"/>
            <a:ext cx="1778000" cy="679450"/>
          </a:xfrm>
          <a:prstGeom prst="rect">
            <a:avLst/>
          </a:prstGeom>
          <a:noFill/>
          <a:ln>
            <a:noFill/>
          </a:ln>
        </p:spPr>
      </p:pic>
      <p:sp>
        <p:nvSpPr>
          <p:cNvPr id="328" name="Google Shape;328;p5"/>
          <p:cNvSpPr txBox="1"/>
          <p:nvPr/>
        </p:nvSpPr>
        <p:spPr>
          <a:xfrm>
            <a:off x="3268980" y="2963668"/>
            <a:ext cx="5654040" cy="930665"/>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7200"/>
              <a:buFont typeface="Play"/>
              <a:buNone/>
            </a:pPr>
            <a:r>
              <a:rPr b="1" i="0" lang="en-US" sz="7200" u="none" cap="none" strike="noStrike">
                <a:solidFill>
                  <a:schemeClr val="dk1"/>
                </a:solidFill>
                <a:latin typeface="Play"/>
                <a:ea typeface="Play"/>
                <a:cs typeface="Play"/>
                <a:sym typeface="Play"/>
              </a:rPr>
              <a:t>Thank You</a:t>
            </a:r>
            <a:endParaRPr b="1" i="0" sz="7200" u="none" cap="none" strike="noStrike">
              <a:solidFill>
                <a:schemeClr val="dk1"/>
              </a:solidFill>
              <a:latin typeface="Play"/>
              <a:ea typeface="Play"/>
              <a:cs typeface="Play"/>
              <a:sym typeface="Play"/>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2025-05-30T08:20:10Z</dcterms:created>
  <dc:creator>Singh, Manjeet (GRG-MRM)</dc:creator>
</cp:coreProperties>
</file>