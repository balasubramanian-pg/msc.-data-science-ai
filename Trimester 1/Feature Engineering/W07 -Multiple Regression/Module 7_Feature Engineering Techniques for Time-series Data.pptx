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9144000"/>
  <p:embeddedFontLst>
    <p:embeddedFont>
      <p:font typeface="Play"/>
      <p:regular r:id="rId31"/>
      <p:bold r:id="rId32"/>
    </p:embeddedFont>
    <p:embeddedFont>
      <p:font typeface="Arial Narrow"/>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h50OuFaBj+exvu5B/ig3FixPp5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lay-regular.fntdata"/><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ArialNarrow-regular.fntdata"/><Relationship Id="rId10" Type="http://schemas.openxmlformats.org/officeDocument/2006/relationships/slide" Target="slides/slide6.xml"/><Relationship Id="rId32" Type="http://schemas.openxmlformats.org/officeDocument/2006/relationships/font" Target="fonts/Play-bold.fntdata"/><Relationship Id="rId13" Type="http://schemas.openxmlformats.org/officeDocument/2006/relationships/slide" Target="slides/slide9.xml"/><Relationship Id="rId35" Type="http://schemas.openxmlformats.org/officeDocument/2006/relationships/font" Target="fonts/ArialNarrow-italic.fntdata"/><Relationship Id="rId12" Type="http://schemas.openxmlformats.org/officeDocument/2006/relationships/slide" Target="slides/slide8.xml"/><Relationship Id="rId34" Type="http://schemas.openxmlformats.org/officeDocument/2006/relationships/font" Target="fonts/ArialNarrow-bold.fntdata"/><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font" Target="fonts/ArialNarrow-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07f902fe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Welcome to Module 7: Feature Engineering Techniques for Time-series Data. In this module, we will delve into the crucial aspect of preparing time-series data for machine learning models. Time-series data is essentially a collection of observations recorded over time, typically at regular intervals, like hourly stock prices, daily temperatures, or continuous ECG readings. The core idea behind feature engineering in this context is to transform this raw, sequential data into a more structured format that machine learning algorithms can effectively understand and learn from. Our primary goal is to uncover hidden signals, recurring patterns, and underlying trends that might otherwise be obscured by temporal noise or periodic fluctuations within the raw data.</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97" name="Google Shape;97;g3707f902fe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08268c0a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So, why is time-series feature engineering so important? It's because raw time-series data often contains cyclical trends and periodicities that aren't immediately obvious to a standard machine learning model. For example, electricity consumption often peaks during evening hours, and retail traffic typically increases on weekends. These are patterns that simple models might miss. By engineering features, we can explicitly represent these hidden characteristics. Our aim is to extract meaningful signals and patterns that are otherwise obscured by temporal noise or recurring cycles in the data. Effectively, time-series feature engineering acts as a bridge, connecting the techniques of signal processing—which deals with analysing time-varying signals—with the power of machine learning, enabling us to build highly predictive models.</a:t>
            </a:r>
            <a:endParaRPr>
              <a:solidFill>
                <a:srgbClr val="1B1C1D"/>
              </a:solidFill>
            </a:endParaRPr>
          </a:p>
          <a:p>
            <a:pPr indent="0" lvl="0" marL="0" rtl="0" algn="l">
              <a:lnSpc>
                <a:spcPct val="100000"/>
              </a:lnSpc>
              <a:spcBef>
                <a:spcPts val="3000"/>
              </a:spcBef>
              <a:spcAft>
                <a:spcPts val="0"/>
              </a:spcAft>
              <a:buSzPts val="1100"/>
              <a:buNone/>
            </a:pPr>
            <a:r>
              <a:t/>
            </a:r>
            <a:endParaRPr>
              <a:solidFill>
                <a:srgbClr val="1B1C1D"/>
              </a:solidFill>
            </a:endParaRPr>
          </a:p>
        </p:txBody>
      </p:sp>
      <p:sp>
        <p:nvSpPr>
          <p:cNvPr id="106" name="Google Shape;106;g3708268c0a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7084f751b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Let's begin with time-based features. These are features that you can derive directly from the timestamp of your data point, regardless of the value of the target variable you are trying to predict. They are fundamental because they help capture inherent cyclical patterns. Common examples include extracting the hour of the day, which can range from 0 to 23, the day of the week, like Monday through Sunday, or broader temporal units such as the month, quarter, or even the season. These simple extractions can provide a lot of insight into periodic behaviour.</a:t>
            </a:r>
            <a:endParaRPr>
              <a:solidFill>
                <a:srgbClr val="1B1C1D"/>
              </a:solidFill>
            </a:endParaRPr>
          </a:p>
          <a:p>
            <a:pPr indent="0" lvl="0" marL="0" rtl="0" algn="l">
              <a:lnSpc>
                <a:spcPct val="100000"/>
              </a:lnSpc>
              <a:spcBef>
                <a:spcPts val="3000"/>
              </a:spcBef>
              <a:spcAft>
                <a:spcPts val="0"/>
              </a:spcAft>
              <a:buSzPts val="1100"/>
              <a:buNone/>
            </a:pPr>
            <a:r>
              <a:t/>
            </a:r>
            <a:endParaRPr>
              <a:solidFill>
                <a:srgbClr val="1B1C1D"/>
              </a:solidFill>
            </a:endParaRPr>
          </a:p>
        </p:txBody>
      </p:sp>
      <p:sp>
        <p:nvSpPr>
          <p:cNvPr id="115" name="Google Shape;115;g37084f751b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7084f751b1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Continuing with time-based features, we can also create binary flags like "is weekend," "is holiday," or "is business day," which can significantly impact patterns. The "week of the year" can also be a useful cyclical feature. Furthermore, calculating the "time since a defined event," such as the time elapsed since a customer's last visit, can provide valuable context. These types of features are crucial because they help us uncover and explicitly represent hidden cyclical trends and periodicities present in the data. For instance, in e-commerce, sales prediction benefits from holiday and weekend features. In healthcare, circadian rhythm modeling can utilise hour-of-day features, and in energy, load forecasting greatly benefits from understanding time of day and seasonal patterns.</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24" name="Google Shape;124;g37084f751b1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7084f751b1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Next, we move on to lag features. A lag feature is essentially a past observation of your time series that you use as a predictor for the current or even a future state. It's a very straightforward concept. If we have a time series denoted as xt​, then the lag-1 feature would be xt−1​, meaning the value from the immediately preceding time step. Similarly, a lag-2 feature would be xt−2​, and so on. The primary purpose of introducing lag features is to capture autocorrelation, which is the correlation of a signal with a delayed copy of itself, and to identify temporal dependencies, meaning how the current value of the series is influenced by its past values.</a:t>
            </a:r>
            <a:endParaRPr>
              <a:solidFill>
                <a:srgbClr val="1B1C1D"/>
              </a:solidFill>
            </a:endParaRPr>
          </a:p>
          <a:p>
            <a:pPr indent="0" lvl="0" marL="0" rtl="0" algn="l">
              <a:lnSpc>
                <a:spcPct val="100000"/>
              </a:lnSpc>
              <a:spcBef>
                <a:spcPts val="1200"/>
              </a:spcBef>
              <a:spcAft>
                <a:spcPts val="0"/>
              </a:spcAft>
              <a:buSzPts val="1100"/>
              <a:buNone/>
            </a:pPr>
            <a:r>
              <a:t/>
            </a:r>
            <a:endParaRPr>
              <a:solidFill>
                <a:srgbClr val="1B1C1D"/>
              </a:solidFill>
            </a:endParaRPr>
          </a:p>
        </p:txBody>
      </p:sp>
      <p:sp>
        <p:nvSpPr>
          <p:cNvPr id="133" name="Google Shape;133;g37084f751b1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7084f751b1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Lag features have numerous practical applications. For instance, in financial modeling, you might predict a stock price using its prices from the last three days. In healthcare, modeling heart rate dynamics often involves using previous heart rate readings. And in business, forecasting demand can be significantly improved by incorporating trends from prior days or weeks. However, there's an important caution to remember: when you introduce lag features, you will inevitably create missing values, often denoted as NaNs, for the initial rows of your dataset. This happens because there are no preceding observations for those early time points. To determine the optimal number of lags to include, you can use statistical tools like autocorrelation plots, specifically ACF and PACF plots, or leverage your domain knowledge to understand the inherent dependencies in your data.</a:t>
            </a:r>
            <a:endParaRPr>
              <a:solidFill>
                <a:srgbClr val="1B1C1D"/>
              </a:solidFill>
            </a:endParaRPr>
          </a:p>
          <a:p>
            <a:pPr indent="0" lvl="0" marL="0" rtl="0" algn="l">
              <a:lnSpc>
                <a:spcPct val="115000"/>
              </a:lnSpc>
              <a:spcBef>
                <a:spcPts val="3000"/>
              </a:spcBef>
              <a:spcAft>
                <a:spcPts val="1200"/>
              </a:spcAft>
              <a:buClr>
                <a:schemeClr val="dk1"/>
              </a:buClr>
              <a:buSzPts val="1100"/>
              <a:buFont typeface="Arial"/>
              <a:buNone/>
            </a:pPr>
            <a:r>
              <a:t/>
            </a:r>
            <a:endParaRPr>
              <a:solidFill>
                <a:srgbClr val="1B1C1D"/>
              </a:solidFill>
            </a:endParaRPr>
          </a:p>
        </p:txBody>
      </p:sp>
      <p:sp>
        <p:nvSpPr>
          <p:cNvPr id="142" name="Google Shape;142;g37084f751b1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084f751b1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Moving on to rolling statistics, these features involve computing aggregate functions over a defined moving window of your time series data. Instead of looking at a single past point like with lag features, we consider a small, continuous segment of the series. There are several common functions you can apply within this rolling window, including the rolling mean, which gives you the average over the window; the rolling standard deviation, which measures the volatility within the window; the rolling sum; and the rolling maximum or minimum values. The rolling median is another useful statistic, especially when dealing with outliers.</a:t>
            </a:r>
            <a:endParaRPr>
              <a:solidFill>
                <a:srgbClr val="1B1C1D"/>
              </a:solidFill>
            </a:endParaRPr>
          </a:p>
          <a:p>
            <a:pPr indent="0" lvl="0" marL="0" rtl="0" algn="l">
              <a:lnSpc>
                <a:spcPct val="115000"/>
              </a:lnSpc>
              <a:spcBef>
                <a:spcPts val="120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151" name="Google Shape;151;g37084f751b1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084f751b1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To illustrate the concept with a formula, for a window of size w, the rolling mean at time t is calculated as the sum of the values from xt​ down to xt−(w−1)​, all divided by the window size w. So, you're essentially averaging the current value and the w−1 preceding values. Why are rolling statistics important? They serve several key purposes. Firstly, they help to smooth out noisy time series data, making underlying patterns more apparent. Secondly, they are excellent for identifying local trends and understanding the short-term volatility within a specific window of data.</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160" name="Google Shape;160;g37084f751b1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7084f751b1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Rolling statistics have diverse applications across various domains. In the financial sector, they are widely used for detecting moving average crossovers, which are common trading signals. For example, when a short-term moving average crosses above a long-term moving average, it can indicate a bullish trend. In health monitoring, rolling statistics can be applied to detect short-term heart rate variability, providing insights into a patient's condition over brief periods. In industrial settings, monitoring machine vibration variance using rolling standard deviations can help in early fault detection, preventing costly breakdowns.</a:t>
            </a:r>
            <a:endParaRPr>
              <a:solidFill>
                <a:srgbClr val="1B1C1D"/>
              </a:solidFill>
            </a:endParaRPr>
          </a:p>
          <a:p>
            <a:pPr indent="0" lvl="0" marL="0" rtl="0" algn="l">
              <a:lnSpc>
                <a:spcPct val="115000"/>
              </a:lnSpc>
              <a:spcBef>
                <a:spcPts val="3000"/>
              </a:spcBef>
              <a:spcAft>
                <a:spcPts val="1200"/>
              </a:spcAft>
              <a:buSzPts val="1100"/>
              <a:buNone/>
            </a:pPr>
            <a:r>
              <a:t/>
            </a:r>
            <a:endParaRPr>
              <a:solidFill>
                <a:srgbClr val="1B1C1D"/>
              </a:solidFill>
            </a:endParaRPr>
          </a:p>
        </p:txBody>
      </p:sp>
      <p:sp>
        <p:nvSpPr>
          <p:cNvPr id="169" name="Google Shape;169;g37084f751b1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7084f751b1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US">
                <a:solidFill>
                  <a:srgbClr val="1B1C1D"/>
                </a:solidFill>
              </a:rPr>
              <a:t>Beyond simple rolling statistics, we have window-based features, which are a more general category. While rolling statistics focus on aggregate functions like mean or standard deviation, window-based features encompass a wider array of characteristics extracted over a defined time window. These can include calculating the percent change within a window, determining the trend by finding the slope of a regression line, measuring the time since the last peak or trough in the data, or even more advanced metrics like entropy or signal complexity, which describe the predictability or randomness of the signal within that window.</a:t>
            </a:r>
            <a:endParaRPr>
              <a:solidFill>
                <a:srgbClr val="1B1C1D"/>
              </a:solidFill>
            </a:endParaRPr>
          </a:p>
        </p:txBody>
      </p:sp>
      <p:sp>
        <p:nvSpPr>
          <p:cNvPr id="178" name="Google Shape;178;g37084f751b1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7084f751b1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To give a concrete example of window-based features, imagine a 30-minute sliding window of data. From this window, you could extract the minimum, maximum, and mean values. You could also calculate the standard deviation, the slope of a linear trend, or the range (which is simply the maximum minus the minimum). These features provide a rich description of the data's behaviour within that specific time frame. These features are particularly useful in various applications. In sensor analytics for IoT devices, they can summarise sensor readings over short periods. In activity recognition using wearables, they help classify different movements based on windowed data. And in financial risk analysis, they can provide insights into market volatility and behaviour over defined time intervals.</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87" name="Google Shape;187;g37084f751b1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7084f751b1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Now, let's explore domain-specific features. These are highly specialised features that are not generic to all time series data but are specifically designed for particular applications and industries. They leverage expert knowledge about the domain to extract meaningful insights. We will discuss a few key examples, including Heart Rate Variability, Respiratory Rate, and Peak/Off-Peak Usage, each tailored to a distinct field of application.</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96" name="Google Shape;196;g37084f751b1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084f751b1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One important domain-specific feature, particularly in healthcare, is Heart Rate Variability, or HRV. HRV measures the variation in the time intervals between consecutive heartbeats, not the heart rate itself. This variation is influenced by the autonomic nervous system and provides valuable insights into physiological states. HRV is typically computed from electrocardiogram (ECG) or photoplethysmogram (PPG) signals. Common metrics used to quantify HRV include RMSSD, SDNN, and pNN50, each focusing on different aspects of heart rate fluctuations. HRV is widely used in applications such as stress detection, assessing fatigue levels, and even for evaluating cardiovascular risk, making it a powerful feature in health analytics.</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205" name="Google Shape;205;g37084f751b1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708bf00c7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Another critical domain-specific feature, especially in healthcare, is Respiratory Rate. This is simply the number of breaths a person takes per minute. While seemingly straightforward, accurately extracting respiratory rate from raw waveform data can be complex. It often involves techniques like zero-crossing analysis, where you count how many times the signal crosses a zero baseline, or frequency analysis, where you look for dominant frequencies in the respiratory signal. Respiratory rate is an essential vital sign and is particularly important in intensive care unit (ICU) monitoring, where continuous tracking is crucial for patient well-being, and in sleep studies, where breathing patterns provide insights into sleep disorders.</a:t>
            </a:r>
            <a:endParaRPr>
              <a:solidFill>
                <a:srgbClr val="1B1C1D"/>
              </a:solidFill>
            </a:endParaRPr>
          </a:p>
          <a:p>
            <a:pPr indent="0" lvl="0" marL="0" rtl="0" algn="l">
              <a:lnSpc>
                <a:spcPct val="115000"/>
              </a:lnSpc>
              <a:spcBef>
                <a:spcPts val="3000"/>
              </a:spcBef>
              <a:spcAft>
                <a:spcPts val="1200"/>
              </a:spcAft>
              <a:buClr>
                <a:schemeClr val="dk1"/>
              </a:buClr>
              <a:buSzPts val="1100"/>
              <a:buFont typeface="Arial"/>
              <a:buNone/>
            </a:pPr>
            <a:r>
              <a:t/>
            </a:r>
            <a:endParaRPr>
              <a:solidFill>
                <a:srgbClr val="1B1C1D"/>
              </a:solidFill>
            </a:endParaRPr>
          </a:p>
        </p:txBody>
      </p:sp>
      <p:sp>
        <p:nvSpPr>
          <p:cNvPr id="214" name="Google Shape;214;g3708bf00c7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08bf00c7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In the context of energy or water consumption, a valuable domain-specific feature is "Peak/Off-Peak Usage." This involves labeling consumption data as either "peak" or "off-peak" based on specific time periods or predefined rate thresholds. For example, electricity consumption during daytime business hours might be classified as peak usage due to higher demand and pricing, while nighttime consumption would be off-peak. This feature is extremely useful in various applications. It helps in accurate billing based on differentiated rates, in optimising resource allocation, and in demand response modeling, where utilities encourage consumers to shift their usage away from peak times to balance the grid.</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223" name="Google Shape;223;g3708bf00c7c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708bf00c7c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US">
                <a:solidFill>
                  <a:srgbClr val="1B1C1D"/>
                </a:solidFill>
              </a:rPr>
              <a:t>Now, let's discuss Moving Averages. A moving average is a technique used to smooth out price data by creating a constantly updated average price. It essentially creates a smoothed series by averaging a fixed number of past observations. There are several types of moving averages. The Simple Moving Average, or SMA, calculates the unweighted mean of the previous 'n' data points. The Exponential Moving Average, EMA, gives more weight to recent observations, making it more responsive to new information. And the Weighted Moving Average, WMA, assigns different weights to data points within the window, typically giving more weight to more recent data.</a:t>
            </a:r>
            <a:endParaRPr>
              <a:solidFill>
                <a:srgbClr val="1B1C1D"/>
              </a:solidFill>
            </a:endParaRPr>
          </a:p>
          <a:p>
            <a:pPr indent="0" lvl="0" marL="914400" rtl="0" algn="l">
              <a:lnSpc>
                <a:spcPct val="115000"/>
              </a:lnSpc>
              <a:spcBef>
                <a:spcPts val="1200"/>
              </a:spcBef>
              <a:spcAft>
                <a:spcPts val="0"/>
              </a:spcAft>
              <a:buSzPts val="1100"/>
              <a:buNone/>
            </a:pPr>
            <a:r>
              <a:t/>
            </a:r>
            <a:endParaRPr>
              <a:solidFill>
                <a:srgbClr val="1B1C1D"/>
              </a:solidFill>
            </a:endParaRPr>
          </a:p>
        </p:txBody>
      </p:sp>
      <p:sp>
        <p:nvSpPr>
          <p:cNvPr id="232" name="Google Shape;232;g3708bf00c7c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708bf00c7c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US">
                <a:solidFill>
                  <a:srgbClr val="1B1C1D"/>
                </a:solidFill>
              </a:rPr>
              <a:t>Let's look at the formula for a Simple Moving Average (SMA). For a window size 'n', the SMA at time 't' is calculated by summing the current value (xt​) and the 'n-1' preceding values, then dividing by 'n'. This essentially gives you the average of the last 'n' data points. The main purposes of moving averages are threefold: First, they effectively reduce noise in the time series, making the underlying patterns clearer. Second, they help to highlight the trend direction, making it easier to identify whether the series is generally moving upwards, downwards, or sideways. Lastly, moving averages are frequently used as a basis for generating trading signals in financial markets, where crossovers and slopes can indicate potential buy or sell opportunities.</a:t>
            </a:r>
            <a:endParaRPr>
              <a:solidFill>
                <a:srgbClr val="1B1C1D"/>
              </a:solidFill>
            </a:endParaRPr>
          </a:p>
          <a:p>
            <a:pPr indent="0" lvl="0" marL="0" rtl="0" algn="l">
              <a:lnSpc>
                <a:spcPct val="115000"/>
              </a:lnSpc>
              <a:spcBef>
                <a:spcPts val="1200"/>
              </a:spcBef>
              <a:spcAft>
                <a:spcPts val="0"/>
              </a:spcAft>
              <a:buSzPts val="1100"/>
              <a:buNone/>
            </a:pPr>
            <a:r>
              <a:t/>
            </a:r>
            <a:endParaRPr>
              <a:solidFill>
                <a:srgbClr val="1B1C1D"/>
              </a:solidFill>
            </a:endParaRPr>
          </a:p>
        </p:txBody>
      </p:sp>
      <p:sp>
        <p:nvSpPr>
          <p:cNvPr id="241" name="Google Shape;241;g3708bf00c7c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708bf00c7c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Moving averages have a wide range of applications. In the financial sector, they are a cornerstone of stock trading, used by analysts and traders to identify trends, support, and resistance levels. Beyond finance, they are crucial for signal denoising in biomedical monitoring, where they can smooth out noisy physiological signals like ECG or EEG, making them easier to interpret. Furthermore, moving averages are extensively used for smoothing weather time-series data, helping to identify climate trends by averaging out daily or weekly fluctuations, and providing a clearer picture of long-term patterns.</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50" name="Google Shape;250;g3708bf00c7c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708bf00c7c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Now, let's move to the Relative Strength Index, or RSI, a popular momentum oscillator primarily used in financial analysis. The RSI measures the speed and change of price movements. It essentially compares the magnitude of recent gains to recent losses over a specified period to identify overbought or oversold conditions in the market. The formula involves calculating the Relative Strength (RS), which is the average gain divided by the average loss over a given period. Then, the RSI is computed using the formula: 100 minus (100 divided by one plus RS). The RSI typically ranges from 0 to 100.</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59" name="Google Shape;259;g3708bf00c7c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708bf00c7c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The interpretation of RSI is quite straightforward: an RSI value typically above 70 indicates that an asset is overbought, suggesting it may be due for a price correction downwards. Conversely, an RSI value typically below 30 indicates that the asset is oversold, suggesting it may be due for a price bounce upwards. In terms of use cases, RSI is a fundamental tool in stock market prediction, helping traders and investors make informed decisions. It's also a key component in many quantitative trading algorithms, where it's used to automatically generate buy or sell signals. Furthermore, RSI can serve as a valuable feature for classifying different market regimes, helping to understand whether the market is trending, ranging, or experiencing extreme conditions.</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68" name="Google Shape;268;g3708bf00c7c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708bf00c7c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Our final domain-specific feature is Bollinger Bands. These are a type of price envelope plotted a standard deviation level above and below a simple moving average of a security's price. Bollinger Bands consist of three lines: a central moving average band, and two outer bands that are typically two standard deviations away from the central band. The formula is straightforward: the Upper Band is calculated by adding 'k' times the rolling standard deviation to the Simple Moving Average, while the Lower Band is found by subtracting 'k' times the rolling standard deviation from the Simple Moving Average. Here, σ represents the rolling standard deviation of the price, and 'k' is a multiplier, typically set to 2.</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77" name="Google Shape;277;g3708bf00c7c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708bf00c7c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The primary purpose of Bollinger Bands is to detect periods of high or low volatility in a time series and to identify potential reversal points. When the bands narrow, it suggests low volatility, potentially preceding a sharp price move. When they widen, it indicates high volatility. In terms of applications, Bollinger Bands are widely used in trading strategies, where traders look for price movements relative to the bands to identify overbought or oversold conditions, or potential breakouts. They are also useful for anomaly detection in various signals, as data points falling outside the bands can indicate unusual activity. Furthermore, in physiological time series, such as heart rate or blood pressure, Bollinger Bands can help monitor range-bound behaviour and detect deviations that might signal a health issue.</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286" name="Google Shape;286;g3708bf00c7c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708bf00c7c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If you are designing algorithms for real-world applications in fields like healthcare, finance, or IoT, mastering these time-series feature engineering techniques is not just beneficial, but absolutely essential for building high-performance and robust predictive models. The ability to correctly capture and represent temporal patterns will significantly impact the accuracy and reliability of your machine learning solutions. This concludes Module 7.</a:t>
            </a:r>
            <a:endParaRPr>
              <a:solidFill>
                <a:srgbClr val="1B1C1D"/>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95" name="Google Shape;295;g3708bf00c7c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10"/>
          <p:cNvPicPr preferRelativeResize="0"/>
          <p:nvPr/>
        </p:nvPicPr>
        <p:blipFill rotWithShape="1">
          <a:blip r:embed="rId2">
            <a:alphaModFix/>
          </a:blip>
          <a:srcRect b="0" l="0" r="0" t="0"/>
          <a:stretch/>
        </p:blipFill>
        <p:spPr>
          <a:xfrm>
            <a:off x="-2" y="6466115"/>
            <a:ext cx="12204000" cy="10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3"/>
          <p:cNvSpPr txBox="1"/>
          <p:nvPr>
            <p:ph type="title"/>
          </p:nvPr>
        </p:nvSpPr>
        <p:spPr>
          <a:xfrm>
            <a:off x="441960" y="349885"/>
            <a:ext cx="9326880" cy="93066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Narrow"/>
              <a:buNone/>
              <a:defRPr b="1" i="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 type="body"/>
          </p:nvPr>
        </p:nvSpPr>
        <p:spPr>
          <a:xfrm>
            <a:off x="533400" y="1825625"/>
            <a:ext cx="11323320" cy="435133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0" name="Google Shape;30;p13"/>
          <p:cNvPicPr preferRelativeResize="0"/>
          <p:nvPr/>
        </p:nvPicPr>
        <p:blipFill rotWithShape="1">
          <a:blip r:embed="rId2">
            <a:alphaModFix/>
          </a:blip>
          <a:srcRect b="0" l="0" r="0" t="0"/>
          <a:stretch/>
        </p:blipFill>
        <p:spPr>
          <a:xfrm>
            <a:off x="-2" y="6466115"/>
            <a:ext cx="12204000" cy="108000"/>
          </a:xfrm>
          <a:prstGeom prst="rect">
            <a:avLst/>
          </a:prstGeom>
          <a:noFill/>
          <a:ln>
            <a:noFill/>
          </a:ln>
        </p:spPr>
      </p:pic>
      <p:pic>
        <p:nvPicPr>
          <p:cNvPr id="31" name="Google Shape;31;p13"/>
          <p:cNvPicPr preferRelativeResize="0"/>
          <p:nvPr/>
        </p:nvPicPr>
        <p:blipFill rotWithShape="1">
          <a:blip r:embed="rId3">
            <a:alphaModFix/>
          </a:blip>
          <a:srcRect b="0" l="0" r="0" t="0"/>
          <a:stretch/>
        </p:blipFill>
        <p:spPr>
          <a:xfrm>
            <a:off x="-2" y="1295790"/>
            <a:ext cx="4465320" cy="103523"/>
          </a:xfrm>
          <a:prstGeom prst="rect">
            <a:avLst/>
          </a:prstGeom>
          <a:noFill/>
          <a:ln>
            <a:noFill/>
          </a:ln>
        </p:spPr>
      </p:pic>
      <p:pic>
        <p:nvPicPr>
          <p:cNvPr id="32" name="Google Shape;32;p13"/>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6" name="Google Shape;3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8"/>
          <p:cNvSpPr/>
          <p:nvPr>
            <p:ph idx="2" type="pic"/>
          </p:nvPr>
        </p:nvSpPr>
        <p:spPr>
          <a:xfrm>
            <a:off x="5183188" y="987425"/>
            <a:ext cx="6172200" cy="4873625"/>
          </a:xfrm>
          <a:prstGeom prst="rect">
            <a:avLst/>
          </a:prstGeom>
          <a:noFill/>
          <a:ln>
            <a:noFill/>
          </a:ln>
        </p:spPr>
      </p:sp>
      <p:sp>
        <p:nvSpPr>
          <p:cNvPr id="65" name="Google Shape;65;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
          <p:cNvPicPr preferRelativeResize="0"/>
          <p:nvPr/>
        </p:nvPicPr>
        <p:blipFill rotWithShape="1">
          <a:blip r:embed="rId3">
            <a:alphaModFix/>
          </a:blip>
          <a:srcRect b="0" l="0" r="0" t="0"/>
          <a:stretch/>
        </p:blipFill>
        <p:spPr>
          <a:xfrm>
            <a:off x="3176241" y="2315842"/>
            <a:ext cx="5839519" cy="222631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2"/>
          <p:cNvPicPr preferRelativeResize="0"/>
          <p:nvPr/>
        </p:nvPicPr>
        <p:blipFill rotWithShape="1">
          <a:blip r:embed="rId3">
            <a:alphaModFix/>
          </a:blip>
          <a:srcRect b="0" l="0" r="0" t="0"/>
          <a:stretch/>
        </p:blipFill>
        <p:spPr>
          <a:xfrm>
            <a:off x="894099" y="2592668"/>
            <a:ext cx="4387317" cy="1672665"/>
          </a:xfrm>
          <a:prstGeom prst="rect">
            <a:avLst/>
          </a:prstGeom>
          <a:noFill/>
          <a:ln>
            <a:noFill/>
          </a:ln>
        </p:spPr>
      </p:pic>
      <p:sp>
        <p:nvSpPr>
          <p:cNvPr id="91" name="Google Shape;91;p2"/>
          <p:cNvSpPr/>
          <p:nvPr/>
        </p:nvSpPr>
        <p:spPr>
          <a:xfrm>
            <a:off x="6065574" y="2513226"/>
            <a:ext cx="60852" cy="1851425"/>
          </a:xfrm>
          <a:prstGeom prst="rect">
            <a:avLst/>
          </a:prstGeom>
          <a:solidFill>
            <a:srgbClr val="970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 name="Google Shape;92;p2"/>
          <p:cNvSpPr txBox="1"/>
          <p:nvPr/>
        </p:nvSpPr>
        <p:spPr>
          <a:xfrm>
            <a:off x="6816256" y="2513226"/>
            <a:ext cx="3971014" cy="61752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700FF"/>
              </a:buClr>
              <a:buSzPts val="2800"/>
              <a:buFont typeface="Arial Narrow"/>
              <a:buNone/>
            </a:pPr>
            <a:r>
              <a:rPr b="1" i="0" lang="en-US" sz="2800" u="none" cap="none" strike="noStrike">
                <a:solidFill>
                  <a:srgbClr val="9700FF"/>
                </a:solidFill>
                <a:latin typeface="Arial Narrow"/>
                <a:ea typeface="Arial Narrow"/>
                <a:cs typeface="Arial Narrow"/>
                <a:sym typeface="Arial Narrow"/>
              </a:rPr>
              <a:t>Feature Engineering</a:t>
            </a:r>
            <a:endParaRPr b="1" i="0" sz="2800" u="none" cap="none" strike="noStrike">
              <a:solidFill>
                <a:srgbClr val="9700FF"/>
              </a:solidFill>
              <a:latin typeface="Arial Narrow"/>
              <a:ea typeface="Arial Narrow"/>
              <a:cs typeface="Arial Narrow"/>
              <a:sym typeface="Arial Narrow"/>
            </a:endParaRPr>
          </a:p>
        </p:txBody>
      </p:sp>
      <p:sp>
        <p:nvSpPr>
          <p:cNvPr id="93" name="Google Shape;93;p2"/>
          <p:cNvSpPr txBox="1"/>
          <p:nvPr/>
        </p:nvSpPr>
        <p:spPr>
          <a:xfrm>
            <a:off x="6910584" y="3193775"/>
            <a:ext cx="3876600" cy="8745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Feature Engineering Techniques for Time-series Data</a:t>
            </a:r>
            <a:endParaRPr b="1" i="0" sz="2400" u="none" cap="none" strike="noStrike">
              <a:solidFill>
                <a:schemeClr val="dk1"/>
              </a:solidFill>
              <a:latin typeface="Arial"/>
              <a:ea typeface="Arial"/>
              <a:cs typeface="Arial"/>
              <a:sym typeface="Arial"/>
            </a:endParaRPr>
          </a:p>
        </p:txBody>
      </p:sp>
      <p:sp>
        <p:nvSpPr>
          <p:cNvPr id="94" name="Google Shape;94;p2"/>
          <p:cNvSpPr txBox="1"/>
          <p:nvPr/>
        </p:nvSpPr>
        <p:spPr>
          <a:xfrm>
            <a:off x="6910584" y="4119559"/>
            <a:ext cx="3876686" cy="42593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Prof. Anita Ramachandran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707f902fe4_0_0"/>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Introduction to Time-Series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00" name="Google Shape;100;g3707f902fe4_0_0"/>
          <p:cNvSpPr txBox="1"/>
          <p:nvPr/>
        </p:nvSpPr>
        <p:spPr>
          <a:xfrm>
            <a:off x="533525" y="1909250"/>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Overview</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Time-series data: sequence of values recorded over time, often at consistent intervals.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Transforms raw sequences into structured inputs for machine learning models.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Goal: Extract signals, patterns, and trends.</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01" name="Google Shape;101;g3707f902fe4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02" name="Google Shape;102;g3707f902fe4_0_0"/>
          <p:cNvPicPr preferRelativeResize="0"/>
          <p:nvPr/>
        </p:nvPicPr>
        <p:blipFill rotWithShape="1">
          <a:blip r:embed="rId4">
            <a:alphaModFix/>
          </a:blip>
          <a:srcRect b="0" l="0" r="0" t="0"/>
          <a:stretch/>
        </p:blipFill>
        <p:spPr>
          <a:xfrm>
            <a:off x="-2" y="1722090"/>
            <a:ext cx="4465321" cy="103523"/>
          </a:xfrm>
          <a:prstGeom prst="rect">
            <a:avLst/>
          </a:prstGeom>
          <a:noFill/>
          <a:ln>
            <a:noFill/>
          </a:ln>
        </p:spPr>
      </p:pic>
      <p:pic>
        <p:nvPicPr>
          <p:cNvPr id="103" name="Google Shape;103;g3707f902fe4_0_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708268c0a4_0_0"/>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Why Time-Series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09" name="Google Shape;109;g3708268c0a4_0_0"/>
          <p:cNvSpPr txBox="1"/>
          <p:nvPr/>
        </p:nvSpPr>
        <p:spPr>
          <a:xfrm>
            <a:off x="440400" y="1837125"/>
            <a:ext cx="11323200" cy="43512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Importance</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Extracts hidden cyclical trends and periodicities.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Reveals patterns buried in temporal noise.</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Bridges signal processing with machine learning.</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10" name="Google Shape;110;g3708268c0a4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11" name="Google Shape;111;g3708268c0a4_0_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12" name="Google Shape;112;g3708268c0a4_0_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7084f751b1_0_0"/>
          <p:cNvSpPr txBox="1"/>
          <p:nvPr/>
        </p:nvSpPr>
        <p:spPr>
          <a:xfrm>
            <a:off x="441960" y="4260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Time-Based Features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18" name="Google Shape;118;g37084f751b1_0_0"/>
          <p:cNvSpPr txBox="1"/>
          <p:nvPr/>
        </p:nvSpPr>
        <p:spPr>
          <a:xfrm>
            <a:off x="440400" y="1862750"/>
            <a:ext cx="11323200" cy="43512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Definition</a:t>
            </a:r>
            <a:r>
              <a:rPr lang="en-US" sz="2400">
                <a:solidFill>
                  <a:schemeClr val="dk1"/>
                </a:solidFill>
              </a:rPr>
              <a:t>:</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Features derived directly from the timestamp.</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Independent of the target variable.</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Examples:</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sz="2400">
              <a:solidFill>
                <a:schemeClr val="dk1"/>
              </a:solidFil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Hour of the day (0–23)</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Day of the week (Monday to Sunday)</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Month, quarter, or season</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19" name="Google Shape;119;g37084f751b1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20" name="Google Shape;120;g37084f751b1_0_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21" name="Google Shape;121;g37084f751b1_0_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7084f751b1_0_8"/>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More Time-Based Features and Their Significance</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27" name="Google Shape;127;g37084f751b1_0_8"/>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rPr b="0" i="0" lang="en-US" sz="2420" u="none" cap="none" strike="noStrike">
                <a:solidFill>
                  <a:schemeClr val="dk1"/>
                </a:solidFill>
                <a:latin typeface="Arial"/>
                <a:ea typeface="Arial"/>
                <a:cs typeface="Arial"/>
                <a:sym typeface="Arial"/>
              </a:rPr>
              <a:t>Further Examples and Importance</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1018"/>
              <a:buFont typeface="Arial"/>
              <a:buNone/>
            </a:pPr>
            <a:r>
              <a:rPr b="0" i="0" lang="en-US" sz="2420" u="none" cap="none" strike="noStrike">
                <a:solidFill>
                  <a:schemeClr val="dk1"/>
                </a:solidFill>
                <a:latin typeface="Arial"/>
                <a:ea typeface="Arial"/>
                <a:cs typeface="Arial"/>
                <a:sym typeface="Arial"/>
              </a:rPr>
              <a:t>Examples (continued):</a:t>
            </a:r>
            <a:endParaRPr b="0" i="0" sz="2420" u="none" cap="none" strike="noStrike">
              <a:solidFill>
                <a:schemeClr val="dk1"/>
              </a:solidFill>
              <a:latin typeface="Arial"/>
              <a:ea typeface="Arial"/>
              <a:cs typeface="Arial"/>
              <a:sym typeface="Arial"/>
            </a:endParaRPr>
          </a:p>
          <a:p>
            <a:pPr indent="-382270" lvl="0" marL="457200" marR="0" rtl="0" algn="l">
              <a:lnSpc>
                <a:spcPct val="70000"/>
              </a:lnSpc>
              <a:spcBef>
                <a:spcPts val="1000"/>
              </a:spcBef>
              <a:spcAft>
                <a:spcPts val="0"/>
              </a:spcAft>
              <a:buClr>
                <a:schemeClr val="dk1"/>
              </a:buClr>
              <a:buSzPts val="2420"/>
              <a:buFont typeface="Arial"/>
              <a:buChar char="●"/>
            </a:pPr>
            <a:r>
              <a:rPr b="0" i="0" lang="en-US" sz="2420" u="none" cap="none" strike="noStrike">
                <a:solidFill>
                  <a:schemeClr val="dk1"/>
                </a:solidFill>
                <a:latin typeface="Arial"/>
                <a:ea typeface="Arial"/>
                <a:cs typeface="Arial"/>
                <a:sym typeface="Arial"/>
              </a:rPr>
              <a:t>Is weekend, is holiday, is business day</a:t>
            </a:r>
            <a:endParaRPr b="0" i="0" sz="2420" u="none" cap="none" strike="noStrike">
              <a:solidFill>
                <a:schemeClr val="dk1"/>
              </a:solidFill>
              <a:latin typeface="Arial"/>
              <a:ea typeface="Arial"/>
              <a:cs typeface="Arial"/>
              <a:sym typeface="Arial"/>
            </a:endParaRPr>
          </a:p>
          <a:p>
            <a:pPr indent="-382270" lvl="0" marL="457200" marR="0" rtl="0" algn="l">
              <a:lnSpc>
                <a:spcPct val="70000"/>
              </a:lnSpc>
              <a:spcBef>
                <a:spcPts val="1000"/>
              </a:spcBef>
              <a:spcAft>
                <a:spcPts val="0"/>
              </a:spcAft>
              <a:buClr>
                <a:schemeClr val="dk1"/>
              </a:buClr>
              <a:buSzPts val="2420"/>
              <a:buFont typeface="Arial"/>
              <a:buChar char="●"/>
            </a:pPr>
            <a:r>
              <a:rPr b="0" i="0" lang="en-US" sz="2420" u="none" cap="none" strike="noStrike">
                <a:solidFill>
                  <a:schemeClr val="dk1"/>
                </a:solidFill>
                <a:latin typeface="Arial"/>
                <a:ea typeface="Arial"/>
                <a:cs typeface="Arial"/>
                <a:sym typeface="Arial"/>
              </a:rPr>
              <a:t>Week of the year</a:t>
            </a:r>
            <a:endParaRPr b="0" i="0" sz="2420" u="none" cap="none" strike="noStrike">
              <a:solidFill>
                <a:schemeClr val="dk1"/>
              </a:solidFill>
              <a:latin typeface="Arial"/>
              <a:ea typeface="Arial"/>
              <a:cs typeface="Arial"/>
              <a:sym typeface="Arial"/>
            </a:endParaRPr>
          </a:p>
          <a:p>
            <a:pPr indent="-382270" lvl="0" marL="457200" marR="0" rtl="0" algn="l">
              <a:lnSpc>
                <a:spcPct val="70000"/>
              </a:lnSpc>
              <a:spcBef>
                <a:spcPts val="1000"/>
              </a:spcBef>
              <a:spcAft>
                <a:spcPts val="0"/>
              </a:spcAft>
              <a:buClr>
                <a:schemeClr val="dk1"/>
              </a:buClr>
              <a:buSzPts val="2420"/>
              <a:buFont typeface="Arial"/>
              <a:buChar char="●"/>
            </a:pPr>
            <a:r>
              <a:rPr b="0" i="0" lang="en-US" sz="2420" u="none" cap="none" strike="noStrike">
                <a:solidFill>
                  <a:schemeClr val="dk1"/>
                </a:solidFill>
                <a:latin typeface="Arial"/>
                <a:ea typeface="Arial"/>
                <a:cs typeface="Arial"/>
                <a:sym typeface="Arial"/>
              </a:rPr>
              <a:t>Time since a defined event (e.g., last visit)</a:t>
            </a:r>
            <a:endParaRPr b="0" i="0" sz="242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1018"/>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1018"/>
              <a:buFont typeface="Arial"/>
              <a:buNone/>
            </a:pPr>
            <a:r>
              <a:rPr b="0" i="0" lang="en-US" sz="2420" u="none" cap="none" strike="noStrike">
                <a:solidFill>
                  <a:schemeClr val="dk1"/>
                </a:solidFill>
                <a:latin typeface="Arial"/>
                <a:ea typeface="Arial"/>
                <a:cs typeface="Arial"/>
                <a:sym typeface="Arial"/>
              </a:rPr>
              <a:t>Reveal hidden cyclical trends and periodicities.</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1018"/>
              <a:buFont typeface="Arial"/>
              <a:buNone/>
            </a:pPr>
            <a:r>
              <a:rPr b="0" i="0" lang="en-US" sz="2420" u="none" cap="none" strike="noStrike">
                <a:solidFill>
                  <a:schemeClr val="dk1"/>
                </a:solidFill>
                <a:latin typeface="Arial"/>
                <a:ea typeface="Arial"/>
                <a:cs typeface="Arial"/>
                <a:sym typeface="Arial"/>
              </a:rPr>
              <a:t>Applications in E-commerce, Healthcare, Energy.</a:t>
            </a:r>
            <a:endParaRPr b="0" i="0" sz="242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1018"/>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p:txBody>
      </p:sp>
      <p:pic>
        <p:nvPicPr>
          <p:cNvPr id="128" name="Google Shape;128;g37084f751b1_0_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29" name="Google Shape;129;g37084f751b1_0_8"/>
          <p:cNvPicPr preferRelativeResize="0"/>
          <p:nvPr/>
        </p:nvPicPr>
        <p:blipFill rotWithShape="1">
          <a:blip r:embed="rId4">
            <a:alphaModFix/>
          </a:blip>
          <a:srcRect b="0" l="0" r="0" t="0"/>
          <a:stretch/>
        </p:blipFill>
        <p:spPr>
          <a:xfrm>
            <a:off x="-2" y="1722090"/>
            <a:ext cx="4465321" cy="103523"/>
          </a:xfrm>
          <a:prstGeom prst="rect">
            <a:avLst/>
          </a:prstGeom>
          <a:noFill/>
          <a:ln>
            <a:noFill/>
          </a:ln>
        </p:spPr>
      </p:pic>
      <p:pic>
        <p:nvPicPr>
          <p:cNvPr id="130" name="Google Shape;130;g37084f751b1_0_8"/>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7084f751b1_0_16"/>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Lag Features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36" name="Google Shape;136;g37084f751b1_0_16"/>
          <p:cNvSpPr txBox="1"/>
          <p:nvPr/>
        </p:nvSpPr>
        <p:spPr>
          <a:xfrm>
            <a:off x="533525" y="1825625"/>
            <a:ext cx="11323200" cy="4351200"/>
          </a:xfrm>
          <a:prstGeom prst="rect">
            <a:avLst/>
          </a:prstGeom>
          <a:noFill/>
          <a:ln>
            <a:noFill/>
          </a:ln>
        </p:spPr>
        <p:txBody>
          <a:bodyPr anchorCtr="0" anchor="t" bIns="45700" lIns="91425" spcFirstLastPara="1" rIns="91425" wrap="square" tIns="45700">
            <a:normAutofit/>
          </a:bodyPr>
          <a:lstStyle/>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Definition: Past observations used as predictors for current or future state.</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Formula: For xt​, lag-1 is xt−1​, lag-2 is xt−2​, etc.</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Purpose: Capture autocorrelation and temporal dependencies.</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37" name="Google Shape;137;g37084f751b1_0_1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38" name="Google Shape;138;g37084f751b1_0_16"/>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39" name="Google Shape;139;g37084f751b1_0_16"/>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7084f751b1_0_24"/>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Lag Features: Use Cases and Caution</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45" name="Google Shape;145;g37084f751b1_0_24"/>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Use Cases: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Predicting stock price using prices from the last 3 days.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Modeling heart rate dynamics using previous readings.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Forecasting demand based on prior day/week trends.</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Caution: Lagging creates missing values for early rows.</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Optimal number of lags: Use autocorrelation plots (ACF, PACF) or domain knowledge.</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46" name="Google Shape;146;g37084f751b1_0_24"/>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47" name="Google Shape;147;g37084f751b1_0_24"/>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48" name="Google Shape;148;g37084f751b1_0_24"/>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Rolling Statistics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5" y="1830863"/>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rgbClr val="000000"/>
              </a:buClr>
              <a:buSzPts val="2440"/>
              <a:buFont typeface="Arial"/>
              <a:buNone/>
            </a:pPr>
            <a:r>
              <a:rPr b="0" i="0" lang="en-US" sz="2440" u="none" cap="none" strike="noStrike">
                <a:solidFill>
                  <a:schemeClr val="dk1"/>
                </a:solidFill>
                <a:latin typeface="Arial"/>
                <a:ea typeface="Arial"/>
                <a:cs typeface="Arial"/>
                <a:sym typeface="Arial"/>
              </a:rPr>
              <a:t>Definition: Compute aggregate functions over a moving window.</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40"/>
              <a:buFont typeface="Arial"/>
              <a:buNone/>
            </a:pPr>
            <a:r>
              <a:rPr b="0" i="0" lang="en-US" sz="2440" u="none" cap="none" strike="noStrike">
                <a:solidFill>
                  <a:schemeClr val="dk1"/>
                </a:solidFill>
                <a:latin typeface="Arial"/>
                <a:ea typeface="Arial"/>
                <a:cs typeface="Arial"/>
                <a:sym typeface="Arial"/>
              </a:rPr>
              <a:t>Common Functions:</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100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Rolling mean</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100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Rolling standard deviation</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100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Rolling sum</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100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Rolling max/min</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100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Rolling median</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p:txBody>
      </p:sp>
      <p:pic>
        <p:nvPicPr>
          <p:cNvPr id="155" name="Google Shape;155;g37084f751b1_0_3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57" name="Google Shape;157;g37084f751b1_0_32"/>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7084f751b1_0_4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Rolling Statistics: Formula and Significance</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63" name="Google Shape;163;g37084f751b1_0_40"/>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rPr b="0" i="0" lang="en-US" sz="2420" u="none" cap="none" strike="noStrike">
                <a:solidFill>
                  <a:schemeClr val="dk1"/>
                </a:solidFill>
                <a:latin typeface="Arial"/>
                <a:ea typeface="Arial"/>
                <a:cs typeface="Arial"/>
                <a:sym typeface="Arial"/>
              </a:rPr>
              <a:t>Notation: For a window size w, the rolling mean at time t is:</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rPr b="0" i="0" lang="en-US" sz="2420" u="none" cap="none" strike="noStrike">
                <a:solidFill>
                  <a:schemeClr val="dk1"/>
                </a:solidFill>
                <a:latin typeface="Arial"/>
                <a:ea typeface="Arial"/>
                <a:cs typeface="Arial"/>
                <a:sym typeface="Arial"/>
              </a:rPr>
              <a:t>Rolling_Meant​=(1/w)∗Σ(xt−i​) for i=0 to w−1</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rPr b="0" i="0" lang="en-US" sz="2420" u="none" cap="none" strike="noStrike">
                <a:solidFill>
                  <a:schemeClr val="dk1"/>
                </a:solidFill>
                <a:latin typeface="Arial"/>
                <a:ea typeface="Arial"/>
                <a:cs typeface="Arial"/>
                <a:sym typeface="Arial"/>
              </a:rPr>
              <a:t>Why It Matters:</a:t>
            </a:r>
            <a:endParaRPr b="0" i="0" sz="2420" u="none" cap="none" strike="noStrike">
              <a:solidFill>
                <a:schemeClr val="dk1"/>
              </a:solidFill>
              <a:latin typeface="Arial"/>
              <a:ea typeface="Arial"/>
              <a:cs typeface="Arial"/>
              <a:sym typeface="Arial"/>
            </a:endParaRPr>
          </a:p>
          <a:p>
            <a:pPr indent="-382270" lvl="0" marL="457200" marR="0" rtl="0" algn="l">
              <a:lnSpc>
                <a:spcPct val="70000"/>
              </a:lnSpc>
              <a:spcBef>
                <a:spcPts val="1000"/>
              </a:spcBef>
              <a:spcAft>
                <a:spcPts val="0"/>
              </a:spcAft>
              <a:buClr>
                <a:schemeClr val="dk1"/>
              </a:buClr>
              <a:buSzPts val="2420"/>
              <a:buFont typeface="Arial"/>
              <a:buChar char="●"/>
            </a:pPr>
            <a:r>
              <a:rPr b="0" i="0" lang="en-US" sz="2420" u="none" cap="none" strike="noStrike">
                <a:solidFill>
                  <a:schemeClr val="dk1"/>
                </a:solidFill>
                <a:latin typeface="Arial"/>
                <a:ea typeface="Arial"/>
                <a:cs typeface="Arial"/>
                <a:sym typeface="Arial"/>
              </a:rPr>
              <a:t>Smooths noisy series.</a:t>
            </a:r>
            <a:endParaRPr b="0" i="0" sz="2420" u="none" cap="none" strike="noStrike">
              <a:solidFill>
                <a:schemeClr val="dk1"/>
              </a:solidFill>
              <a:latin typeface="Arial"/>
              <a:ea typeface="Arial"/>
              <a:cs typeface="Arial"/>
              <a:sym typeface="Arial"/>
            </a:endParaRPr>
          </a:p>
          <a:p>
            <a:pPr indent="-382270" lvl="0" marL="457200" marR="0" rtl="0" algn="l">
              <a:lnSpc>
                <a:spcPct val="70000"/>
              </a:lnSpc>
              <a:spcBef>
                <a:spcPts val="0"/>
              </a:spcBef>
              <a:spcAft>
                <a:spcPts val="0"/>
              </a:spcAft>
              <a:buClr>
                <a:schemeClr val="dk1"/>
              </a:buClr>
              <a:buSzPts val="2420"/>
              <a:buFont typeface="Arial"/>
              <a:buChar char="●"/>
            </a:pPr>
            <a:r>
              <a:rPr b="0" i="0" lang="en-US" sz="2420" u="none" cap="none" strike="noStrike">
                <a:solidFill>
                  <a:schemeClr val="dk1"/>
                </a:solidFill>
                <a:latin typeface="Arial"/>
                <a:ea typeface="Arial"/>
                <a:cs typeface="Arial"/>
                <a:sym typeface="Arial"/>
              </a:rPr>
              <a:t>Identifies local trends and volatility.</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p:txBody>
      </p:sp>
      <p:pic>
        <p:nvPicPr>
          <p:cNvPr id="164" name="Google Shape;164;g37084f751b1_0_4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65" name="Google Shape;165;g37084f751b1_0_40"/>
          <p:cNvPicPr preferRelativeResize="0"/>
          <p:nvPr/>
        </p:nvPicPr>
        <p:blipFill rotWithShape="1">
          <a:blip r:embed="rId4">
            <a:alphaModFix/>
          </a:blip>
          <a:srcRect b="0" l="0" r="0" t="0"/>
          <a:stretch/>
        </p:blipFill>
        <p:spPr>
          <a:xfrm>
            <a:off x="-2" y="1722090"/>
            <a:ext cx="4465321" cy="103523"/>
          </a:xfrm>
          <a:prstGeom prst="rect">
            <a:avLst/>
          </a:prstGeom>
          <a:noFill/>
          <a:ln>
            <a:noFill/>
          </a:ln>
        </p:spPr>
      </p:pic>
      <p:pic>
        <p:nvPicPr>
          <p:cNvPr id="166" name="Google Shape;166;g37084f751b1_0_4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7084f751b1_0_48"/>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Rolling Statistics: Applications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72" name="Google Shape;172;g37084f751b1_0_48"/>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680"/>
              <a:buFont typeface="Arial"/>
              <a:buNone/>
            </a:pPr>
            <a:r>
              <a:rPr b="0" i="0" lang="en-US" sz="2400" u="none" cap="none" strike="noStrike">
                <a:solidFill>
                  <a:schemeClr val="dk1"/>
                </a:solidFill>
                <a:latin typeface="Arial"/>
                <a:ea typeface="Arial"/>
                <a:cs typeface="Arial"/>
                <a:sym typeface="Arial"/>
              </a:rPr>
              <a:t>Applications: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Financial: Detecting moving average crossovers.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Health monitoring: Detecting short-term heart rate variability.</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Industry: Monitoring machine vibration variance for fault detection.</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77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chemeClr val="dk1"/>
              </a:buClr>
              <a:buSzPts val="77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t/>
            </a:r>
            <a:endParaRPr b="0" i="0" sz="2400" u="none" cap="none" strike="noStrike">
              <a:solidFill>
                <a:schemeClr val="dk1"/>
              </a:solidFill>
              <a:latin typeface="Arial"/>
              <a:ea typeface="Arial"/>
              <a:cs typeface="Arial"/>
              <a:sym typeface="Arial"/>
            </a:endParaRPr>
          </a:p>
        </p:txBody>
      </p:sp>
      <p:pic>
        <p:nvPicPr>
          <p:cNvPr id="173" name="Google Shape;173;g37084f751b1_0_4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74" name="Google Shape;174;g37084f751b1_0_48"/>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75" name="Google Shape;175;g37084f751b1_0_48"/>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7084f751b1_0_56"/>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Window-Based Features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81" name="Google Shape;181;g37084f751b1_0_56"/>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Definition: Extract characteristics over a time window.</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More general than rolling statistics.</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Examples:</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Percent change</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Trend (slope of regression line)</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Time since last peak/trough</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Entropy or signal complexity</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p:txBody>
      </p:sp>
      <p:pic>
        <p:nvPicPr>
          <p:cNvPr id="182" name="Google Shape;182;g37084f751b1_0_5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83" name="Google Shape;183;g37084f751b1_0_56"/>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84" name="Google Shape;184;g37084f751b1_0_56"/>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7084f751b1_0_64"/>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Window-Based Features: Further Examples and Use Cases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90" name="Google Shape;190;g37084f751b1_0_64"/>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1860"/>
              <a:buFont typeface="Arial"/>
              <a:buNone/>
            </a:pPr>
            <a:r>
              <a:rPr b="0" i="0" lang="en-US" sz="2400" u="none" cap="none" strike="noStrike">
                <a:solidFill>
                  <a:schemeClr val="dk1"/>
                </a:solidFill>
                <a:latin typeface="Arial"/>
                <a:ea typeface="Arial"/>
                <a:cs typeface="Arial"/>
                <a:sym typeface="Arial"/>
              </a:rPr>
              <a:t>Example (30-minute sliding window):</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Min, max, mean</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Standard deviation</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Linear trend slope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Range (max - min)</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Use Cases: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Sensor analytics in IoT</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Activity recognition in wearables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Financial risk analysis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191" name="Google Shape;191;g37084f751b1_0_64"/>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92" name="Google Shape;192;g37084f751b1_0_64"/>
          <p:cNvPicPr preferRelativeResize="0"/>
          <p:nvPr/>
        </p:nvPicPr>
        <p:blipFill rotWithShape="1">
          <a:blip r:embed="rId4">
            <a:alphaModFix/>
          </a:blip>
          <a:srcRect b="0" l="0" r="0" t="0"/>
          <a:stretch/>
        </p:blipFill>
        <p:spPr>
          <a:xfrm>
            <a:off x="-2" y="1722103"/>
            <a:ext cx="4465321" cy="103523"/>
          </a:xfrm>
          <a:prstGeom prst="rect">
            <a:avLst/>
          </a:prstGeom>
          <a:noFill/>
          <a:ln>
            <a:noFill/>
          </a:ln>
        </p:spPr>
      </p:pic>
      <p:pic>
        <p:nvPicPr>
          <p:cNvPr id="193" name="Google Shape;193;g37084f751b1_0_64"/>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7084f751b1_0_72"/>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Domain-Specific Features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99" name="Google Shape;199;g37084f751b1_0_72"/>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Introduction</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Speciali</a:t>
            </a:r>
            <a:r>
              <a:rPr lang="en-US" sz="2400">
                <a:solidFill>
                  <a:schemeClr val="dk1"/>
                </a:solidFill>
              </a:rPr>
              <a:t>s</a:t>
            </a:r>
            <a:r>
              <a:rPr b="0" i="0" lang="en-US" sz="2400" u="none" cap="none" strike="noStrike">
                <a:solidFill>
                  <a:schemeClr val="dk1"/>
                </a:solidFill>
                <a:latin typeface="Arial"/>
                <a:ea typeface="Arial"/>
                <a:cs typeface="Arial"/>
                <a:sym typeface="Arial"/>
              </a:rPr>
              <a:t>ed features designed for particular applications.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Heart Rate Variability (HRV)</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Respiratory Rate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Peak/Off-Peak Usage</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00" name="Google Shape;200;g37084f751b1_0_7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01" name="Google Shape;201;g37084f751b1_0_72"/>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02" name="Google Shape;202;g37084f751b1_0_72"/>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7084f751b1_0_8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Domain-Specific Features: Heart Rate Variability (HRV)</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08" name="Google Shape;208;g37084f751b1_0_80"/>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Heart Rate Variability (HRV)</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Definition: Variation in time intervals between consecutive heartbeats.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Computed from ECG or PPG signals.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Common metrics: RMSSD, SDNN, pNN50.</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Used in stress detection, fatigue analysis, cardiovascular risk.</a:t>
            </a:r>
            <a:endParaRPr b="0" i="0" sz="2400" u="none" cap="none" strike="noStrike">
              <a:solidFill>
                <a:schemeClr val="dk1"/>
              </a:solidFill>
              <a:latin typeface="Arial"/>
              <a:ea typeface="Arial"/>
              <a:cs typeface="Arial"/>
              <a:sym typeface="Arial"/>
            </a:endParaRPr>
          </a:p>
          <a:p>
            <a:pPr indent="0" lvl="0" marL="9144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09" name="Google Shape;209;g37084f751b1_0_8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10" name="Google Shape;210;g37084f751b1_0_80"/>
          <p:cNvPicPr preferRelativeResize="0"/>
          <p:nvPr/>
        </p:nvPicPr>
        <p:blipFill rotWithShape="1">
          <a:blip r:embed="rId4">
            <a:alphaModFix/>
          </a:blip>
          <a:srcRect b="0" l="0" r="0" t="0"/>
          <a:stretch/>
        </p:blipFill>
        <p:spPr>
          <a:xfrm>
            <a:off x="-2" y="1722103"/>
            <a:ext cx="4465321" cy="103523"/>
          </a:xfrm>
          <a:prstGeom prst="rect">
            <a:avLst/>
          </a:prstGeom>
          <a:noFill/>
          <a:ln>
            <a:noFill/>
          </a:ln>
        </p:spPr>
      </p:pic>
      <p:pic>
        <p:nvPicPr>
          <p:cNvPr id="211" name="Google Shape;211;g37084f751b1_0_8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708bf00c7c_0_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Domain-Specific Features: Respiratory Rate</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17" name="Google Shape;217;g3708bf00c7c_0_0"/>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Respiratory Rate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Definition: The number of breaths per minute.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Extracted from waveform data using zero-crossing or frequency analysis.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Important in ICU monitoring and sleep studies.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18" name="Google Shape;218;g3708bf00c7c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19" name="Google Shape;219;g3708bf00c7c_0_0"/>
          <p:cNvPicPr preferRelativeResize="0"/>
          <p:nvPr/>
        </p:nvPicPr>
        <p:blipFill rotWithShape="1">
          <a:blip r:embed="rId4">
            <a:alphaModFix/>
          </a:blip>
          <a:srcRect b="0" l="0" r="0" t="0"/>
          <a:stretch/>
        </p:blipFill>
        <p:spPr>
          <a:xfrm>
            <a:off x="-2" y="1722103"/>
            <a:ext cx="4465321" cy="103523"/>
          </a:xfrm>
          <a:prstGeom prst="rect">
            <a:avLst/>
          </a:prstGeom>
          <a:noFill/>
          <a:ln>
            <a:noFill/>
          </a:ln>
        </p:spPr>
      </p:pic>
      <p:pic>
        <p:nvPicPr>
          <p:cNvPr id="220" name="Google Shape;220;g3708bf00c7c_0_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708bf00c7c_0_8"/>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Domain-Specific Features: Peak/Off-Peak Usage</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26" name="Google Shape;226;g3708bf00c7c_0_8"/>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Peak/Off-Peak Usage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Definition: Label consumption as peak vs off-peak.</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Based on time or rate thresholds.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Useful in billing, optimi</a:t>
            </a:r>
            <a:r>
              <a:rPr lang="en-US" sz="2400">
                <a:solidFill>
                  <a:schemeClr val="dk1"/>
                </a:solidFill>
              </a:rPr>
              <a:t>s</a:t>
            </a:r>
            <a:r>
              <a:rPr b="0" i="0" lang="en-US" sz="2400" u="none" cap="none" strike="noStrike">
                <a:solidFill>
                  <a:schemeClr val="dk1"/>
                </a:solidFill>
                <a:latin typeface="Arial"/>
                <a:ea typeface="Arial"/>
                <a:cs typeface="Arial"/>
                <a:sym typeface="Arial"/>
              </a:rPr>
              <a:t>ation, and demand response modeling.</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227" name="Google Shape;227;g3708bf00c7c_0_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28" name="Google Shape;228;g3708bf00c7c_0_8"/>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229" name="Google Shape;229;g3708bf00c7c_0_8"/>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708bf00c7c_0_16"/>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Moving Averages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35" name="Google Shape;235;g3708bf00c7c_0_16"/>
          <p:cNvSpPr txBox="1"/>
          <p:nvPr/>
        </p:nvSpPr>
        <p:spPr>
          <a:xfrm>
            <a:off x="440400" y="185207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Smoothed series by averaging a fixed number of past observations.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Types: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Simple Moving Average (SMA)</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Exponential Moving Average (EMA)</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Weighted Moving Average (WMA)</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36" name="Google Shape;236;g3708bf00c7c_0_1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37" name="Google Shape;237;g3708bf00c7c_0_16"/>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38" name="Google Shape;238;g3708bf00c7c_0_16"/>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708bf00c7c_0_24"/>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Moving Averages: Formula and Purpose</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44" name="Google Shape;244;g3708bf00c7c_0_24"/>
          <p:cNvSpPr txBox="1"/>
          <p:nvPr/>
        </p:nvSpPr>
        <p:spPr>
          <a:xfrm>
            <a:off x="440400" y="18401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Formula (SMA): SMAt​=(1/n)∗Σ(xt−i​) for i=0 to n−1</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Purpose: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Reduces noise.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Highlights trend direction.</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Used as a basis for trading signals.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45" name="Google Shape;245;g3708bf00c7c_0_24"/>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46" name="Google Shape;246;g3708bf00c7c_0_24"/>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47" name="Google Shape;247;g3708bf00c7c_0_24"/>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708bf00c7c_0_32"/>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Moving Averages: Applications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53" name="Google Shape;253;g3708bf00c7c_0_32"/>
          <p:cNvSpPr txBox="1"/>
          <p:nvPr/>
        </p:nvSpPr>
        <p:spPr>
          <a:xfrm>
            <a:off x="440400" y="189987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Applications: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Stock trading</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Signal denoising in biomedical monitoring</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Smoothing weather time-series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54" name="Google Shape;254;g3708bf00c7c_0_3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55" name="Google Shape;255;g3708bf00c7c_0_32"/>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56" name="Google Shape;256;g3708bf00c7c_0_32"/>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708bf00c7c_0_4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Relative Strength Index (RSI)</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62" name="Google Shape;262;g3708bf00c7c_0_40"/>
          <p:cNvSpPr txBox="1"/>
          <p:nvPr/>
        </p:nvSpPr>
        <p:spPr>
          <a:xfrm>
            <a:off x="440400" y="185207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Relative Strength Index (RSI)</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Definition: Momentum oscillator measuring speed and change of price movements.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Formula: RS=AverageGain/AverageLoss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RSI=100−(100/(1+RS))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Range: 0 to 100</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63" name="Google Shape;263;g3708bf00c7c_0_4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64" name="Google Shape;264;g3708bf00c7c_0_40"/>
          <p:cNvPicPr preferRelativeResize="0"/>
          <p:nvPr/>
        </p:nvPicPr>
        <p:blipFill rotWithShape="1">
          <a:blip r:embed="rId4">
            <a:alphaModFix/>
          </a:blip>
          <a:srcRect b="0" l="0" r="0" t="0"/>
          <a:stretch/>
        </p:blipFill>
        <p:spPr>
          <a:xfrm>
            <a:off x="-2" y="1280478"/>
            <a:ext cx="4465321" cy="103523"/>
          </a:xfrm>
          <a:prstGeom prst="rect">
            <a:avLst/>
          </a:prstGeom>
          <a:noFill/>
          <a:ln>
            <a:noFill/>
          </a:ln>
        </p:spPr>
      </p:pic>
      <p:pic>
        <p:nvPicPr>
          <p:cNvPr id="265" name="Google Shape;265;g3708bf00c7c_0_4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708bf00c7c_0_59"/>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Relative Strength Index (RSI): Interpretation and Use Cases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71" name="Google Shape;271;g3708bf00c7c_0_59"/>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Relative Strength Index (RSI) (Interpretation and Use Cases)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Typically:</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BRSI &gt; 70 indicates overbought</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RSI &lt; 30 indicates oversold</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Use Cases: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Stock market prediction</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Quantitative trading algorithms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Feature for classifying market regimes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72" name="Google Shape;272;g3708bf00c7c_0_59"/>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73" name="Google Shape;273;g3708bf00c7c_0_59"/>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274" name="Google Shape;274;g3708bf00c7c_0_59"/>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708bf00c7c_0_68"/>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Bollinger Bands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80" name="Google Shape;280;g3708bf00c7c_0_68"/>
          <p:cNvSpPr txBox="1"/>
          <p:nvPr/>
        </p:nvSpPr>
        <p:spPr>
          <a:xfrm>
            <a:off x="440400" y="185207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Central moving average band and two outer bands defined by standard deviation.</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Formula:</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Upper Band = SMA + (k×σ)</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Lower Band = SMA - (k×σ)</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Where σ is the rolling standard deviation and k is typically 2.</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81" name="Google Shape;281;g3708bf00c7c_0_6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82" name="Google Shape;282;g3708bf00c7c_0_68"/>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83" name="Google Shape;283;g3708bf00c7c_0_68"/>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708bf00c7c_0_76"/>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Bollinger Bands: Purpose and Applications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89" name="Google Shape;289;g3708bf00c7c_0_76"/>
          <p:cNvSpPr txBox="1"/>
          <p:nvPr/>
        </p:nvSpPr>
        <p:spPr>
          <a:xfrm>
            <a:off x="440400" y="1929138"/>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sz="2400">
              <a:solidFill>
                <a:schemeClr val="dk1"/>
              </a:solidFil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Purpose: To detect volatility and potential reversal points.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Applications: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Trading strategies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Anomaly detection in signals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Monitoring range-bound behaviour in physiological time series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90" name="Google Shape;290;g3708bf00c7c_0_7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91" name="Google Shape;291;g3708bf00c7c_0_76"/>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292" name="Google Shape;292;g3708bf00c7c_0_76"/>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708bf00c7c_0_91"/>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Real-World Impact</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98" name="Google Shape;298;g3708bf00c7c_0_91"/>
          <p:cNvSpPr txBox="1"/>
          <p:nvPr/>
        </p:nvSpPr>
        <p:spPr>
          <a:xfrm>
            <a:off x="440400" y="1825388"/>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Practical Relevance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Essential for real-world, high-performance modeling.</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Applicable in healthcare, finance, IoT, and more.</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99" name="Google Shape;299;g3708bf00c7c_0_91"/>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300" name="Google Shape;300;g3708bf00c7c_0_91"/>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301" name="Google Shape;301;g3708bf00c7c_0_91"/>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
          <p:cNvSpPr/>
          <p:nvPr/>
        </p:nvSpPr>
        <p:spPr>
          <a:xfrm>
            <a:off x="11998" y="3894332"/>
            <a:ext cx="12192000" cy="2855668"/>
          </a:xfrm>
          <a:prstGeom prst="roundRect">
            <a:avLst>
              <a:gd fmla="val 16667" name="adj"/>
            </a:avLst>
          </a:prstGeom>
          <a:solidFill>
            <a:srgbClr val="7E00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The content provided in this digital training programme has been developed by professors / external vendors. All intellectual property rights in the content, including but not limited to video, text, slides, graphics, and audio materials, are owned exclusively by BITS Pilani (“BITS”), unless otherwise expressly stated. This programme may also include licensed or contributed works from third-party experts, faculty, and collaborating institutions, all of whom are duly acknowledged where appropriate.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All product names, logos, brands, and entity names referenced within this content are the property of their respective trademark owners. The inclusion of such names, logos, or brands does not imply any affiliation with, or endorsement by, these entities.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This material is intended solely for personal learning and academic purposes. Except for content that is explicitly confirmed to be in the public domain, no part of this content may be reproduced, copied, modified, distributed, republished, uploaded, posted, publicly displayed, or transmitted in any form or by any means – electronic, mechanical, photocopying, recording, or otherwise – without the prior express written consent of BITS Pilani or the applicable rights holder.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Any unauthorized use, commercial exploitation, resale, or public sharing of this content in any manner constitutes a violation of applicable intellectual property laws. BITS Pilani reserves the right to pursue all appropriate legal remedies, including but not limited to civil action and criminal prosecution under the Copyright Act, 1957, and other relevant statutes in force in India.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By accessing or using this digital training programme, you agree to comply with the terms set forth in this disclaimer.</a:t>
            </a:r>
            <a:endParaRPr b="0" i="0" sz="1400" u="none" cap="none" strike="noStrike">
              <a:solidFill>
                <a:srgbClr val="000000"/>
              </a:solidFill>
              <a:latin typeface="Arial"/>
              <a:ea typeface="Arial"/>
              <a:cs typeface="Arial"/>
              <a:sym typeface="Arial"/>
            </a:endParaRPr>
          </a:p>
        </p:txBody>
      </p:sp>
      <p:pic>
        <p:nvPicPr>
          <p:cNvPr id="307" name="Google Shape;307;p5"/>
          <p:cNvPicPr preferRelativeResize="0"/>
          <p:nvPr/>
        </p:nvPicPr>
        <p:blipFill rotWithShape="1">
          <a:blip r:embed="rId3">
            <a:alphaModFix/>
          </a:blip>
          <a:srcRect b="0" l="0" r="0" t="0"/>
          <a:stretch/>
        </p:blipFill>
        <p:spPr>
          <a:xfrm>
            <a:off x="10078720" y="405951"/>
            <a:ext cx="1778000" cy="679450"/>
          </a:xfrm>
          <a:prstGeom prst="rect">
            <a:avLst/>
          </a:prstGeom>
          <a:noFill/>
          <a:ln>
            <a:noFill/>
          </a:ln>
        </p:spPr>
      </p:pic>
      <p:sp>
        <p:nvSpPr>
          <p:cNvPr id="308" name="Google Shape;308;p5"/>
          <p:cNvSpPr txBox="1"/>
          <p:nvPr/>
        </p:nvSpPr>
        <p:spPr>
          <a:xfrm>
            <a:off x="3268980" y="2963668"/>
            <a:ext cx="5654040" cy="930665"/>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7200"/>
              <a:buFont typeface="Play"/>
              <a:buNone/>
            </a:pPr>
            <a:r>
              <a:rPr b="1" i="0" lang="en-US" sz="7200" u="none" cap="none" strike="noStrike">
                <a:solidFill>
                  <a:schemeClr val="dk1"/>
                </a:solidFill>
                <a:latin typeface="Play"/>
                <a:ea typeface="Play"/>
                <a:cs typeface="Play"/>
                <a:sym typeface="Play"/>
              </a:rPr>
              <a:t>Thank You</a:t>
            </a:r>
            <a:endParaRPr b="1" i="0" sz="7200" u="none" cap="none" strike="noStrike">
              <a:solidFill>
                <a:schemeClr val="dk1"/>
              </a:solidFill>
              <a:latin typeface="Play"/>
              <a:ea typeface="Play"/>
              <a:cs typeface="Play"/>
              <a:sym typeface="Play"/>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2025-05-30T08:20:10Z</dcterms:created>
  <dc:creator>Singh, Manjeet (GRG-MRM)</dc:creator>
</cp:coreProperties>
</file>