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Play"/>
      <p:regular r:id="rId22"/>
      <p:bold r:id="rId23"/>
    </p:embeddedFont>
    <p:embeddedFont>
      <p:font typeface="Arial Narrow"/>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hdV20IBixqecUc2DtF7RYAGLmJ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26D75F-07D5-4421-8D51-7C897F3F6C80}">
  <a:tblStyle styleId="{6B26D75F-07D5-4421-8D51-7C897F3F6C80}" styleName="Table_0">
    <a:wholeTbl>
      <a:tcTxStyle>
        <a:font>
          <a:latin typeface="Arial"/>
          <a:ea typeface="Arial"/>
          <a:cs typeface="Arial"/>
        </a:font>
        <a:srgbClr val="000000"/>
      </a:tcTxStyle>
      <a:tcStyle>
        <a:tcBdr>
          <a:left>
            <a:ln cap="flat" cmpd="sng" w="6350">
              <a:solidFill>
                <a:srgbClr val="000000"/>
              </a:solidFill>
              <a:prstDash val="solid"/>
              <a:round/>
              <a:headEnd len="sm" w="sm" type="none"/>
              <a:tailEnd len="sm" w="sm" type="none"/>
            </a:ln>
          </a:left>
          <a:right>
            <a:ln cap="flat" cmpd="sng" w="6350">
              <a:solidFill>
                <a:srgbClr val="000000"/>
              </a:solidFill>
              <a:prstDash val="solid"/>
              <a:round/>
              <a:headEnd len="sm" w="sm" type="none"/>
              <a:tailEnd len="sm" w="sm" type="none"/>
            </a:ln>
          </a:right>
          <a:top>
            <a:ln cap="flat" cmpd="sng" w="6350">
              <a:solidFill>
                <a:srgbClr val="000000"/>
              </a:solidFill>
              <a:prstDash val="solid"/>
              <a:round/>
              <a:headEnd len="sm" w="sm" type="none"/>
              <a:tailEnd len="sm" w="sm" type="none"/>
            </a:ln>
          </a:top>
          <a:bottom>
            <a:ln cap="flat" cmpd="sng" w="6350">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y-regular.fntdata"/><Relationship Id="rId21" Type="http://schemas.openxmlformats.org/officeDocument/2006/relationships/slide" Target="slides/slide16.xml"/><Relationship Id="rId24" Type="http://schemas.openxmlformats.org/officeDocument/2006/relationships/font" Target="fonts/ArialNarrow-regular.fntdata"/><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rialNarrow-italic.fntdata"/><Relationship Id="rId25" Type="http://schemas.openxmlformats.org/officeDocument/2006/relationships/font" Target="fonts/ArialNarrow-bold.fntdata"/><Relationship Id="rId28" Type="http://customschemas.google.com/relationships/presentationmetadata" Target="metadata"/><Relationship Id="rId27" Type="http://schemas.openxmlformats.org/officeDocument/2006/relationships/font" Target="fonts/ArialNarrow-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07f902fe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Welcome to the fourth module of our feature engineering course, focusing on Dimensionality Reduction Techniques. Dimensionality reduction, at its core, is the process of reducing the number of input variables or features within a dataset. The goal is to do this while preserving as much relevant information as possible. We'll start by understanding why this process is so crucial in machine learning. Then, we'll introduce the three main techniques we'll be covering in detail: Principal Component Analysis (PCA), Singular Value Decomposition (SVD), and t-distributed Stochastic Neighbor Embedding (t-SNE). These techniques are fundamental for managing and understanding high-dimensional data.</a:t>
            </a:r>
            <a:endParaRPr>
              <a:solidFill>
                <a:srgbClr val="1B1C1D"/>
              </a:solidFill>
            </a:endParaRPr>
          </a:p>
          <a:p>
            <a:pPr indent="0" lvl="0" marL="0" rtl="0" algn="l">
              <a:lnSpc>
                <a:spcPct val="100000"/>
              </a:lnSpc>
              <a:spcBef>
                <a:spcPts val="1200"/>
              </a:spcBef>
              <a:spcAft>
                <a:spcPts val="0"/>
              </a:spcAft>
              <a:buSzPts val="1100"/>
              <a:buNone/>
            </a:pPr>
            <a:r>
              <a:t/>
            </a:r>
            <a:endParaRPr>
              <a:solidFill>
                <a:srgbClr val="1B1C1D"/>
              </a:solidFill>
            </a:endParaRPr>
          </a:p>
        </p:txBody>
      </p:sp>
      <p:sp>
        <p:nvSpPr>
          <p:cNvPr id="97" name="Google Shape;97;g3707f902fe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08268c0a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delve into the fundamental reasons why dimensionality reduction is so important. The first major reason is what's known as the "Curse of Dimensionality". As the number of dimensions or features in your dataset increases, the data becomes incredibly sparse. Imagine trying to find patterns in a vast, empty space – it becomes much harder. Consequently, in such high-dimensional spaces, the distances between data points lose their meaning, making it difficult for many machine learning algorithms to operate effectively. Secondly, a higher number of features directly translates to more parameters in your machine learning models. This increase in complexity leads to a significantly increased risk of overfitting, where your model learns the noise in the training data rather than the true underlying patterns, resulting in poor performance on new, unseen data.</a:t>
            </a:r>
            <a:endParaRPr>
              <a:solidFill>
                <a:srgbClr val="1B1C1D"/>
              </a:solidFill>
            </a:endParaRPr>
          </a:p>
          <a:p>
            <a:pPr indent="0" lvl="0" marL="0" rtl="0" algn="l">
              <a:lnSpc>
                <a:spcPct val="100000"/>
              </a:lnSpc>
              <a:spcBef>
                <a:spcPts val="1200"/>
              </a:spcBef>
              <a:spcAft>
                <a:spcPts val="0"/>
              </a:spcAft>
              <a:buSzPts val="1100"/>
              <a:buNone/>
            </a:pPr>
            <a:r>
              <a:t/>
            </a:r>
            <a:endParaRPr>
              <a:solidFill>
                <a:srgbClr val="1B1C1D"/>
              </a:solidFill>
            </a:endParaRPr>
          </a:p>
        </p:txBody>
      </p:sp>
      <p:sp>
        <p:nvSpPr>
          <p:cNvPr id="106" name="Google Shape;106;g3708268c0a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084f751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Continuing on why dimensionality reduction is critical, let's consider computational cost. Processing data with a large number of dimensions can be extremely time-consuming and resource-intensive for algorithms. By reducing the dimensions, we significantly improve the speed and efficiency of model training and inference. Another crucial benefit is visualisation. Humans are very good at understanding patterns in 2D or 3D. When data has many dimensions, it's virtually impossible to visualise it directly. Dimensionality reduction allows us to create human-friendly 2D or 3D visualisations, which can reveal hidden clusters, outliers, or relationships that would otherwise remain hidden. Lastly, dimensionality reduction contributes to noise reduction. By eliminating less important or redundant features, it effectively removes irrelevant information that could potentially confuse a model, leading to more robust and accurate results.</a:t>
            </a:r>
            <a:endParaRPr>
              <a:solidFill>
                <a:srgbClr val="1B1C1D"/>
              </a:solidFill>
            </a:endParaRPr>
          </a:p>
          <a:p>
            <a:pPr indent="0" lvl="0" marL="0" rtl="0" algn="l">
              <a:lnSpc>
                <a:spcPct val="100000"/>
              </a:lnSpc>
              <a:spcBef>
                <a:spcPts val="1200"/>
              </a:spcBef>
              <a:spcAft>
                <a:spcPts val="0"/>
              </a:spcAft>
              <a:buSzPts val="1100"/>
              <a:buNone/>
            </a:pPr>
            <a:r>
              <a:t/>
            </a:r>
            <a:endParaRPr/>
          </a:p>
        </p:txBody>
      </p:sp>
      <p:sp>
        <p:nvSpPr>
          <p:cNvPr id="115" name="Google Shape;115;g37084f751b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084f751b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Now, let's dive into our first specific technique: Principal Component Analysis, or PCA. PCA is defined as a linear dimensionality reduction technique. Its fundamental approach is to project your data into a lower-dimensional space. The way it achieves this is by identifying new axes, known as principal components. The unique aspect of these principal components is that PCA constructs them to maximise the variance of the data along these new axes. Essentially, it finds the directions in your data where there's the most spread or information.</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24" name="Google Shape;124;g37084f751b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084f751b1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200"/>
              </a:spcBef>
              <a:spcAft>
                <a:spcPts val="0"/>
              </a:spcAft>
              <a:buSzPts val="1100"/>
              <a:buNone/>
            </a:pPr>
            <a:r>
              <a:rPr lang="en-US">
                <a:solidFill>
                  <a:srgbClr val="1B1C1D"/>
                </a:solidFill>
              </a:rPr>
              <a:t>Like any technique, PCA comes with its own pros and cons. On the positive side, PCA is generally fast to compute, especially compared to some non-linear methods. It's also often considered interpretable because each principal component is a linear combination of the original features, and you can examine the loadings to understand which original features contribute most to each component. Furthermore, it serves as a useful preprocessing step for many machine learning algorithms by reducing noise and collinearity. However, PCA has significant drawbacks. Its primary limitation is that it's a linear technique, meaning it cannot capture non-linear relationships or complex structures present in the data. Also, while the components themselves are interpretable in terms of their contribution from original features, the new components are abstract combinations of original features, which can sometimes make them hard to interpret in a real-world context compared to the original features themselves.</a:t>
            </a:r>
            <a:endParaRPr>
              <a:solidFill>
                <a:srgbClr val="1B1C1D"/>
              </a:solidFill>
            </a:endParaRPr>
          </a:p>
          <a:p>
            <a:pPr indent="0" lvl="0" marL="0" rtl="0" algn="l">
              <a:lnSpc>
                <a:spcPct val="100000"/>
              </a:lnSpc>
              <a:spcBef>
                <a:spcPts val="1200"/>
              </a:spcBef>
              <a:spcAft>
                <a:spcPts val="0"/>
              </a:spcAft>
              <a:buSzPts val="1100"/>
              <a:buNone/>
            </a:pPr>
            <a:r>
              <a:t/>
            </a:r>
            <a:endParaRPr>
              <a:solidFill>
                <a:srgbClr val="1B1C1D"/>
              </a:solidFill>
            </a:endParaRPr>
          </a:p>
        </p:txBody>
      </p:sp>
      <p:sp>
        <p:nvSpPr>
          <p:cNvPr id="133" name="Google Shape;133;g37084f751b1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084f751b1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US">
                <a:solidFill>
                  <a:srgbClr val="1B1C1D"/>
                </a:solidFill>
              </a:rPr>
              <a:t>Let's move on to our second dimensionality reduction technique: Singular Value Decomposition, or SVD. SVD is fundamentally a powerful matrix factorization technique. It decomposes any given matrix, let's call it X, which has dimensions m rows by n columns (X∈Rm×n), into the product of three other matrices: U, Σ (sigma), and VT. Let's break down these components. U is a matrix containing the left singular vectors, which are orthonormal. Σ is a special diagonal matrix of singular values. These singular values are ordered from largest to smallest along the diagonal and essentially represent the "strength" or importance of each corresponding singular vector. Finally, VT is the transpose of the matrix containing the right singular vectors, which are also orthonormal. This decomposition provides a robust way to analyse the underlying structure of the original matrix.</a:t>
            </a:r>
            <a:endParaRPr/>
          </a:p>
        </p:txBody>
      </p:sp>
      <p:sp>
        <p:nvSpPr>
          <p:cNvPr id="142" name="Google Shape;142;g37084f751b1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084f751b1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One prominent use case for SVD is in the field of Natural Language Processing (NLP), specifically in a technique called Latent Semantic Analysis, or LSA. In NLP, text documents are often represented as Bag-of-Words (BoW) or TF-IDF vectors, which can be extremely high-dimensional and sparse. SVD is used to reduce the dimensionality of these BoW or TF-IDF vectors. By applying SVD, LSA aims to capture the hidden semantic structure within documents. This means it can identify underlying topics or concepts that are not explicitly stated but are implicitly present in the relationships between words and documents, making it a very powerful tool for text analysis.</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51" name="Google Shape;151;g37084f751b1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084f751b1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It's important to understand the distinctions between PCA and SVD, as they are often used interchangeably or in conjunction. Let's compare them based on a few key aspects. Firstly, in terms of what they are based on, PCA is derived from the covariance matrix of the data, focusing on how features vary together. SVD, on the other hand, is based on direct matrix decomposition of the data matrix itself. Secondly, regarding centering, PCA requires the data to be centered (mean-subtracted) before applying the transformation. SVD, however, is not mandatory to have centered data, although centering can sometimes improve its performance for certain applications like PCA's implementation via SVD. Finally, considering their output, PCA directly provides principal components that represent directions of maximal variance. SVD, while it can be used to perform PCA, has broader applications and its direct output can be interpreted as providing latent semantics in contexts like LSA for text or for image compression.</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60" name="Google Shape;160;g37084f751b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7084f751b1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Our third and final technique is t-distributed Stochastic Neighbor Embedding, or t-SNE. What sets t-SNE apart from PCA and SVD is that it is a non-linear dimensionality reduction technique. This means it can capture much more complex, non-linear relationships within your data. Its primary purpose is to embed high-dimensional data into a lower-dimensional space, typically 2D or 3D, making it exceptionally good for visualisation. The core strength of t-SNE is its ability to preserve the local neighborhoods of data points. This means that if two points are close to each other in the original high-dimensional space, they are very likely to remain close to each other in the reduced-dimensional t-SNE plot.</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71" name="Google Shape;171;g37084f751b1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084f751b1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break down how t-SNE works. The algorithm operates by converting the pairwise distances between data points into conditional probabilities. In the original high-dimensional space, it models these similarities using a Gaussian distribution; points that are close together have a higher probability of being neighbors. Simultaneously, in the target low-dimensional space (e.g., 2D or 3D), it models these similarities using a t-distribution. The t-distribution is chosen because its "heavier tails" help to alleviate the "crowding problem" that often occurs when projecting high-dimensional data into low dimensions. The ultimate goal of t-SNE is to minimise the Kullback-Leibler (KL) divergence. This divergence is a measure of how one probability distribution differs from a second, expected probability distribution. In t-SNE's case, it iteratively adjusts the positions of points in the low-dimensional space to minimise the difference between the high-dimensional and low-dimensional probability distributions, thereby preserving the local structures.</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80" name="Google Shape;180;g37084f751b1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7084f751b1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While t-SNE is incredibly powerful for visualisation, it does come with certain challenges. Firstly, it is computationally expensive, especially for very large datasets, due to the iterative optimisation process involved. This can make it slow to run. Secondly, it's crucial to understand that t-SNE is not typically used for large-scale feature reduction that you would then feed into a machine learning model. Its primary strength lies in visualisation, helping us understand the inherent clusters and relationships in high-dimensional data. Finally, t-SNE is known to be sensitive to its parameters, particularly perplexity and learning_rate. Different settings for these parameters can lead to significantly different visualisations, requiring careful tuning to get meaningful results.</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89" name="Google Shape;189;g37084f751b1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084f751b1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To consolidate our understanding, let's look at a summary table comparing the three techniques we've discussed. PCA is a linear method primarily used for variance retention, meaning it finds components that capture the most spread in the data. Its interpretability is moderate, and it's highly suitable for preprocessing data to improve the speed of subsequent machine learning models. SVD is also a linear technique, focused on matrix decomposition. Its interpretability is also moderate, and it's particularly suitable for text and image data, as seen in LSA and image compression. Lastly, t-SNE is a non-linear method with the main purpose of visualisation, helping us see clusters in high-dimensional data. Its interpretability is generally low because the axes don't have a clear meaning like principal components, and it's most suitable for creating 2D or 3D plots to explore data structure.</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98" name="Google Shape;198;g37084f751b1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7084f751b1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To wrap up this module, let's look at some tangible real-world applications of these dimensionality reduction techniques. PCA is widely used in areas like face recognition, where it can extract key features from image data, and in gene expression analysis to reduce the vast number of gene features while retaining biological insights. SVD has found significant application in recommender systems, famously used by platforms like Netflix to suggest movies based on user preferences. It's also central to topic modeling, particularly in Latent Semantic Analysis (LSA), which we discussed earlier. Finally, t-SNE is invaluable for visualising clusters within complex datasets, allowing data scientists to quickly identify natural groupings. It's also employed in outlier detection in high-dimensional data, where unusual data points might become apparent in the low-dimensional embedding. This concludes our module on Dimensionality Reduction Techniques.</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208" name="Google Shape;208;g37084f751b1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7" name="Google Shape;21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10"/>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3"/>
          <p:cNvSpPr txBox="1"/>
          <p:nvPr>
            <p:ph type="title"/>
          </p:nvPr>
        </p:nvSpPr>
        <p:spPr>
          <a:xfrm>
            <a:off x="441960" y="349885"/>
            <a:ext cx="9326880" cy="93066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Narrow"/>
              <a:buNone/>
              <a:defRPr b="1" i="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 type="body"/>
          </p:nvPr>
        </p:nvSpPr>
        <p:spPr>
          <a:xfrm>
            <a:off x="533400" y="1825625"/>
            <a:ext cx="1132332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0" name="Google Shape;30;p13"/>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pic>
        <p:nvPicPr>
          <p:cNvPr id="31" name="Google Shape;31;p13"/>
          <p:cNvPicPr preferRelativeResize="0"/>
          <p:nvPr/>
        </p:nvPicPr>
        <p:blipFill rotWithShape="1">
          <a:blip r:embed="rId3">
            <a:alphaModFix/>
          </a:blip>
          <a:srcRect b="0" l="0" r="0" t="0"/>
          <a:stretch/>
        </p:blipFill>
        <p:spPr>
          <a:xfrm>
            <a:off x="-2" y="1295790"/>
            <a:ext cx="4465320" cy="103523"/>
          </a:xfrm>
          <a:prstGeom prst="rect">
            <a:avLst/>
          </a:prstGeom>
          <a:noFill/>
          <a:ln>
            <a:noFill/>
          </a:ln>
        </p:spPr>
      </p:pic>
      <p:pic>
        <p:nvPicPr>
          <p:cNvPr id="32" name="Google Shape;32;p13"/>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p:nvPr>
            <p:ph idx="2" type="pic"/>
          </p:nvPr>
        </p:nvSpPr>
        <p:spPr>
          <a:xfrm>
            <a:off x="5183188" y="987425"/>
            <a:ext cx="6172200" cy="4873625"/>
          </a:xfrm>
          <a:prstGeom prst="rect">
            <a:avLst/>
          </a:prstGeom>
          <a:noFill/>
          <a:ln>
            <a:noFill/>
          </a:ln>
        </p:spPr>
      </p:sp>
      <p:sp>
        <p:nvSpPr>
          <p:cNvPr id="65" name="Google Shape;65;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b="0" l="0" r="0" t="0"/>
          <a:stretch/>
        </p:blipFill>
        <p:spPr>
          <a:xfrm>
            <a:off x="3176241" y="2315842"/>
            <a:ext cx="5839519" cy="2226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b="0" l="0" r="0" t="0"/>
          <a:stretch/>
        </p:blipFill>
        <p:spPr>
          <a:xfrm>
            <a:off x="894099" y="2592668"/>
            <a:ext cx="4387317" cy="1672665"/>
          </a:xfrm>
          <a:prstGeom prst="rect">
            <a:avLst/>
          </a:prstGeom>
          <a:noFill/>
          <a:ln>
            <a:noFill/>
          </a:ln>
        </p:spPr>
      </p:pic>
      <p:sp>
        <p:nvSpPr>
          <p:cNvPr id="91" name="Google Shape;91;p2"/>
          <p:cNvSpPr/>
          <p:nvPr/>
        </p:nvSpPr>
        <p:spPr>
          <a:xfrm>
            <a:off x="6065574" y="2513226"/>
            <a:ext cx="60852" cy="1851425"/>
          </a:xfrm>
          <a:prstGeom prst="rect">
            <a:avLst/>
          </a:prstGeom>
          <a:solidFill>
            <a:srgbClr val="970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 name="Google Shape;92;p2"/>
          <p:cNvSpPr txBox="1"/>
          <p:nvPr/>
        </p:nvSpPr>
        <p:spPr>
          <a:xfrm>
            <a:off x="6816256" y="2513226"/>
            <a:ext cx="3971014" cy="61752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700FF"/>
              </a:buClr>
              <a:buSzPts val="2800"/>
              <a:buFont typeface="Arial Narrow"/>
              <a:buNone/>
            </a:pPr>
            <a:r>
              <a:rPr b="1" i="0" lang="en-US" sz="2800" u="none" cap="none" strike="noStrike">
                <a:solidFill>
                  <a:srgbClr val="9700FF"/>
                </a:solidFill>
                <a:latin typeface="Arial Narrow"/>
                <a:ea typeface="Arial Narrow"/>
                <a:cs typeface="Arial Narrow"/>
                <a:sym typeface="Arial Narrow"/>
              </a:rPr>
              <a:t>Feature Engineering</a:t>
            </a:r>
            <a:endParaRPr b="1" i="0" sz="2800" u="none" cap="none" strike="noStrike">
              <a:solidFill>
                <a:srgbClr val="9700FF"/>
              </a:solidFill>
              <a:latin typeface="Arial Narrow"/>
              <a:ea typeface="Arial Narrow"/>
              <a:cs typeface="Arial Narrow"/>
              <a:sym typeface="Arial Narrow"/>
            </a:endParaRPr>
          </a:p>
        </p:txBody>
      </p:sp>
      <p:sp>
        <p:nvSpPr>
          <p:cNvPr id="93" name="Google Shape;93;p2"/>
          <p:cNvSpPr txBox="1"/>
          <p:nvPr/>
        </p:nvSpPr>
        <p:spPr>
          <a:xfrm>
            <a:off x="6910584" y="3193775"/>
            <a:ext cx="3876686" cy="874643"/>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Dimensionality Reduction Techniques</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4" name="Google Shape;94;p2"/>
          <p:cNvSpPr txBox="1"/>
          <p:nvPr/>
        </p:nvSpPr>
        <p:spPr>
          <a:xfrm>
            <a:off x="6910584" y="4119559"/>
            <a:ext cx="3876686" cy="42593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Prof. Anita Ramachandran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707f902fe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Introduction to Dimensionality Reduction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00" name="Google Shape;100;g3707f902fe4_0_0"/>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Introduction</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What is Dimensionality Reduction?</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Why is it important?</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Common Techniques: PCA, SVD, t-SNE</a:t>
            </a:r>
            <a:endParaRPr b="0" i="0" sz="2400" u="none" cap="none" strike="noStrike">
              <a:solidFill>
                <a:schemeClr val="dk1"/>
              </a:solidFill>
              <a:latin typeface="Arial"/>
              <a:ea typeface="Arial"/>
              <a:cs typeface="Arial"/>
              <a:sym typeface="Arial"/>
            </a:endParaRPr>
          </a:p>
          <a:p>
            <a:pPr indent="0" lvl="0" marL="9144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1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01" name="Google Shape;101;g3707f902fe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02" name="Google Shape;102;g3707f902fe4_0_0"/>
          <p:cNvPicPr preferRelativeResize="0"/>
          <p:nvPr/>
        </p:nvPicPr>
        <p:blipFill rotWithShape="1">
          <a:blip r:embed="rId4">
            <a:alphaModFix/>
          </a:blip>
          <a:srcRect b="0" l="0" r="0" t="0"/>
          <a:stretch/>
        </p:blipFill>
        <p:spPr>
          <a:xfrm>
            <a:off x="-2" y="1295790"/>
            <a:ext cx="4465321" cy="103523"/>
          </a:xfrm>
          <a:prstGeom prst="rect">
            <a:avLst/>
          </a:prstGeom>
          <a:noFill/>
          <a:ln>
            <a:noFill/>
          </a:ln>
        </p:spPr>
      </p:pic>
      <p:pic>
        <p:nvPicPr>
          <p:cNvPr id="103" name="Google Shape;103;g3707f902fe4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708268c0a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Why Dimensionality Reduction is Important (Part 1)</a:t>
            </a:r>
            <a:endParaRPr b="1" i="0" sz="4400" u="none" cap="none" strike="noStrike">
              <a:solidFill>
                <a:schemeClr val="dk1"/>
              </a:solidFill>
              <a:latin typeface="Arial Narrow"/>
              <a:ea typeface="Arial Narrow"/>
              <a:cs typeface="Arial Narrow"/>
              <a:sym typeface="Arial Narrow"/>
            </a:endParaRPr>
          </a:p>
        </p:txBody>
      </p:sp>
      <p:sp>
        <p:nvSpPr>
          <p:cNvPr id="109" name="Google Shape;109;g3708268c0a4_0_0"/>
          <p:cNvSpPr txBox="1"/>
          <p:nvPr/>
        </p:nvSpPr>
        <p:spPr>
          <a:xfrm>
            <a:off x="440400" y="2267250"/>
            <a:ext cx="11323200" cy="43512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Why is it important?</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The "Curse of Dimensionality"</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Data becomes sparse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Distances lose meaning</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Overfitting Risk</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More features lead to more parameters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Increased risk of overfitting</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0" name="Google Shape;110;g3708268c0a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11" name="Google Shape;111;g3708268c0a4_0_0"/>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12" name="Google Shape;112;g3708268c0a4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7084f751b1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Why Dimensionality Reduction is Important (Part 2)</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434400" y="1970275"/>
            <a:ext cx="11323200" cy="43512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Why is it important?</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Computational Cost</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Reducing dimensions improves speed</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Visuali</a:t>
            </a:r>
            <a:r>
              <a:rPr lang="en-US" sz="2400">
                <a:solidFill>
                  <a:schemeClr val="dk1"/>
                </a:solidFill>
              </a:rPr>
              <a:t>s</a:t>
            </a:r>
            <a:r>
              <a:rPr b="0" i="0" lang="en-US" sz="2400" u="none" cap="none" strike="noStrike">
                <a:solidFill>
                  <a:schemeClr val="dk1"/>
                </a:solidFill>
                <a:latin typeface="Arial"/>
                <a:ea typeface="Arial"/>
                <a:cs typeface="Arial"/>
                <a:sym typeface="Arial"/>
              </a:rPr>
              <a:t>ation</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Enables human-friendly 2D/3D visuali</a:t>
            </a:r>
            <a:r>
              <a:rPr lang="en-US" sz="2400">
                <a:solidFill>
                  <a:schemeClr val="dk1"/>
                </a:solidFill>
              </a:rPr>
              <a:t>s</a:t>
            </a:r>
            <a:r>
              <a:rPr b="0" i="0" lang="en-US" sz="2400" u="none" cap="none" strike="noStrike">
                <a:solidFill>
                  <a:schemeClr val="dk1"/>
                </a:solidFill>
                <a:latin typeface="Arial"/>
                <a:ea typeface="Arial"/>
                <a:cs typeface="Arial"/>
                <a:sym typeface="Arial"/>
              </a:rPr>
              <a:t>ations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Noise Reduction</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Removes irrelevant or redundant features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9" name="Google Shape;119;g37084f751b1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21" name="Google Shape;121;g37084f751b1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7084f751b1_0_8"/>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PCA: Principal Component Analysis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27" name="Google Shape;127;g37084f751b1_0_8"/>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Introduction to PCA</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Principal Component Analysis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Linear dimensionality reduction technique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Projects data into a lower-dimensional space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Maximi</a:t>
            </a:r>
            <a:r>
              <a:rPr lang="en-US" sz="2400">
                <a:solidFill>
                  <a:schemeClr val="dk1"/>
                </a:solidFill>
              </a:rPr>
              <a:t>s</a:t>
            </a:r>
            <a:r>
              <a:rPr b="0" i="0" lang="en-US" sz="2400" u="none" cap="none" strike="noStrike">
                <a:solidFill>
                  <a:schemeClr val="dk1"/>
                </a:solidFill>
                <a:latin typeface="Arial"/>
                <a:ea typeface="Arial"/>
                <a:cs typeface="Arial"/>
                <a:sym typeface="Arial"/>
              </a:rPr>
              <a:t>es variance along new axes (principal components)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28" name="Google Shape;128;g37084f751b1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9" name="Google Shape;129;g37084f751b1_0_8"/>
          <p:cNvPicPr preferRelativeResize="0"/>
          <p:nvPr/>
        </p:nvPicPr>
        <p:blipFill rotWithShape="1">
          <a:blip r:embed="rId4">
            <a:alphaModFix/>
          </a:blip>
          <a:srcRect b="0" l="0" r="0" t="0"/>
          <a:stretch/>
        </p:blipFill>
        <p:spPr>
          <a:xfrm>
            <a:off x="-2" y="1295790"/>
            <a:ext cx="4465321" cy="103523"/>
          </a:xfrm>
          <a:prstGeom prst="rect">
            <a:avLst/>
          </a:prstGeom>
          <a:noFill/>
          <a:ln>
            <a:noFill/>
          </a:ln>
        </p:spPr>
      </p:pic>
      <p:pic>
        <p:nvPicPr>
          <p:cNvPr id="130" name="Google Shape;130;g37084f751b1_0_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7084f751b1_0_16"/>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Pros and Cons of PCA</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36" name="Google Shape;136;g37084f751b1_0_16"/>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Pros and Cons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Pros: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Fast</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Interpretable</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Useful preprocessing for Machine Learning</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Cons: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Linear: Can't capture non-linear relationships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Components are combinations, hard to interpret</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37" name="Google Shape;137;g37084f751b1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38" name="Google Shape;138;g37084f751b1_0_16"/>
          <p:cNvPicPr preferRelativeResize="0"/>
          <p:nvPr/>
        </p:nvPicPr>
        <p:blipFill rotWithShape="1">
          <a:blip r:embed="rId4">
            <a:alphaModFix/>
          </a:blip>
          <a:srcRect b="0" l="0" r="0" t="0"/>
          <a:stretch/>
        </p:blipFill>
        <p:spPr>
          <a:xfrm>
            <a:off x="-2" y="1295790"/>
            <a:ext cx="4465321" cy="103523"/>
          </a:xfrm>
          <a:prstGeom prst="rect">
            <a:avLst/>
          </a:prstGeom>
          <a:noFill/>
          <a:ln>
            <a:noFill/>
          </a:ln>
        </p:spPr>
      </p:pic>
      <p:pic>
        <p:nvPicPr>
          <p:cNvPr id="139" name="Google Shape;139;g37084f751b1_0_1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084f751b1_0_24"/>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Singular Value Decomposition</a:t>
            </a:r>
            <a:endParaRPr b="1" i="0" sz="4400" u="none" cap="none" strike="noStrike">
              <a:solidFill>
                <a:schemeClr val="dk1"/>
              </a:solidFill>
              <a:latin typeface="Arial Narrow"/>
              <a:ea typeface="Arial Narrow"/>
              <a:cs typeface="Arial Narrow"/>
              <a:sym typeface="Arial Narrow"/>
            </a:endParaRPr>
          </a:p>
        </p:txBody>
      </p:sp>
      <p:sp>
        <p:nvSpPr>
          <p:cNvPr id="145" name="Google Shape;145;g37084f751b1_0_24"/>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Introduction to SVD</a:t>
            </a:r>
            <a:br>
              <a:rPr b="0" i="0" lang="en-US" sz="2440" u="none" cap="none" strike="noStrike">
                <a:solidFill>
                  <a:schemeClr val="dk1"/>
                </a:solidFill>
                <a:latin typeface="Arial"/>
                <a:ea typeface="Arial"/>
                <a:cs typeface="Arial"/>
                <a:sym typeface="Arial"/>
              </a:rPr>
            </a:b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Singular Value Decomposition</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Matrix factorization technique</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Decomposes a matrix X∈Rm×n as: X=UΣVT</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U: Left singular vectors (orthonormal)</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Σ: Diagonal matrix of singular values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VT: Right singular vectors (orthonormal)</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46" name="Google Shape;146;g37084f751b1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47" name="Google Shape;147;g37084f751b1_0_24"/>
          <p:cNvPicPr preferRelativeResize="0"/>
          <p:nvPr/>
        </p:nvPicPr>
        <p:blipFill rotWithShape="1">
          <a:blip r:embed="rId4">
            <a:alphaModFix/>
          </a:blip>
          <a:srcRect b="0" l="0" r="0" t="0"/>
          <a:stretch/>
        </p:blipFill>
        <p:spPr>
          <a:xfrm>
            <a:off x="-2" y="1295790"/>
            <a:ext cx="4465321" cy="103523"/>
          </a:xfrm>
          <a:prstGeom prst="rect">
            <a:avLst/>
          </a:prstGeom>
          <a:noFill/>
          <a:ln>
            <a:noFill/>
          </a:ln>
        </p:spPr>
      </p:pic>
      <p:pic>
        <p:nvPicPr>
          <p:cNvPr id="148" name="Google Shape;148;g37084f751b1_0_2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SVD Use Case: Latent Semantic Analysis (LSA)</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Use Case: Latent Semantic Analysis (LSA)</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Used in Natural Language Processing (NLP)</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 reduce Bag-of-Words (BoW) / TF-IDF vectors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Captures hidden structure (semantics) in documents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55" name="Google Shape;155;g37084f751b1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b="0" l="0" r="0" t="0"/>
          <a:stretch/>
        </p:blipFill>
        <p:spPr>
          <a:xfrm>
            <a:off x="-2" y="1825615"/>
            <a:ext cx="4465321" cy="103523"/>
          </a:xfrm>
          <a:prstGeom prst="rect">
            <a:avLst/>
          </a:prstGeom>
          <a:noFill/>
          <a:ln>
            <a:noFill/>
          </a:ln>
        </p:spPr>
      </p:pic>
      <p:pic>
        <p:nvPicPr>
          <p:cNvPr id="157" name="Google Shape;157;g37084f751b1_0_32"/>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7084f751b1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PCA vs. SVD</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63" name="Google Shape;163;g37084f751b1_0_4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64" name="Google Shape;164;g37084f751b1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65" name="Google Shape;165;g37084f751b1_0_4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graphicFrame>
        <p:nvGraphicFramePr>
          <p:cNvPr id="166" name="Google Shape;166;g37084f751b1_0_40"/>
          <p:cNvGraphicFramePr/>
          <p:nvPr/>
        </p:nvGraphicFramePr>
        <p:xfrm>
          <a:off x="533400" y="2312313"/>
          <a:ext cx="3000000" cy="3000000"/>
        </p:xfrm>
        <a:graphic>
          <a:graphicData uri="http://schemas.openxmlformats.org/drawingml/2006/table">
            <a:tbl>
              <a:tblPr bandRow="1">
                <a:noFill/>
                <a:tableStyleId>{6B26D75F-07D5-4421-8D51-7C897F3F6C80}</a:tableStyleId>
              </a:tblPr>
              <a:tblGrid>
                <a:gridCol w="1530275"/>
                <a:gridCol w="3437350"/>
                <a:gridCol w="5825175"/>
              </a:tblGrid>
              <a:tr h="12700">
                <a:tc>
                  <a:txBody>
                    <a:bodyPr/>
                    <a:lstStyle/>
                    <a:p>
                      <a:pPr indent="0" lvl="0" marL="0" rtl="0" algn="ctr">
                        <a:lnSpc>
                          <a:spcPct val="115000"/>
                        </a:lnSpc>
                        <a:spcBef>
                          <a:spcPts val="0"/>
                        </a:spcBef>
                        <a:spcAft>
                          <a:spcPts val="1000"/>
                        </a:spcAft>
                        <a:buNone/>
                      </a:pPr>
                      <a:r>
                        <a:rPr b="1" lang="en-US" sz="2400"/>
                        <a:t>Aspect</a:t>
                      </a:r>
                      <a:endParaRPr b="1" sz="2400"/>
                    </a:p>
                  </a:txBody>
                  <a:tcPr marT="0" marB="87000" marR="87000" marL="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b="1" lang="en-US" sz="2400"/>
                        <a:t>PCA</a:t>
                      </a:r>
                      <a:endParaRPr b="1" sz="2400"/>
                    </a:p>
                  </a:txBody>
                  <a:tcPr marT="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b="1" lang="en-US" sz="2400"/>
                        <a:t>SVD</a:t>
                      </a:r>
                      <a:endParaRPr b="1" sz="2400"/>
                    </a:p>
                  </a:txBody>
                  <a:tcPr marT="0" marB="87000" marR="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ctr">
                        <a:lnSpc>
                          <a:spcPct val="115000"/>
                        </a:lnSpc>
                        <a:spcBef>
                          <a:spcPts val="0"/>
                        </a:spcBef>
                        <a:spcAft>
                          <a:spcPts val="1000"/>
                        </a:spcAft>
                        <a:buNone/>
                      </a:pPr>
                      <a:r>
                        <a:rPr lang="en-US" sz="2400"/>
                        <a:t>Based on</a:t>
                      </a:r>
                      <a:endParaRPr sz="2400"/>
                    </a:p>
                  </a:txBody>
                  <a:tcPr marT="87000" marB="87000" marR="87000" marL="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Covariance matrix</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Direct matrix decomposition</a:t>
                      </a:r>
                      <a:endParaRPr sz="2400"/>
                    </a:p>
                  </a:txBody>
                  <a:tcPr marT="87000" marB="87000" marR="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ctr">
                        <a:lnSpc>
                          <a:spcPct val="115000"/>
                        </a:lnSpc>
                        <a:spcBef>
                          <a:spcPts val="0"/>
                        </a:spcBef>
                        <a:spcAft>
                          <a:spcPts val="1000"/>
                        </a:spcAft>
                        <a:buNone/>
                      </a:pPr>
                      <a:r>
                        <a:rPr lang="en-US" sz="2400"/>
                        <a:t>Centering</a:t>
                      </a:r>
                      <a:endParaRPr sz="2400"/>
                    </a:p>
                  </a:txBody>
                  <a:tcPr marT="87000" marB="87000" marR="87000" marL="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Requires centered data</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Not mandatory</a:t>
                      </a:r>
                      <a:endParaRPr sz="2400"/>
                    </a:p>
                  </a:txBody>
                  <a:tcPr marT="87000" marB="87000" marR="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282575">
                <a:tc>
                  <a:txBody>
                    <a:bodyPr/>
                    <a:lstStyle/>
                    <a:p>
                      <a:pPr indent="0" lvl="0" marL="0" rtl="0" algn="ctr">
                        <a:lnSpc>
                          <a:spcPct val="115000"/>
                        </a:lnSpc>
                        <a:spcBef>
                          <a:spcPts val="0"/>
                        </a:spcBef>
                        <a:spcAft>
                          <a:spcPts val="1000"/>
                        </a:spcAft>
                        <a:buNone/>
                      </a:pPr>
                      <a:r>
                        <a:rPr lang="en-US" sz="2400"/>
                        <a:t>Output</a:t>
                      </a:r>
                      <a:endParaRPr sz="2400"/>
                    </a:p>
                  </a:txBody>
                  <a:tcPr marT="87000" marB="87000" marR="87000" marL="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Principal components</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Latent semantics (LSA, image compression)</a:t>
                      </a:r>
                      <a:endParaRPr sz="2400"/>
                    </a:p>
                  </a:txBody>
                  <a:tcPr marT="87000" marB="87000" marR="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67" name="Google Shape;167;g37084f751b1_0_40"/>
          <p:cNvSpPr txBox="1"/>
          <p:nvPr/>
        </p:nvSpPr>
        <p:spPr>
          <a:xfrm>
            <a:off x="304800" y="304800"/>
            <a:ext cx="3000000" cy="9306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br>
              <a:rPr lang="en-US" sz="1100">
                <a:latin typeface="Calibri"/>
                <a:ea typeface="Calibri"/>
                <a:cs typeface="Calibri"/>
                <a:sym typeface="Calibri"/>
              </a:rPr>
            </a:br>
            <a:endParaRPr sz="1100">
              <a:latin typeface="Calibri"/>
              <a:ea typeface="Calibri"/>
              <a:cs typeface="Calibri"/>
              <a:sym typeface="Calibri"/>
            </a:endParaRPr>
          </a:p>
          <a:p>
            <a:pPr indent="0" lvl="0" marL="0" rtl="0" algn="l">
              <a:spcBef>
                <a:spcPts val="1000"/>
              </a:spcBef>
              <a:spcAft>
                <a:spcPts val="0"/>
              </a:spcAft>
              <a:buNone/>
            </a:pPr>
            <a:r>
              <a:t/>
            </a:r>
            <a:endParaRPr/>
          </a:p>
        </p:txBody>
      </p:sp>
      <p:pic>
        <p:nvPicPr>
          <p:cNvPr id="168" name="Google Shape;168;g37084f751b1_0_4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7084f751b1_0_4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t-SNE: t-distributed Stochastic Neighbor Embedding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74" name="Google Shape;174;g37084f751b1_0_48"/>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Introduction to t-SNE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t-distributed Stochastic Neighbor Embedding</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Non-linear dimensionality reduction technique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Embeds high-dimensional data into 2D or 3D</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Preserves local neighborhoods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75" name="Google Shape;175;g37084f751b1_0_4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76" name="Google Shape;176;g37084f751b1_0_48"/>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177" name="Google Shape;177;g37084f751b1_0_4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7084f751b1_0_5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How t-SNE Works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83" name="Google Shape;183;g37084f751b1_0_56"/>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How t-SNE Works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Converts pairwise distances into conditional probabilities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Uses Gaussian distribution in high-D</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Uses t-distribution in low-D</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rPr b="0" i="0" lang="en-US" sz="2400" u="none" cap="none" strike="noStrike">
                <a:solidFill>
                  <a:schemeClr val="dk1"/>
                </a:solidFill>
                <a:latin typeface="Arial"/>
                <a:ea typeface="Arial"/>
                <a:cs typeface="Arial"/>
                <a:sym typeface="Arial"/>
              </a:rPr>
              <a:t>Minimi</a:t>
            </a:r>
            <a:r>
              <a:rPr lang="en-US" sz="2400">
                <a:solidFill>
                  <a:schemeClr val="dk1"/>
                </a:solidFill>
              </a:rPr>
              <a:t>s</a:t>
            </a:r>
            <a:r>
              <a:rPr b="0" i="0" lang="en-US" sz="2400" u="none" cap="none" strike="noStrike">
                <a:solidFill>
                  <a:schemeClr val="dk1"/>
                </a:solidFill>
                <a:latin typeface="Arial"/>
                <a:ea typeface="Arial"/>
                <a:cs typeface="Arial"/>
                <a:sym typeface="Arial"/>
              </a:rPr>
              <a:t>es Kullback-Leibler divergence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Between high-D and low-D probability distributions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84" name="Google Shape;184;g37084f751b1_0_5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85" name="Google Shape;185;g37084f751b1_0_56"/>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86" name="Google Shape;186;g37084f751b1_0_56"/>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7084f751b1_0_6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Challenges of t-SNE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2" name="Google Shape;192;g37084f751b1_0_64"/>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Challenges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Computationally expensive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Not for large-scale feature reduction (primarily for visuali</a:t>
            </a:r>
            <a:r>
              <a:rPr lang="en-US" sz="2400">
                <a:solidFill>
                  <a:schemeClr val="dk1"/>
                </a:solidFill>
              </a:rPr>
              <a:t>s</a:t>
            </a:r>
            <a:r>
              <a:rPr b="0" i="0" lang="en-US" sz="2400" u="none" cap="none" strike="noStrike">
                <a:solidFill>
                  <a:schemeClr val="dk1"/>
                </a:solidFill>
                <a:latin typeface="Arial"/>
                <a:ea typeface="Arial"/>
                <a:cs typeface="Arial"/>
                <a:sym typeface="Arial"/>
              </a:rPr>
              <a:t>ation)</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Sensitive to parameters (perplexity, learning_rate)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93" name="Google Shape;193;g37084f751b1_0_6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94" name="Google Shape;194;g37084f751b1_0_64"/>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95" name="Google Shape;195;g37084f751b1_0_64"/>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7084f751b1_0_7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Dimensionality Reduction Techniques: Summary</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01" name="Google Shape;201;g37084f751b1_0_72"/>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2" name="Google Shape;202;g37084f751b1_0_7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03" name="Google Shape;203;g37084f751b1_0_72"/>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204" name="Google Shape;204;g37084f751b1_0_72"/>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graphicFrame>
        <p:nvGraphicFramePr>
          <p:cNvPr id="205" name="Google Shape;205;g37084f751b1_0_72"/>
          <p:cNvGraphicFramePr/>
          <p:nvPr/>
        </p:nvGraphicFramePr>
        <p:xfrm>
          <a:off x="618375" y="2265625"/>
          <a:ext cx="3000000" cy="3000000"/>
        </p:xfrm>
        <a:graphic>
          <a:graphicData uri="http://schemas.openxmlformats.org/drawingml/2006/table">
            <a:tbl>
              <a:tblPr bandRow="1">
                <a:noFill/>
                <a:tableStyleId>{6B26D75F-07D5-4421-8D51-7C897F3F6C80}</a:tableStyleId>
              </a:tblPr>
              <a:tblGrid>
                <a:gridCol w="1226325"/>
                <a:gridCol w="1662500"/>
                <a:gridCol w="2602400"/>
                <a:gridCol w="2251100"/>
                <a:gridCol w="2760200"/>
              </a:tblGrid>
              <a:tr h="100000">
                <a:tc>
                  <a:txBody>
                    <a:bodyPr/>
                    <a:lstStyle/>
                    <a:p>
                      <a:pPr indent="0" lvl="0" marL="0" rtl="0" algn="ctr">
                        <a:lnSpc>
                          <a:spcPct val="115000"/>
                        </a:lnSpc>
                        <a:spcBef>
                          <a:spcPts val="0"/>
                        </a:spcBef>
                        <a:spcAft>
                          <a:spcPts val="1000"/>
                        </a:spcAft>
                        <a:buNone/>
                      </a:pPr>
                      <a:r>
                        <a:rPr b="1" lang="en-US" sz="2400"/>
                        <a:t>Method</a:t>
                      </a:r>
                      <a:endParaRPr b="1" sz="2400"/>
                    </a:p>
                  </a:txBody>
                  <a:tcPr marT="0" marB="87000" marR="87000" marL="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b="1" lang="en-US" sz="2400"/>
                        <a:t>Type</a:t>
                      </a:r>
                      <a:endParaRPr b="1" sz="2400"/>
                    </a:p>
                  </a:txBody>
                  <a:tcPr marT="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b="1" lang="en-US" sz="2400"/>
                        <a:t>Purpose</a:t>
                      </a:r>
                      <a:endParaRPr b="1" sz="2400"/>
                    </a:p>
                  </a:txBody>
                  <a:tcPr marT="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b="1" lang="en-US" sz="2400"/>
                        <a:t>Interpretability</a:t>
                      </a:r>
                      <a:endParaRPr b="1" sz="2400"/>
                    </a:p>
                  </a:txBody>
                  <a:tcPr marT="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b="1" lang="en-US" sz="2400"/>
                        <a:t>Suitable for</a:t>
                      </a:r>
                      <a:endParaRPr b="1" sz="2400"/>
                    </a:p>
                  </a:txBody>
                  <a:tcPr marT="0" marB="87000" marR="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ctr">
                        <a:lnSpc>
                          <a:spcPct val="115000"/>
                        </a:lnSpc>
                        <a:spcBef>
                          <a:spcPts val="0"/>
                        </a:spcBef>
                        <a:spcAft>
                          <a:spcPts val="1000"/>
                        </a:spcAft>
                        <a:buNone/>
                      </a:pPr>
                      <a:r>
                        <a:rPr lang="en-US" sz="2400"/>
                        <a:t>PCA</a:t>
                      </a:r>
                      <a:endParaRPr sz="2400"/>
                    </a:p>
                  </a:txBody>
                  <a:tcPr marT="87000" marB="87000" marR="87000" marL="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Linear</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Variance retention</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Moderate</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Preprocessing, speed</a:t>
                      </a:r>
                      <a:endParaRPr sz="2400"/>
                    </a:p>
                  </a:txBody>
                  <a:tcPr marT="87000" marB="87000" marR="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6350">
                      <a:solidFill>
                        <a:srgbClr val="000000"/>
                      </a:solidFill>
                      <a:prstDash val="solid"/>
                      <a:round/>
                      <a:headEnd len="sm" w="sm" type="none"/>
                      <a:tailEnd len="sm" w="sm" type="none"/>
                    </a:lnB>
                  </a:tcPr>
                </a:tc>
              </a:tr>
              <a:tr h="12700">
                <a:tc>
                  <a:txBody>
                    <a:bodyPr/>
                    <a:lstStyle/>
                    <a:p>
                      <a:pPr indent="0" lvl="0" marL="0" rtl="0" algn="ctr">
                        <a:lnSpc>
                          <a:spcPct val="115000"/>
                        </a:lnSpc>
                        <a:spcBef>
                          <a:spcPts val="0"/>
                        </a:spcBef>
                        <a:spcAft>
                          <a:spcPts val="1000"/>
                        </a:spcAft>
                        <a:buNone/>
                      </a:pPr>
                      <a:r>
                        <a:rPr lang="en-US" sz="2400"/>
                        <a:t>SVD</a:t>
                      </a:r>
                      <a:endParaRPr sz="2400"/>
                    </a:p>
                  </a:txBody>
                  <a:tcPr marT="87000" marB="87000" marR="87000" marL="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Linear</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Decomposition</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Moderate</a:t>
                      </a:r>
                      <a:endParaRPr sz="2400"/>
                    </a:p>
                  </a:txBody>
                  <a:tcPr marT="87000" marB="87000" marR="8700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1000"/>
                        </a:spcAft>
                        <a:buNone/>
                      </a:pPr>
                      <a:r>
                        <a:rPr lang="en-US" sz="2400"/>
                        <a:t>Text/image data</a:t>
                      </a:r>
                      <a:endParaRPr sz="2400"/>
                    </a:p>
                  </a:txBody>
                  <a:tcPr marT="87000" marB="87000" marR="0" marL="87000" anchor="b">
                    <a:lnL cap="flat" cmpd="sng" w="6350">
                      <a:solidFill>
                        <a:srgbClr val="000000"/>
                      </a:solidFill>
                      <a:prstDash val="solid"/>
                      <a:round/>
                      <a:headEnd len="sm" w="sm" type="none"/>
                      <a:tailEnd len="sm" w="sm" type="none"/>
                    </a:lnL>
                    <a:lnR cap="flat" cmpd="sng" w="6350">
                      <a:solidFill>
                        <a:srgbClr val="000000"/>
                      </a:solidFill>
                      <a:prstDash val="solid"/>
                      <a:round/>
                      <a:headEnd len="sm" w="sm" type="none"/>
                      <a:tailEnd len="sm" w="sm" type="none"/>
                    </a:lnR>
                    <a:lnT cap="flat" cmpd="sng" w="6350">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2700">
                <a:tc>
                  <a:txBody>
                    <a:bodyPr/>
                    <a:lstStyle/>
                    <a:p>
                      <a:pPr indent="0" lvl="0" marL="0" rtl="0" algn="ctr">
                        <a:lnSpc>
                          <a:spcPct val="115000"/>
                        </a:lnSpc>
                        <a:spcBef>
                          <a:spcPts val="0"/>
                        </a:spcBef>
                        <a:spcAft>
                          <a:spcPts val="1000"/>
                        </a:spcAft>
                        <a:buNone/>
                      </a:pPr>
                      <a:r>
                        <a:rPr lang="en-US" sz="2400"/>
                        <a:t>t-SNE</a:t>
                      </a:r>
                      <a:endParaRPr sz="2400"/>
                    </a:p>
                  </a:txBody>
                  <a:tcPr marT="87000" marB="228600" marR="87000" marL="0" anchor="b">
                    <a:lnT cap="flat" cmpd="sng" w="9525">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1000"/>
                        </a:spcAft>
                        <a:buNone/>
                      </a:pPr>
                      <a:r>
                        <a:rPr lang="en-US" sz="2400"/>
                        <a:t>Non-linear</a:t>
                      </a:r>
                      <a:endParaRPr sz="2400"/>
                    </a:p>
                  </a:txBody>
                  <a:tcPr marT="87000" marB="228600" marR="87000" marL="87000" anchor="b">
                    <a:lnT cap="flat" cmpd="sng" w="9525">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1000"/>
                        </a:spcAft>
                        <a:buNone/>
                      </a:pPr>
                      <a:r>
                        <a:rPr lang="en-US" sz="2400"/>
                        <a:t>Visualisation</a:t>
                      </a:r>
                      <a:endParaRPr sz="2400"/>
                    </a:p>
                  </a:txBody>
                  <a:tcPr marT="87000" marB="228600" marR="87000" marL="87000" anchor="b">
                    <a:lnT cap="flat" cmpd="sng" w="9525">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1000"/>
                        </a:spcAft>
                        <a:buNone/>
                      </a:pPr>
                      <a:r>
                        <a:rPr lang="en-US" sz="2400"/>
                        <a:t>Low</a:t>
                      </a:r>
                      <a:endParaRPr sz="2400"/>
                    </a:p>
                  </a:txBody>
                  <a:tcPr marT="87000" marB="228600" marR="87000" marL="87000" anchor="b">
                    <a:lnT cap="flat" cmpd="sng" w="9525">
                      <a:solidFill>
                        <a:srgbClr val="000000"/>
                      </a:solidFill>
                      <a:prstDash val="solid"/>
                      <a:round/>
                      <a:headEnd len="sm" w="sm" type="none"/>
                      <a:tailEnd len="sm" w="sm" type="none"/>
                    </a:lnT>
                  </a:tcPr>
                </a:tc>
                <a:tc>
                  <a:txBody>
                    <a:bodyPr/>
                    <a:lstStyle/>
                    <a:p>
                      <a:pPr indent="0" lvl="0" marL="0" rtl="0" algn="ctr">
                        <a:lnSpc>
                          <a:spcPct val="115000"/>
                        </a:lnSpc>
                        <a:spcBef>
                          <a:spcPts val="0"/>
                        </a:spcBef>
                        <a:spcAft>
                          <a:spcPts val="1000"/>
                        </a:spcAft>
                        <a:buNone/>
                      </a:pPr>
                      <a:r>
                        <a:rPr lang="en-US" sz="2400"/>
                        <a:t>2D/3D plots</a:t>
                      </a:r>
                      <a:endParaRPr sz="2400"/>
                    </a:p>
                  </a:txBody>
                  <a:tcPr marT="87000" marB="228600" marR="0" marL="87000" anchor="b">
                    <a:lnT cap="flat" cmpd="sng" w="9525">
                      <a:solidFill>
                        <a:srgbClr val="000000"/>
                      </a:solidFill>
                      <a:prstDash val="solid"/>
                      <a:round/>
                      <a:headEnd len="sm" w="sm" type="none"/>
                      <a:tailEnd len="sm" w="sm" type="none"/>
                    </a:lnT>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7084f751b1_0_8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Real-World Applications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11" name="Google Shape;211;g37084f751b1_0_8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Dimensionality Reduction Techniques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PCA:</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Face recognition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Gene expression analysis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SVD:</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Recommender systems (e.g., Netflix)</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Topic modeling (LSA)</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t-SNE: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Visuali</a:t>
            </a:r>
            <a:r>
              <a:rPr lang="en-US" sz="2400">
                <a:solidFill>
                  <a:schemeClr val="dk1"/>
                </a:solidFill>
              </a:rPr>
              <a:t>s</a:t>
            </a:r>
            <a:r>
              <a:rPr b="0" i="0" lang="en-US" sz="2400" u="none" cap="none" strike="noStrike">
                <a:solidFill>
                  <a:schemeClr val="dk1"/>
                </a:solidFill>
                <a:latin typeface="Arial"/>
                <a:ea typeface="Arial"/>
                <a:cs typeface="Arial"/>
                <a:sym typeface="Arial"/>
              </a:rPr>
              <a:t>ing clusters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Outlier detection in high-dimensional data</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12" name="Google Shape;212;g37084f751b1_0_8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3" name="Google Shape;213;g37084f751b1_0_8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14" name="Google Shape;214;g37084f751b1_0_8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5"/>
          <p:cNvSpPr/>
          <p:nvPr/>
        </p:nvSpPr>
        <p:spPr>
          <a:xfrm>
            <a:off x="11998" y="3894332"/>
            <a:ext cx="12192000" cy="2855668"/>
          </a:xfrm>
          <a:prstGeom prst="roundRect">
            <a:avLst>
              <a:gd fmla="val 16667" name="adj"/>
            </a:avLst>
          </a:prstGeom>
          <a:solidFill>
            <a:srgbClr val="7E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The content provided in this digital training programme has been developed by professors / external vendors. All intellectual property rights in the content, including but not limited to video, text, slides, graphics, and audio materials, are owned exclusively by BITS Pilani (“BITS”), unless otherwise expressly stated. This programme may also include licensed or contributed works from third-party experts, faculty, and collaborating institutions, all of whom are duly acknowledged where appropriate.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All product names, logos, brands, and entity names referenced within this content are the property of their respective trademark owners. The inclusion of such names, logos, or brands does not imply any affiliation with, or endorsement by, these entities.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This material is intended solely for personal learning and academic purposes. Except for content that is explicitly confirmed to be in the public domain, no part of this content may be reproduced, copied, modified, distributed, republished, uploaded, posted, publicly displayed, or transmitted in any form or by any means – electronic, mechanical, photocopying, recording, or otherwise – without the prior express written consent of BITS Pilani or the applicable rights holder.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Any unauthorized use, commercial exploitation, resale, or public sharing of this content in any manner constitutes a violation of applicable intellectual property laws. BITS Pilani reserves the right to pursue all appropriate legal remedies, including but not limited to civil action and criminal prosecution under the Copyright Act, 1957, and other relevant statutes in force in India.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By accessing or using this digital training programme, you agree to comply with the terms set forth in this disclaimer.</a:t>
            </a:r>
            <a:endParaRPr b="0" i="0" sz="1400" u="none" cap="none" strike="noStrike">
              <a:solidFill>
                <a:srgbClr val="000000"/>
              </a:solidFill>
              <a:latin typeface="Arial"/>
              <a:ea typeface="Arial"/>
              <a:cs typeface="Arial"/>
              <a:sym typeface="Arial"/>
            </a:endParaRPr>
          </a:p>
        </p:txBody>
      </p:sp>
      <p:pic>
        <p:nvPicPr>
          <p:cNvPr id="220" name="Google Shape;220;p5"/>
          <p:cNvPicPr preferRelativeResize="0"/>
          <p:nvPr/>
        </p:nvPicPr>
        <p:blipFill rotWithShape="1">
          <a:blip r:embed="rId3">
            <a:alphaModFix/>
          </a:blip>
          <a:srcRect b="0" l="0" r="0" t="0"/>
          <a:stretch/>
        </p:blipFill>
        <p:spPr>
          <a:xfrm>
            <a:off x="10078720" y="405951"/>
            <a:ext cx="1778000" cy="679450"/>
          </a:xfrm>
          <a:prstGeom prst="rect">
            <a:avLst/>
          </a:prstGeom>
          <a:noFill/>
          <a:ln>
            <a:noFill/>
          </a:ln>
        </p:spPr>
      </p:pic>
      <p:sp>
        <p:nvSpPr>
          <p:cNvPr id="221" name="Google Shape;221;p5"/>
          <p:cNvSpPr txBox="1"/>
          <p:nvPr/>
        </p:nvSpPr>
        <p:spPr>
          <a:xfrm>
            <a:off x="3268980" y="2963668"/>
            <a:ext cx="5654040" cy="93066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7200"/>
              <a:buFont typeface="Play"/>
              <a:buNone/>
            </a:pPr>
            <a:r>
              <a:rPr b="1" i="0" lang="en-US" sz="7200" u="none" cap="none" strike="noStrike">
                <a:solidFill>
                  <a:schemeClr val="dk1"/>
                </a:solidFill>
                <a:latin typeface="Play"/>
                <a:ea typeface="Play"/>
                <a:cs typeface="Play"/>
                <a:sym typeface="Play"/>
              </a:rPr>
              <a:t>Thank You</a:t>
            </a:r>
            <a:endParaRPr b="1" i="0" sz="7200" u="none" cap="none" strike="noStrike">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2025-05-30T08:20:10Z</dcterms:created>
  <dc:creator>Singh, Manjeet (GRG-MRM)</dc:creator>
</cp:coreProperties>
</file>